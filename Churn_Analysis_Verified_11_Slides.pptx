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0.xml" ContentType="application/vnd.openxmlformats-officedocument.presentationml.notesSlide+xml"/>
  <Override PartName="/ppt/charts/chart7.xml" ContentType="application/vnd.openxmlformats-officedocument.drawingml.chart+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2326029147672331"/>
          <c:y val="2.2803123874221613E-2"/>
          <c:w val="0.73520456324538375"/>
          <c:h val="0.82169921774484067"/>
        </c:manualLayout>
      </c:layout>
      <c:doughnutChart>
        <c:varyColors val="1"/>
        <c:ser>
          <c:idx val="0"/>
          <c:order val="0"/>
          <c:tx>
            <c:strRef>
              <c:f>Sheet1!$B$1</c:f>
              <c:strCache>
                <c:ptCount val="1"/>
                <c:pt idx="0">
                  <c:v>Customers</c:v>
                </c:pt>
              </c:strCache>
            </c:strRef>
          </c:tx>
          <c:spPr>
            <a:solidFill>
              <a:schemeClr val="accent1"/>
            </a:solidFill>
            <a:ln w="9525" cap="flat">
              <a:solidFill>
                <a:srgbClr val="F9F9F9"/>
              </a:solidFill>
              <a:prstDash val="solid"/>
              <a:round/>
            </a:ln>
            <a:effectLst/>
          </c:spPr>
          <c:dPt>
            <c:idx val="0"/>
            <c:bubble3D val="0"/>
            <c:spPr>
              <a:solidFill>
                <a:srgbClr val="1F3864"/>
              </a:solidFill>
              <a:effectLst/>
            </c:spPr>
            <c:extLst>
              <c:ext xmlns:c16="http://schemas.microsoft.com/office/drawing/2014/chart" uri="{C3380CC4-5D6E-409C-BE32-E72D297353CC}">
                <c16:uniqueId val="{00000001-4F8A-4E9E-9228-6CD62861B9C5}"/>
              </c:ext>
            </c:extLst>
          </c:dPt>
          <c:dPt>
            <c:idx val="1"/>
            <c:bubble3D val="0"/>
            <c:spPr>
              <a:solidFill>
                <a:srgbClr val="E4572E"/>
              </a:solidFill>
              <a:effectLst/>
            </c:spPr>
            <c:extLst>
              <c:ext xmlns:c16="http://schemas.microsoft.com/office/drawing/2014/chart" uri="{C3380CC4-5D6E-409C-BE32-E72D297353CC}">
                <c16:uniqueId val="{00000003-4F8A-4E9E-9228-6CD62861B9C5}"/>
              </c:ext>
            </c:extLst>
          </c:dPt>
          <c:dLbls>
            <c:dLbl>
              <c:idx val="0"/>
              <c:numFmt formatCode="0.00%" sourceLinked="0"/>
              <c:spPr/>
              <c:txPr>
                <a:bodyPr/>
                <a:lstStyle/>
                <a:p>
                  <a:pPr>
                    <a:defRPr sz="14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F8A-4E9E-9228-6CD62861B9C5}"/>
                </c:ext>
              </c:extLst>
            </c:dLbl>
            <c:dLbl>
              <c:idx val="1"/>
              <c:numFmt formatCode="0.00%" sourceLinked="0"/>
              <c:spPr/>
              <c:txPr>
                <a:bodyPr/>
                <a:lstStyle/>
                <a:p>
                  <a:pPr>
                    <a:defRPr sz="14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F8A-4E9E-9228-6CD62861B9C5}"/>
                </c:ext>
              </c:extLst>
            </c:dLbl>
            <c:numFmt formatCode="0.0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Stayed</c:v>
                </c:pt>
                <c:pt idx="1">
                  <c:v>Churned</c:v>
                </c:pt>
              </c:strCache>
            </c:strRef>
          </c:cat>
          <c:val>
            <c:numRef>
              <c:f>Sheet1!$B$2:$B$3</c:f>
              <c:numCache>
                <c:formatCode>General</c:formatCode>
                <c:ptCount val="2"/>
                <c:pt idx="0">
                  <c:v>5174</c:v>
                </c:pt>
                <c:pt idx="1">
                  <c:v>1869</c:v>
                </c:pt>
              </c:numCache>
            </c:numRef>
          </c:val>
          <c:extLst>
            <c:ext xmlns:c16="http://schemas.microsoft.com/office/drawing/2014/chart" uri="{C3380CC4-5D6E-409C-BE32-E72D297353CC}">
              <c16:uniqueId val="{00000004-4F8A-4E9E-9228-6CD62861B9C5}"/>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400">
              <a:solidFill>
                <a:srgbClr val="262626"/>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Churn rate</c:v>
                </c:pt>
              </c:strCache>
            </c:strRef>
          </c:tx>
          <c:spPr>
            <a:solidFill>
              <a:srgbClr val="1F3864"/>
            </a:solidFill>
            <a:effectLst/>
          </c:spPr>
          <c:invertIfNegative val="0"/>
          <c:dLbls>
            <c:numFmt formatCode="0.0&quot;%&quot;" sourceLinked="0"/>
            <c:spPr>
              <a:noFill/>
              <a:ln>
                <a:noFill/>
              </a:ln>
              <a:effectLst/>
            </c:spPr>
            <c:txPr>
              <a:bodyPr/>
              <a:lstStyle/>
              <a:p>
                <a:pPr>
                  <a:defRPr sz="1200" b="0" i="0" u="none" strike="noStrike">
                    <a:solidFill>
                      <a:srgbClr val="2626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Two year</c:v>
                </c:pt>
                <c:pt idx="1">
                  <c:v>One year</c:v>
                </c:pt>
                <c:pt idx="2">
                  <c:v>Month-to-month</c:v>
                </c:pt>
              </c:strCache>
            </c:strRef>
          </c:cat>
          <c:val>
            <c:numRef>
              <c:f>Sheet1!$B$2:$B$4</c:f>
              <c:numCache>
                <c:formatCode>General</c:formatCode>
                <c:ptCount val="3"/>
                <c:pt idx="0">
                  <c:v>2.8</c:v>
                </c:pt>
                <c:pt idx="1">
                  <c:v>11.3</c:v>
                </c:pt>
                <c:pt idx="2">
                  <c:v>42.7</c:v>
                </c:pt>
              </c:numCache>
            </c:numRef>
          </c:val>
          <c:extLst>
            <c:ext xmlns:c16="http://schemas.microsoft.com/office/drawing/2014/chart" uri="{C3380CC4-5D6E-409C-BE32-E72D297353CC}">
              <c16:uniqueId val="{00000000-FF39-4DAB-BD5C-D5B98B8DB24A}"/>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title>
          <c:tx>
            <c:rich>
              <a:bodyPr/>
              <a:lstStyle/>
              <a:p>
                <a:pPr>
                  <a:defRPr sz="1200" b="0" i="0" u="none" strike="noStrike">
                    <a:solidFill>
                      <a:srgbClr val="262626"/>
                    </a:solidFill>
                    <a:latin typeface="Arial"/>
                  </a:defRPr>
                </a:pPr>
                <a:r>
                  <a:rPr lang="en-IN" sz="1200" b="0" i="0" u="none" strike="noStrike">
                    <a:solidFill>
                      <a:srgbClr val="262626"/>
                    </a:solidFill>
                    <a:latin typeface="Arial"/>
                  </a:rPr>
                  <a:t>Y-axis: contract type</a:t>
                </a:r>
              </a:p>
            </c:rich>
          </c:tx>
          <c:overlay val="0"/>
        </c:title>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2626"/>
                </a:solidFill>
                <a:latin typeface="Arial"/>
              </a:defRPr>
            </a:pPr>
            <a:endParaRPr lang="en-US"/>
          </a:p>
        </c:txPr>
        <c:crossAx val="2094734552"/>
        <c:crosses val="autoZero"/>
        <c:auto val="1"/>
        <c:lblAlgn val="ctr"/>
        <c:lblOffset val="100"/>
        <c:noMultiLvlLbl val="1"/>
      </c:catAx>
      <c:valAx>
        <c:axId val="2094734552"/>
        <c:scaling>
          <c:orientation val="minMax"/>
          <c:max val="50"/>
          <c:min val="0"/>
        </c:scaling>
        <c:delete val="0"/>
        <c:axPos val="b"/>
        <c:majorGridlines>
          <c:spPr>
            <a:ln w="9525" cap="flat">
              <a:solidFill>
                <a:srgbClr val="E5E7EB"/>
              </a:solidFill>
              <a:prstDash val="solid"/>
              <a:round/>
            </a:ln>
          </c:spPr>
        </c:majorGridlines>
        <c:title>
          <c:tx>
            <c:rich>
              <a:bodyPr/>
              <a:lstStyle/>
              <a:p>
                <a:pPr>
                  <a:defRPr sz="1200" b="0" i="0" u="none" strike="noStrike">
                    <a:solidFill>
                      <a:srgbClr val="262626"/>
                    </a:solidFill>
                    <a:latin typeface="Arial"/>
                  </a:defRPr>
                </a:pPr>
                <a:r>
                  <a:rPr lang="en-IN" sz="1200" b="0" i="0" u="none" strike="noStrike">
                    <a:solidFill>
                      <a:srgbClr val="262626"/>
                    </a:solidFill>
                    <a:latin typeface="Arial"/>
                  </a:rPr>
                  <a:t>X-axis: churn rate (%)</a:t>
                </a:r>
              </a:p>
            </c:rich>
          </c:tx>
          <c:overlay val="0"/>
        </c:title>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Arial"/>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Churn rate</c:v>
                </c:pt>
              </c:strCache>
            </c:strRef>
          </c:tx>
          <c:spPr>
            <a:solidFill>
              <a:srgbClr val="1F3864"/>
            </a:solidFill>
            <a:effectLst/>
          </c:spPr>
          <c:invertIfNegative val="0"/>
          <c:dLbls>
            <c:numFmt formatCode="0.0&quot;%&quot;" sourceLinked="0"/>
            <c:spPr>
              <a:noFill/>
              <a:ln>
                <a:noFill/>
              </a:ln>
              <a:effectLst/>
            </c:spPr>
            <c:txPr>
              <a:bodyPr/>
              <a:lstStyle/>
              <a:p>
                <a:pPr>
                  <a:defRPr sz="1200" b="0" i="0" u="none" strike="noStrike">
                    <a:solidFill>
                      <a:srgbClr val="2626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 internet service</c:v>
                </c:pt>
                <c:pt idx="1">
                  <c:v>DSL</c:v>
                </c:pt>
                <c:pt idx="2">
                  <c:v>Fiber optic</c:v>
                </c:pt>
              </c:strCache>
            </c:strRef>
          </c:cat>
          <c:val>
            <c:numRef>
              <c:f>Sheet1!$B$2:$B$4</c:f>
              <c:numCache>
                <c:formatCode>General</c:formatCode>
                <c:ptCount val="3"/>
                <c:pt idx="0">
                  <c:v>7.4</c:v>
                </c:pt>
                <c:pt idx="1">
                  <c:v>19</c:v>
                </c:pt>
                <c:pt idx="2">
                  <c:v>41.9</c:v>
                </c:pt>
              </c:numCache>
            </c:numRef>
          </c:val>
          <c:extLst>
            <c:ext xmlns:c16="http://schemas.microsoft.com/office/drawing/2014/chart" uri="{C3380CC4-5D6E-409C-BE32-E72D297353CC}">
              <c16:uniqueId val="{00000000-D3D5-4F95-AE31-7D16AB73248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title>
          <c:tx>
            <c:rich>
              <a:bodyPr/>
              <a:lstStyle/>
              <a:p>
                <a:pPr>
                  <a:defRPr sz="1200" b="0" i="0" u="none" strike="noStrike">
                    <a:solidFill>
                      <a:srgbClr val="262626"/>
                    </a:solidFill>
                    <a:latin typeface="Arial"/>
                  </a:defRPr>
                </a:pPr>
                <a:r>
                  <a:rPr lang="en-IN" sz="1200" b="0" i="0" u="none" strike="noStrike">
                    <a:solidFill>
                      <a:srgbClr val="262626"/>
                    </a:solidFill>
                    <a:latin typeface="Arial"/>
                  </a:rPr>
                  <a:t>Y-axis: internet service</a:t>
                </a:r>
              </a:p>
            </c:rich>
          </c:tx>
          <c:overlay val="0"/>
        </c:title>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2626"/>
                </a:solidFill>
                <a:latin typeface="Arial"/>
              </a:defRPr>
            </a:pPr>
            <a:endParaRPr lang="en-US"/>
          </a:p>
        </c:txPr>
        <c:crossAx val="2094734552"/>
        <c:crosses val="autoZero"/>
        <c:auto val="1"/>
        <c:lblAlgn val="ctr"/>
        <c:lblOffset val="100"/>
        <c:noMultiLvlLbl val="1"/>
      </c:catAx>
      <c:valAx>
        <c:axId val="2094734552"/>
        <c:scaling>
          <c:orientation val="minMax"/>
          <c:max val="50"/>
          <c:min val="0"/>
        </c:scaling>
        <c:delete val="0"/>
        <c:axPos val="b"/>
        <c:majorGridlines>
          <c:spPr>
            <a:ln w="9525" cap="flat">
              <a:solidFill>
                <a:srgbClr val="E5E7EB"/>
              </a:solidFill>
              <a:prstDash val="solid"/>
              <a:round/>
            </a:ln>
          </c:spPr>
        </c:majorGridlines>
        <c:title>
          <c:tx>
            <c:rich>
              <a:bodyPr/>
              <a:lstStyle/>
              <a:p>
                <a:pPr>
                  <a:defRPr sz="1200" b="0" i="0" u="none" strike="noStrike">
                    <a:solidFill>
                      <a:srgbClr val="262626"/>
                    </a:solidFill>
                    <a:latin typeface="Arial"/>
                  </a:defRPr>
                </a:pPr>
                <a:r>
                  <a:rPr lang="en-IN" sz="1200" b="0" i="0" u="none" strike="noStrike">
                    <a:solidFill>
                      <a:srgbClr val="262626"/>
                    </a:solidFill>
                    <a:latin typeface="Arial"/>
                  </a:rPr>
                  <a:t>X-axis: churn rate (%)</a:t>
                </a:r>
              </a:p>
            </c:rich>
          </c:tx>
          <c:overlay val="0"/>
        </c:title>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Arial"/>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Churn rate</c:v>
                </c:pt>
              </c:strCache>
            </c:strRef>
          </c:tx>
          <c:spPr>
            <a:solidFill>
              <a:srgbClr val="1F3864"/>
            </a:solidFill>
            <a:effectLst/>
          </c:spPr>
          <c:invertIfNegative val="0"/>
          <c:dLbls>
            <c:numFmt formatCode="0.0&quot;%&quot;" sourceLinked="0"/>
            <c:spPr>
              <a:noFill/>
              <a:ln>
                <a:noFill/>
              </a:ln>
              <a:effectLst/>
            </c:spPr>
            <c:txPr>
              <a:bodyPr/>
              <a:lstStyle/>
              <a:p>
                <a:pPr>
                  <a:defRPr sz="1200" b="0" i="0" u="none" strike="noStrike">
                    <a:solidFill>
                      <a:srgbClr val="2626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Credit card (auto)</c:v>
                </c:pt>
                <c:pt idx="1">
                  <c:v>Bank transfer (auto)</c:v>
                </c:pt>
                <c:pt idx="2">
                  <c:v>Mailed check</c:v>
                </c:pt>
                <c:pt idx="3">
                  <c:v>Electronic check</c:v>
                </c:pt>
              </c:strCache>
            </c:strRef>
          </c:cat>
          <c:val>
            <c:numRef>
              <c:f>Sheet1!$B$2:$B$5</c:f>
              <c:numCache>
                <c:formatCode>General</c:formatCode>
                <c:ptCount val="4"/>
                <c:pt idx="0">
                  <c:v>15.2</c:v>
                </c:pt>
                <c:pt idx="1">
                  <c:v>16.7</c:v>
                </c:pt>
                <c:pt idx="2">
                  <c:v>19.100000000000001</c:v>
                </c:pt>
                <c:pt idx="3">
                  <c:v>45.3</c:v>
                </c:pt>
              </c:numCache>
            </c:numRef>
          </c:val>
          <c:extLst>
            <c:ext xmlns:c16="http://schemas.microsoft.com/office/drawing/2014/chart" uri="{C3380CC4-5D6E-409C-BE32-E72D297353CC}">
              <c16:uniqueId val="{00000000-3903-4F0F-9D47-85DBC3415B8A}"/>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title>
          <c:tx>
            <c:rich>
              <a:bodyPr/>
              <a:lstStyle/>
              <a:p>
                <a:pPr>
                  <a:defRPr sz="1200" b="0" i="0" u="none" strike="noStrike">
                    <a:solidFill>
                      <a:srgbClr val="262626"/>
                    </a:solidFill>
                    <a:latin typeface="Arial"/>
                  </a:defRPr>
                </a:pPr>
                <a:r>
                  <a:rPr lang="en-IN" sz="1200" b="0" i="0" u="none" strike="noStrike">
                    <a:solidFill>
                      <a:srgbClr val="262626"/>
                    </a:solidFill>
                    <a:latin typeface="Arial"/>
                  </a:rPr>
                  <a:t>Y-axis: payment method</a:t>
                </a:r>
              </a:p>
            </c:rich>
          </c:tx>
          <c:overlay val="0"/>
        </c:title>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2626"/>
                </a:solidFill>
                <a:latin typeface="Arial"/>
              </a:defRPr>
            </a:pPr>
            <a:endParaRPr lang="en-US"/>
          </a:p>
        </c:txPr>
        <c:crossAx val="2094734552"/>
        <c:crosses val="autoZero"/>
        <c:auto val="1"/>
        <c:lblAlgn val="ctr"/>
        <c:lblOffset val="100"/>
        <c:noMultiLvlLbl val="1"/>
      </c:catAx>
      <c:valAx>
        <c:axId val="2094734552"/>
        <c:scaling>
          <c:orientation val="minMax"/>
          <c:max val="50"/>
          <c:min val="0"/>
        </c:scaling>
        <c:delete val="0"/>
        <c:axPos val="b"/>
        <c:majorGridlines>
          <c:spPr>
            <a:ln w="9525" cap="flat">
              <a:solidFill>
                <a:srgbClr val="E5E7EB"/>
              </a:solidFill>
              <a:prstDash val="solid"/>
              <a:round/>
            </a:ln>
          </c:spPr>
        </c:majorGridlines>
        <c:title>
          <c:tx>
            <c:rich>
              <a:bodyPr/>
              <a:lstStyle/>
              <a:p>
                <a:pPr>
                  <a:defRPr sz="1200" b="0" i="0" u="none" strike="noStrike">
                    <a:solidFill>
                      <a:srgbClr val="262626"/>
                    </a:solidFill>
                    <a:latin typeface="Arial"/>
                  </a:defRPr>
                </a:pPr>
                <a:r>
                  <a:rPr lang="en-IN" sz="1200" b="0" i="0" u="none" strike="noStrike">
                    <a:solidFill>
                      <a:srgbClr val="262626"/>
                    </a:solidFill>
                    <a:latin typeface="Arial"/>
                  </a:rPr>
                  <a:t>X-axis: churn rate (%)</a:t>
                </a:r>
              </a:p>
            </c:rich>
          </c:tx>
          <c:overlay val="0"/>
        </c:title>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Arial"/>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Churn rate</c:v>
                </c:pt>
              </c:strCache>
            </c:strRef>
          </c:tx>
          <c:spPr>
            <a:ln w="38100" cap="flat">
              <a:solidFill>
                <a:srgbClr val="E4572E"/>
              </a:solidFill>
              <a:prstDash val="solid"/>
              <a:round/>
            </a:ln>
            <a:effectLst/>
          </c:spPr>
          <c:marker>
            <c:symbol val="circle"/>
            <c:size val="9"/>
            <c:spPr>
              <a:solidFill>
                <a:srgbClr val="E4572E"/>
              </a:solidFill>
              <a:ln w="9525" cap="flat">
                <a:solidFill>
                  <a:srgbClr val="E4572E"/>
                </a:solidFill>
                <a:prstDash val="solid"/>
                <a:round/>
              </a:ln>
              <a:effectLst/>
            </c:spPr>
          </c:marker>
          <c:dLbls>
            <c:numFmt formatCode="0.0&quot;%&quot;" sourceLinked="0"/>
            <c:spPr>
              <a:noFill/>
              <a:ln>
                <a:noFill/>
              </a:ln>
              <a:effectLst/>
            </c:spPr>
            <c:txPr>
              <a:bodyPr/>
              <a:lstStyle/>
              <a:p>
                <a:pPr>
                  <a:defRPr sz="1200" b="0" i="0" u="none" strike="noStrike">
                    <a:solidFill>
                      <a:srgbClr val="262626"/>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0-12</c:v>
                </c:pt>
                <c:pt idx="1">
                  <c:v>13-24</c:v>
                </c:pt>
                <c:pt idx="2">
                  <c:v>25-48</c:v>
                </c:pt>
                <c:pt idx="3">
                  <c:v>49-72</c:v>
                </c:pt>
              </c:strCache>
            </c:strRef>
          </c:cat>
          <c:val>
            <c:numRef>
              <c:f>Sheet1!$B$2:$B$5</c:f>
              <c:numCache>
                <c:formatCode>General</c:formatCode>
                <c:ptCount val="4"/>
                <c:pt idx="0">
                  <c:v>47.4</c:v>
                </c:pt>
                <c:pt idx="1">
                  <c:v>28.7</c:v>
                </c:pt>
                <c:pt idx="2">
                  <c:v>20.399999999999999</c:v>
                </c:pt>
                <c:pt idx="3">
                  <c:v>9.5</c:v>
                </c:pt>
              </c:numCache>
            </c:numRef>
          </c:val>
          <c:smooth val="0"/>
          <c:extLst>
            <c:ext xmlns:c16="http://schemas.microsoft.com/office/drawing/2014/chart" uri="{C3380CC4-5D6E-409C-BE32-E72D297353CC}">
              <c16:uniqueId val="{00000000-D059-4BC3-BA7C-0A0A757361F8}"/>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262626"/>
                    </a:solidFill>
                    <a:latin typeface="Arial"/>
                  </a:defRPr>
                </a:pPr>
                <a:r>
                  <a:rPr lang="en-IN" sz="1200" b="0" i="0" u="none" strike="noStrike">
                    <a:solidFill>
                      <a:srgbClr val="262626"/>
                    </a:solidFill>
                    <a:latin typeface="Arial"/>
                  </a:rPr>
                  <a:t>X-axis: tenure group (months)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62626"/>
                </a:solidFill>
                <a:latin typeface="Arial"/>
              </a:defRPr>
            </a:pPr>
            <a:endParaRPr lang="en-US"/>
          </a:p>
        </c:txPr>
        <c:crossAx val="2094734552"/>
        <c:crosses val="autoZero"/>
        <c:auto val="1"/>
        <c:lblAlgn val="ctr"/>
        <c:lblOffset val="100"/>
        <c:noMultiLvlLbl val="1"/>
      </c:catAx>
      <c:valAx>
        <c:axId val="2094734552"/>
        <c:scaling>
          <c:orientation val="minMax"/>
          <c:max val="50"/>
          <c:min val="0"/>
        </c:scaling>
        <c:delete val="0"/>
        <c:axPos val="l"/>
        <c:majorGridlines>
          <c:spPr>
            <a:ln w="9525" cap="flat">
              <a:solidFill>
                <a:srgbClr val="E5E7EB"/>
              </a:solidFill>
              <a:prstDash val="solid"/>
              <a:round/>
            </a:ln>
          </c:spPr>
        </c:majorGridlines>
        <c:title>
          <c:tx>
            <c:rich>
              <a:bodyPr/>
              <a:lstStyle/>
              <a:p>
                <a:pPr>
                  <a:defRPr sz="1200" b="0" i="0" u="none" strike="noStrike">
                    <a:solidFill>
                      <a:srgbClr val="262626"/>
                    </a:solidFill>
                    <a:latin typeface="Arial"/>
                  </a:defRPr>
                </a:pPr>
                <a:r>
                  <a:rPr lang="en-IN" sz="1200" b="0" i="0" u="none" strike="noStrike">
                    <a:solidFill>
                      <a:srgbClr val="262626"/>
                    </a:solidFill>
                    <a:latin typeface="Arial"/>
                  </a:rPr>
                  <a:t>Y-axis: churn rate (%)</a:t>
                </a:r>
              </a:p>
            </c:rich>
          </c:tx>
          <c:overlay val="0"/>
        </c:title>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Arial"/>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Churn rate</c:v>
                </c:pt>
              </c:strCache>
            </c:strRef>
          </c:tx>
          <c:spPr>
            <a:solidFill>
              <a:srgbClr val="1F3864"/>
            </a:solidFill>
            <a:effectLst/>
          </c:spPr>
          <c:invertIfNegative val="0"/>
          <c:dLbls>
            <c:numFmt formatCode="0.0&quot;%&quot;" sourceLinked="0"/>
            <c:spPr>
              <a:noFill/>
              <a:ln>
                <a:noFill/>
              </a:ln>
              <a:effectLst/>
            </c:spPr>
            <c:txPr>
              <a:bodyPr/>
              <a:lstStyle/>
              <a:p>
                <a:pPr>
                  <a:defRPr sz="1200" b="0" i="0" u="none" strike="noStrike">
                    <a:solidFill>
                      <a:srgbClr val="2626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 internet service</c:v>
                </c:pt>
                <c:pt idx="1">
                  <c:v>Has tech support</c:v>
                </c:pt>
                <c:pt idx="2">
                  <c:v>No tech support</c:v>
                </c:pt>
              </c:strCache>
            </c:strRef>
          </c:cat>
          <c:val>
            <c:numRef>
              <c:f>Sheet1!$B$2:$B$4</c:f>
              <c:numCache>
                <c:formatCode>General</c:formatCode>
                <c:ptCount val="3"/>
                <c:pt idx="0">
                  <c:v>7.4</c:v>
                </c:pt>
                <c:pt idx="1">
                  <c:v>15.2</c:v>
                </c:pt>
                <c:pt idx="2">
                  <c:v>41.6</c:v>
                </c:pt>
              </c:numCache>
            </c:numRef>
          </c:val>
          <c:extLst>
            <c:ext xmlns:c16="http://schemas.microsoft.com/office/drawing/2014/chart" uri="{C3380CC4-5D6E-409C-BE32-E72D297353CC}">
              <c16:uniqueId val="{00000000-B568-4425-87D7-0DF2B54C411F}"/>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title>
          <c:tx>
            <c:rich>
              <a:bodyPr/>
              <a:lstStyle/>
              <a:p>
                <a:pPr>
                  <a:defRPr sz="1200" b="0" i="0" u="none" strike="noStrike">
                    <a:solidFill>
                      <a:srgbClr val="262626"/>
                    </a:solidFill>
                    <a:latin typeface="Arial"/>
                  </a:defRPr>
                </a:pPr>
                <a:r>
                  <a:rPr lang="en-IN" sz="1200" b="0" i="0" u="none" strike="noStrike">
                    <a:solidFill>
                      <a:srgbClr val="262626"/>
                    </a:solidFill>
                    <a:latin typeface="Arial"/>
                  </a:rPr>
                  <a:t>Y-axis: tech support status</a:t>
                </a:r>
              </a:p>
            </c:rich>
          </c:tx>
          <c:overlay val="0"/>
        </c:title>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2626"/>
                </a:solidFill>
                <a:latin typeface="Arial"/>
              </a:defRPr>
            </a:pPr>
            <a:endParaRPr lang="en-US"/>
          </a:p>
        </c:txPr>
        <c:crossAx val="2094734552"/>
        <c:crosses val="autoZero"/>
        <c:auto val="1"/>
        <c:lblAlgn val="ctr"/>
        <c:lblOffset val="100"/>
        <c:noMultiLvlLbl val="1"/>
      </c:catAx>
      <c:valAx>
        <c:axId val="2094734552"/>
        <c:scaling>
          <c:orientation val="minMax"/>
          <c:max val="50"/>
          <c:min val="0"/>
        </c:scaling>
        <c:delete val="0"/>
        <c:axPos val="b"/>
        <c:majorGridlines>
          <c:spPr>
            <a:ln w="9525" cap="flat">
              <a:solidFill>
                <a:srgbClr val="E5E7EB"/>
              </a:solidFill>
              <a:prstDash val="solid"/>
              <a:round/>
            </a:ln>
          </c:spPr>
        </c:majorGridlines>
        <c:title>
          <c:tx>
            <c:rich>
              <a:bodyPr/>
              <a:lstStyle/>
              <a:p>
                <a:pPr>
                  <a:defRPr sz="1200" b="0" i="0" u="none" strike="noStrike">
                    <a:solidFill>
                      <a:srgbClr val="262626"/>
                    </a:solidFill>
                    <a:latin typeface="Arial"/>
                  </a:defRPr>
                </a:pPr>
                <a:r>
                  <a:rPr lang="en-IN" sz="1200" b="0" i="0" u="none" strike="noStrike">
                    <a:solidFill>
                      <a:srgbClr val="262626"/>
                    </a:solidFill>
                    <a:latin typeface="Arial"/>
                  </a:rPr>
                  <a:t>X-axis: churn rate (%)</a:t>
                </a:r>
              </a:p>
            </c:rich>
          </c:tx>
          <c:overlay val="0"/>
        </c:title>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Arial"/>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Customers</c:v>
                </c:pt>
              </c:strCache>
            </c:strRef>
          </c:tx>
          <c:spPr>
            <a:solidFill>
              <a:srgbClr val="1F3864"/>
            </a:solidFill>
            <a:effectLst/>
          </c:spPr>
          <c:invertIfNegative val="0"/>
          <c:dLbls>
            <c:numFmt formatCode="#,##0" sourceLinked="0"/>
            <c:spPr>
              <a:noFill/>
              <a:ln>
                <a:noFill/>
              </a:ln>
              <a:effectLst/>
            </c:spPr>
            <c:txPr>
              <a:bodyPr/>
              <a:lstStyle/>
              <a:p>
                <a:pPr>
                  <a:defRPr sz="1200" b="0" i="0" u="none" strike="noStrike">
                    <a:solidFill>
                      <a:srgbClr val="2626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Two year</c:v>
                </c:pt>
                <c:pt idx="1">
                  <c:v>One year</c:v>
                </c:pt>
                <c:pt idx="2">
                  <c:v>Month-to-month</c:v>
                </c:pt>
              </c:strCache>
            </c:strRef>
          </c:cat>
          <c:val>
            <c:numRef>
              <c:f>Sheet1!$B$2:$B$4</c:f>
              <c:numCache>
                <c:formatCode>General</c:formatCode>
                <c:ptCount val="3"/>
                <c:pt idx="0">
                  <c:v>1695</c:v>
                </c:pt>
                <c:pt idx="1">
                  <c:v>1473</c:v>
                </c:pt>
                <c:pt idx="2">
                  <c:v>3875</c:v>
                </c:pt>
              </c:numCache>
            </c:numRef>
          </c:val>
          <c:extLst>
            <c:ext xmlns:c16="http://schemas.microsoft.com/office/drawing/2014/chart" uri="{C3380CC4-5D6E-409C-BE32-E72D297353CC}">
              <c16:uniqueId val="{00000000-15DB-47CD-8389-2E537225B2CB}"/>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title>
          <c:tx>
            <c:rich>
              <a:bodyPr/>
              <a:lstStyle/>
              <a:p>
                <a:pPr>
                  <a:defRPr sz="1200" b="0" i="0" u="none" strike="noStrike">
                    <a:solidFill>
                      <a:srgbClr val="262626"/>
                    </a:solidFill>
                    <a:latin typeface="Arial"/>
                  </a:defRPr>
                </a:pPr>
                <a:r>
                  <a:rPr lang="en-IN" sz="1200" b="0" i="0" u="none" strike="noStrike">
                    <a:solidFill>
                      <a:srgbClr val="262626"/>
                    </a:solidFill>
                    <a:latin typeface="Arial"/>
                  </a:rPr>
                  <a:t>Y-axis: contract type</a:t>
                </a:r>
              </a:p>
            </c:rich>
          </c:tx>
          <c:overlay val="0"/>
        </c:title>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2626"/>
                </a:solidFill>
                <a:latin typeface="Arial"/>
              </a:defRPr>
            </a:pPr>
            <a:endParaRPr lang="en-US"/>
          </a:p>
        </c:txPr>
        <c:crossAx val="2094734552"/>
        <c:crosses val="autoZero"/>
        <c:auto val="1"/>
        <c:lblAlgn val="ctr"/>
        <c:lblOffset val="100"/>
        <c:noMultiLvlLbl val="1"/>
      </c:catAx>
      <c:valAx>
        <c:axId val="2094734552"/>
        <c:scaling>
          <c:orientation val="minMax"/>
          <c:max val="4500"/>
          <c:min val="0"/>
        </c:scaling>
        <c:delete val="0"/>
        <c:axPos val="b"/>
        <c:majorGridlines>
          <c:spPr>
            <a:ln w="9525" cap="flat">
              <a:solidFill>
                <a:srgbClr val="E5E7EB"/>
              </a:solidFill>
              <a:prstDash val="solid"/>
              <a:round/>
            </a:ln>
          </c:spPr>
        </c:majorGridlines>
        <c:title>
          <c:tx>
            <c:rich>
              <a:bodyPr/>
              <a:lstStyle/>
              <a:p>
                <a:pPr>
                  <a:defRPr sz="1200" b="0" i="0" u="none" strike="noStrike">
                    <a:solidFill>
                      <a:srgbClr val="262626"/>
                    </a:solidFill>
                    <a:latin typeface="Arial"/>
                  </a:defRPr>
                </a:pPr>
                <a:r>
                  <a:rPr lang="en-IN" sz="1200" b="0" i="0" u="none" strike="noStrike">
                    <a:solidFill>
                      <a:srgbClr val="262626"/>
                    </a:solidFill>
                    <a:latin typeface="Arial"/>
                  </a:rPr>
                  <a:t>X-axis: number of customers</a:t>
                </a:r>
              </a:p>
            </c:rich>
          </c:tx>
          <c:overlay val="0"/>
        </c:title>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Arial"/>
              </a:defRPr>
            </a:pPr>
            <a:endParaRPr lang="en-US"/>
          </a:p>
        </c:txPr>
        <c:crossAx val="2094734554"/>
        <c:crosses val="autoZero"/>
        <c:crossBetween val="between"/>
        <c:majorUnit val="100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32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Replace the placeholders with your name, course, and date.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7,043 customers and 21 columns. The Churn column records whether each customer left. 5,174 stayed and 1,869 churned, an overall churn rate of 26.54 percent. The same data was loaded into PostgreSQL and Databricks.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is to find which customer characteristics are most linked to churn. The main route is CSV to PostgreSQL, DBeaver queries, and Power BI. Databricks ran in parallel as a cloud route, where the dashboard was built. Word and PowerPoint present the results.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stores the data. SQL Shell loaded the CSV after the DBeaver import wizard failed. DBeaver created the database and table and ran the analysis queries.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Databricks hosted the cloud dashboard with KPI counters, a pie chart, bar charts, and a summary table. Power BI built the main interactive dashboard from PostgreSQL. Word holds the report and proposal, and PowerPoint is used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issues came up during loading. Eleven customers had a blank total charges value, so those blanks were stored as NULL. The DBeaver import wizard failed, so the file was loaded with the SQL Shell \copy command instead.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X-axis shows the churn rate as a percentage. The Y-axis lists the contract types. Month-to-month customers churn at 42.7 percent, about 15 times the 2.8 percent for two-year customers. This is an association, but it suggests longer contracts help keep customers.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charts use the churn rate on the X-axis and the category on the Y-axis. Fiber optic customers churn at 41.9 percent, compared with 19.0 percent for DSL and 7.4 percent for no internet service. Electronic check payers churn at 45.3 percent, while automatic credit card payers churn at 15.2 percent.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puts tenure groups on the X-axis and churn rate on the Y-axis. Churn falls from 47.4 percent in the first year to 9.5 percent after four years. The bar chart puts churn rate on the X-axis and tech support status on the Y-axis. Customers without tech support churn at 41.6 percent, compared with 15.2 percent for those with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Databricks dashboard shows four KPI counters: 7,043 total customers, a 26.54 percent churn rate, an average monthly charge of 64.76 dollars, and an average tenure of 32.4 months. The bar chart shows customer counts by contract: 3,875 month-to-month, 1,695 two-year, and 1,473 one-year. Databricks bar charts show counts, while churn rates by group come from the SQL and Power BI work.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findings: contract length, first-year tenure, fiber optic service, electronic check payments, and tech support are all linked to churn. The recommendations follow: encourage longer contracts, focus on the first year, review fiber optic service, and promote tech support. The main limitation is that these results show associations, not causes.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DF3DC-D0DA-25BA-A323-CB156ADCBE7B}"/>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0F6B5106-E095-4DF1-DCEE-05F507A04D70}"/>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E49791-FC64-8C26-E163-1469B2A63E3B}"/>
              </a:ext>
            </a:extLst>
          </p:cNvPr>
          <p:cNvSpPr>
            <a:spLocks noGrp="1"/>
          </p:cNvSpPr>
          <p:nvPr>
            <p:ph type="dt" sz="half" idx="10"/>
          </p:nvPr>
        </p:nvSpPr>
        <p:spPr/>
        <p:txBody>
          <a:bodyPr/>
          <a:lstStyle/>
          <a:p>
            <a:fld id="{E69EB532-D67A-4E12-B317-4D8F35D403CA}" type="datetimeFigureOut">
              <a:rPr lang="en-IN" smtClean="0"/>
              <a:t>28-10-2026</a:t>
            </a:fld>
            <a:endParaRPr lang="en-IN"/>
          </a:p>
        </p:txBody>
      </p:sp>
      <p:sp>
        <p:nvSpPr>
          <p:cNvPr id="5" name="Footer Placeholder 4">
            <a:extLst>
              <a:ext uri="{FF2B5EF4-FFF2-40B4-BE49-F238E27FC236}">
                <a16:creationId xmlns:a16="http://schemas.microsoft.com/office/drawing/2014/main" id="{21A5857A-6EA8-E9F5-6AD1-456B852EEE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B28B18-8990-4131-BD73-EDC111D6EF05}"/>
              </a:ext>
            </a:extLst>
          </p:cNvPr>
          <p:cNvSpPr>
            <a:spLocks noGrp="1"/>
          </p:cNvSpPr>
          <p:nvPr>
            <p:ph type="sldNum" sz="quarter" idx="12"/>
          </p:nvPr>
        </p:nvSpPr>
        <p:spPr/>
        <p:txBody>
          <a:bodyPr/>
          <a:lstStyle/>
          <a:p>
            <a:fld id="{9BD8A510-2137-4280-B505-356E07F0D327}" type="slidenum">
              <a:rPr lang="en-IN" smtClean="0"/>
              <a:t>‹#›</a:t>
            </a:fld>
            <a:endParaRPr lang="en-IN"/>
          </a:p>
        </p:txBody>
      </p:sp>
    </p:spTree>
    <p:extLst>
      <p:ext uri="{BB962C8B-B14F-4D97-AF65-F5344CB8AC3E}">
        <p14:creationId xmlns:p14="http://schemas.microsoft.com/office/powerpoint/2010/main" val="151286843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14002-3C2B-F70F-BB2F-13D62DB650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52D582-C442-DC9E-0F62-DE50929ECE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3E4F95-0D75-C2DC-8B4C-46F664EEC681}"/>
              </a:ext>
            </a:extLst>
          </p:cNvPr>
          <p:cNvSpPr>
            <a:spLocks noGrp="1"/>
          </p:cNvSpPr>
          <p:nvPr>
            <p:ph type="dt" sz="half" idx="10"/>
          </p:nvPr>
        </p:nvSpPr>
        <p:spPr/>
        <p:txBody>
          <a:bodyPr/>
          <a:lstStyle/>
          <a:p>
            <a:fld id="{E69EB532-D67A-4E12-B317-4D8F35D403CA}" type="datetimeFigureOut">
              <a:rPr lang="en-IN" smtClean="0"/>
              <a:t>28-10-2026</a:t>
            </a:fld>
            <a:endParaRPr lang="en-IN"/>
          </a:p>
        </p:txBody>
      </p:sp>
      <p:sp>
        <p:nvSpPr>
          <p:cNvPr id="5" name="Footer Placeholder 4">
            <a:extLst>
              <a:ext uri="{FF2B5EF4-FFF2-40B4-BE49-F238E27FC236}">
                <a16:creationId xmlns:a16="http://schemas.microsoft.com/office/drawing/2014/main" id="{D8FF633A-986B-4D1C-0884-2A621C57EF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554D83-A343-D968-25A4-B52AF1AD2835}"/>
              </a:ext>
            </a:extLst>
          </p:cNvPr>
          <p:cNvSpPr>
            <a:spLocks noGrp="1"/>
          </p:cNvSpPr>
          <p:nvPr>
            <p:ph type="sldNum" sz="quarter" idx="12"/>
          </p:nvPr>
        </p:nvSpPr>
        <p:spPr/>
        <p:txBody>
          <a:bodyPr/>
          <a:lstStyle/>
          <a:p>
            <a:fld id="{9BD8A510-2137-4280-B505-356E07F0D327}" type="slidenum">
              <a:rPr lang="en-IN" smtClean="0"/>
              <a:t>‹#›</a:t>
            </a:fld>
            <a:endParaRPr lang="en-IN"/>
          </a:p>
        </p:txBody>
      </p:sp>
    </p:spTree>
    <p:extLst>
      <p:ext uri="{BB962C8B-B14F-4D97-AF65-F5344CB8AC3E}">
        <p14:creationId xmlns:p14="http://schemas.microsoft.com/office/powerpoint/2010/main" val="111177197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C035F-44D7-E5F1-A9B5-DD556B25E6C3}"/>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DF278AC-CAB6-71CE-2DAB-F845CF5E7D1C}"/>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614F51-A450-8C77-5E9C-15C4D89FB85F}"/>
              </a:ext>
            </a:extLst>
          </p:cNvPr>
          <p:cNvSpPr>
            <a:spLocks noGrp="1"/>
          </p:cNvSpPr>
          <p:nvPr>
            <p:ph type="dt" sz="half" idx="10"/>
          </p:nvPr>
        </p:nvSpPr>
        <p:spPr/>
        <p:txBody>
          <a:bodyPr/>
          <a:lstStyle/>
          <a:p>
            <a:fld id="{E69EB532-D67A-4E12-B317-4D8F35D403CA}" type="datetimeFigureOut">
              <a:rPr lang="en-IN" smtClean="0"/>
              <a:t>28-10-2026</a:t>
            </a:fld>
            <a:endParaRPr lang="en-IN"/>
          </a:p>
        </p:txBody>
      </p:sp>
      <p:sp>
        <p:nvSpPr>
          <p:cNvPr id="5" name="Footer Placeholder 4">
            <a:extLst>
              <a:ext uri="{FF2B5EF4-FFF2-40B4-BE49-F238E27FC236}">
                <a16:creationId xmlns:a16="http://schemas.microsoft.com/office/drawing/2014/main" id="{0D241F7B-171E-99DF-6238-30540E2CB0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282ED6-F219-F772-EECE-F2CC8CD5C0BA}"/>
              </a:ext>
            </a:extLst>
          </p:cNvPr>
          <p:cNvSpPr>
            <a:spLocks noGrp="1"/>
          </p:cNvSpPr>
          <p:nvPr>
            <p:ph type="sldNum" sz="quarter" idx="12"/>
          </p:nvPr>
        </p:nvSpPr>
        <p:spPr/>
        <p:txBody>
          <a:bodyPr/>
          <a:lstStyle/>
          <a:p>
            <a:fld id="{9BD8A510-2137-4280-B505-356E07F0D327}" type="slidenum">
              <a:rPr lang="en-IN" smtClean="0"/>
              <a:t>‹#›</a:t>
            </a:fld>
            <a:endParaRPr lang="en-IN"/>
          </a:p>
        </p:txBody>
      </p:sp>
    </p:spTree>
    <p:extLst>
      <p:ext uri="{BB962C8B-B14F-4D97-AF65-F5344CB8AC3E}">
        <p14:creationId xmlns:p14="http://schemas.microsoft.com/office/powerpoint/2010/main" val="331934738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67BCA-ADDB-6B11-79F2-C8E8D45903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FC457F-09E7-7A6C-9C5C-371E8EDA668B}"/>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4116A08-A146-AA93-89F7-1F6F994F8206}"/>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4A13CA7-8D5F-CFED-CD55-2CEBA742DF2F}"/>
              </a:ext>
            </a:extLst>
          </p:cNvPr>
          <p:cNvSpPr>
            <a:spLocks noGrp="1"/>
          </p:cNvSpPr>
          <p:nvPr>
            <p:ph type="dt" sz="half" idx="10"/>
          </p:nvPr>
        </p:nvSpPr>
        <p:spPr/>
        <p:txBody>
          <a:bodyPr/>
          <a:lstStyle/>
          <a:p>
            <a:fld id="{E69EB532-D67A-4E12-B317-4D8F35D403CA}" type="datetimeFigureOut">
              <a:rPr lang="en-IN" smtClean="0"/>
              <a:t>28-10-2026</a:t>
            </a:fld>
            <a:endParaRPr lang="en-IN"/>
          </a:p>
        </p:txBody>
      </p:sp>
      <p:sp>
        <p:nvSpPr>
          <p:cNvPr id="6" name="Footer Placeholder 5">
            <a:extLst>
              <a:ext uri="{FF2B5EF4-FFF2-40B4-BE49-F238E27FC236}">
                <a16:creationId xmlns:a16="http://schemas.microsoft.com/office/drawing/2014/main" id="{9644C214-60FF-AD78-0BB1-1940D3A8BA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87ADA5-C6CC-BD20-D988-278DDC4BF69C}"/>
              </a:ext>
            </a:extLst>
          </p:cNvPr>
          <p:cNvSpPr>
            <a:spLocks noGrp="1"/>
          </p:cNvSpPr>
          <p:nvPr>
            <p:ph type="sldNum" sz="quarter" idx="12"/>
          </p:nvPr>
        </p:nvSpPr>
        <p:spPr/>
        <p:txBody>
          <a:bodyPr/>
          <a:lstStyle/>
          <a:p>
            <a:fld id="{9BD8A510-2137-4280-B505-356E07F0D327}" type="slidenum">
              <a:rPr lang="en-IN" smtClean="0"/>
              <a:t>‹#›</a:t>
            </a:fld>
            <a:endParaRPr lang="en-IN"/>
          </a:p>
        </p:txBody>
      </p:sp>
    </p:spTree>
    <p:extLst>
      <p:ext uri="{BB962C8B-B14F-4D97-AF65-F5344CB8AC3E}">
        <p14:creationId xmlns:p14="http://schemas.microsoft.com/office/powerpoint/2010/main" val="234632773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281D8-2351-60AE-D86B-C0AC6C862123}"/>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E5720A-B503-BD37-D21C-4F1D1B6CF92B}"/>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B002E24-6002-D207-FF23-30FA7BA301DB}"/>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C01206-4CF6-C3C1-1FA9-32ECDA12B7E6}"/>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D60729A-1F0F-A94E-9D59-B696501FABAE}"/>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4238F9E-37FB-A3DF-108A-7EDCD91AB934}"/>
              </a:ext>
            </a:extLst>
          </p:cNvPr>
          <p:cNvSpPr>
            <a:spLocks noGrp="1"/>
          </p:cNvSpPr>
          <p:nvPr>
            <p:ph type="dt" sz="half" idx="10"/>
          </p:nvPr>
        </p:nvSpPr>
        <p:spPr/>
        <p:txBody>
          <a:bodyPr/>
          <a:lstStyle/>
          <a:p>
            <a:fld id="{E69EB532-D67A-4E12-B317-4D8F35D403CA}" type="datetimeFigureOut">
              <a:rPr lang="en-IN" smtClean="0"/>
              <a:t>28-10-2026</a:t>
            </a:fld>
            <a:endParaRPr lang="en-IN"/>
          </a:p>
        </p:txBody>
      </p:sp>
      <p:sp>
        <p:nvSpPr>
          <p:cNvPr id="8" name="Footer Placeholder 7">
            <a:extLst>
              <a:ext uri="{FF2B5EF4-FFF2-40B4-BE49-F238E27FC236}">
                <a16:creationId xmlns:a16="http://schemas.microsoft.com/office/drawing/2014/main" id="{C040572F-4079-B7AD-46C0-6268F31945E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6FD93DE-8FC7-996B-30F8-14FEB037EEAD}"/>
              </a:ext>
            </a:extLst>
          </p:cNvPr>
          <p:cNvSpPr>
            <a:spLocks noGrp="1"/>
          </p:cNvSpPr>
          <p:nvPr>
            <p:ph type="sldNum" sz="quarter" idx="12"/>
          </p:nvPr>
        </p:nvSpPr>
        <p:spPr/>
        <p:txBody>
          <a:bodyPr/>
          <a:lstStyle/>
          <a:p>
            <a:fld id="{9BD8A510-2137-4280-B505-356E07F0D327}" type="slidenum">
              <a:rPr lang="en-IN" smtClean="0"/>
              <a:t>‹#›</a:t>
            </a:fld>
            <a:endParaRPr lang="en-IN"/>
          </a:p>
        </p:txBody>
      </p:sp>
    </p:spTree>
    <p:extLst>
      <p:ext uri="{BB962C8B-B14F-4D97-AF65-F5344CB8AC3E}">
        <p14:creationId xmlns:p14="http://schemas.microsoft.com/office/powerpoint/2010/main" val="192611993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E7356-145A-5727-3588-5EC98571F93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632970D-A8FE-0084-9770-679DC8E7CB69}"/>
              </a:ext>
            </a:extLst>
          </p:cNvPr>
          <p:cNvSpPr>
            <a:spLocks noGrp="1"/>
          </p:cNvSpPr>
          <p:nvPr>
            <p:ph type="dt" sz="half" idx="10"/>
          </p:nvPr>
        </p:nvSpPr>
        <p:spPr/>
        <p:txBody>
          <a:bodyPr/>
          <a:lstStyle/>
          <a:p>
            <a:fld id="{E69EB532-D67A-4E12-B317-4D8F35D403CA}" type="datetimeFigureOut">
              <a:rPr lang="en-IN" smtClean="0"/>
              <a:t>28-10-2026</a:t>
            </a:fld>
            <a:endParaRPr lang="en-IN"/>
          </a:p>
        </p:txBody>
      </p:sp>
      <p:sp>
        <p:nvSpPr>
          <p:cNvPr id="4" name="Footer Placeholder 3">
            <a:extLst>
              <a:ext uri="{FF2B5EF4-FFF2-40B4-BE49-F238E27FC236}">
                <a16:creationId xmlns:a16="http://schemas.microsoft.com/office/drawing/2014/main" id="{1AE2238E-82A0-7018-841A-1F88D47CF48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AFCC7D6-A630-05DE-0ADA-03C1DF18B747}"/>
              </a:ext>
            </a:extLst>
          </p:cNvPr>
          <p:cNvSpPr>
            <a:spLocks noGrp="1"/>
          </p:cNvSpPr>
          <p:nvPr>
            <p:ph type="sldNum" sz="quarter" idx="12"/>
          </p:nvPr>
        </p:nvSpPr>
        <p:spPr/>
        <p:txBody>
          <a:bodyPr/>
          <a:lstStyle/>
          <a:p>
            <a:fld id="{9BD8A510-2137-4280-B505-356E07F0D327}" type="slidenum">
              <a:rPr lang="en-IN" smtClean="0"/>
              <a:t>‹#›</a:t>
            </a:fld>
            <a:endParaRPr lang="en-IN"/>
          </a:p>
        </p:txBody>
      </p:sp>
    </p:spTree>
    <p:extLst>
      <p:ext uri="{BB962C8B-B14F-4D97-AF65-F5344CB8AC3E}">
        <p14:creationId xmlns:p14="http://schemas.microsoft.com/office/powerpoint/2010/main" val="39045734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F5CD9D-BBF9-4CA8-40C0-F5CDB2F62CDE}"/>
              </a:ext>
            </a:extLst>
          </p:cNvPr>
          <p:cNvSpPr>
            <a:spLocks noGrp="1"/>
          </p:cNvSpPr>
          <p:nvPr>
            <p:ph type="dt" sz="half" idx="10"/>
          </p:nvPr>
        </p:nvSpPr>
        <p:spPr/>
        <p:txBody>
          <a:bodyPr/>
          <a:lstStyle/>
          <a:p>
            <a:fld id="{E69EB532-D67A-4E12-B317-4D8F35D403CA}" type="datetimeFigureOut">
              <a:rPr lang="en-IN" smtClean="0"/>
              <a:t>28-10-2026</a:t>
            </a:fld>
            <a:endParaRPr lang="en-IN"/>
          </a:p>
        </p:txBody>
      </p:sp>
      <p:sp>
        <p:nvSpPr>
          <p:cNvPr id="3" name="Footer Placeholder 2">
            <a:extLst>
              <a:ext uri="{FF2B5EF4-FFF2-40B4-BE49-F238E27FC236}">
                <a16:creationId xmlns:a16="http://schemas.microsoft.com/office/drawing/2014/main" id="{7652C318-E31D-CC1E-0D10-5EA4809C2FC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8A92A8D-1380-C33F-F7AF-34320B74B403}"/>
              </a:ext>
            </a:extLst>
          </p:cNvPr>
          <p:cNvSpPr>
            <a:spLocks noGrp="1"/>
          </p:cNvSpPr>
          <p:nvPr>
            <p:ph type="sldNum" sz="quarter" idx="12"/>
          </p:nvPr>
        </p:nvSpPr>
        <p:spPr/>
        <p:txBody>
          <a:bodyPr/>
          <a:lstStyle/>
          <a:p>
            <a:fld id="{9BD8A510-2137-4280-B505-356E07F0D327}" type="slidenum">
              <a:rPr lang="en-IN" smtClean="0"/>
              <a:t>‹#›</a:t>
            </a:fld>
            <a:endParaRPr lang="en-IN"/>
          </a:p>
        </p:txBody>
      </p:sp>
    </p:spTree>
    <p:extLst>
      <p:ext uri="{BB962C8B-B14F-4D97-AF65-F5344CB8AC3E}">
        <p14:creationId xmlns:p14="http://schemas.microsoft.com/office/powerpoint/2010/main" val="379946740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3D68A-1651-26D4-680C-B6F51A8CFD26}"/>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414ED41-C516-5388-8822-E4B1BA586ADB}"/>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B757FAA-CF30-4847-E234-703200D55761}"/>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FA47E88-3AA5-5094-FB91-35C88FF5816C}"/>
              </a:ext>
            </a:extLst>
          </p:cNvPr>
          <p:cNvSpPr>
            <a:spLocks noGrp="1"/>
          </p:cNvSpPr>
          <p:nvPr>
            <p:ph type="dt" sz="half" idx="10"/>
          </p:nvPr>
        </p:nvSpPr>
        <p:spPr/>
        <p:txBody>
          <a:bodyPr/>
          <a:lstStyle/>
          <a:p>
            <a:fld id="{E69EB532-D67A-4E12-B317-4D8F35D403CA}" type="datetimeFigureOut">
              <a:rPr lang="en-IN" smtClean="0"/>
              <a:t>28-10-2026</a:t>
            </a:fld>
            <a:endParaRPr lang="en-IN"/>
          </a:p>
        </p:txBody>
      </p:sp>
      <p:sp>
        <p:nvSpPr>
          <p:cNvPr id="6" name="Footer Placeholder 5">
            <a:extLst>
              <a:ext uri="{FF2B5EF4-FFF2-40B4-BE49-F238E27FC236}">
                <a16:creationId xmlns:a16="http://schemas.microsoft.com/office/drawing/2014/main" id="{E40D507B-9FC2-1E50-D4E5-3C357D24B5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B4B6B3-220E-2A44-2680-7EA3ABE2AD0B}"/>
              </a:ext>
            </a:extLst>
          </p:cNvPr>
          <p:cNvSpPr>
            <a:spLocks noGrp="1"/>
          </p:cNvSpPr>
          <p:nvPr>
            <p:ph type="sldNum" sz="quarter" idx="12"/>
          </p:nvPr>
        </p:nvSpPr>
        <p:spPr/>
        <p:txBody>
          <a:bodyPr/>
          <a:lstStyle/>
          <a:p>
            <a:fld id="{9BD8A510-2137-4280-B505-356E07F0D327}" type="slidenum">
              <a:rPr lang="en-IN" smtClean="0"/>
              <a:t>‹#›</a:t>
            </a:fld>
            <a:endParaRPr lang="en-IN"/>
          </a:p>
        </p:txBody>
      </p:sp>
    </p:spTree>
    <p:extLst>
      <p:ext uri="{BB962C8B-B14F-4D97-AF65-F5344CB8AC3E}">
        <p14:creationId xmlns:p14="http://schemas.microsoft.com/office/powerpoint/2010/main" val="85299611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7E871-24B9-2EDE-3C98-292473DA893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E771934-A83A-87A7-E0FA-EF6FBAC5C6DF}"/>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797BBF99-7565-F612-6CD7-7F4ED8BFA79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839EAC3-C7FE-AEAE-A80F-D97E149A132D}"/>
              </a:ext>
            </a:extLst>
          </p:cNvPr>
          <p:cNvSpPr>
            <a:spLocks noGrp="1"/>
          </p:cNvSpPr>
          <p:nvPr>
            <p:ph type="dt" sz="half" idx="10"/>
          </p:nvPr>
        </p:nvSpPr>
        <p:spPr/>
        <p:txBody>
          <a:bodyPr/>
          <a:lstStyle/>
          <a:p>
            <a:fld id="{E69EB532-D67A-4E12-B317-4D8F35D403CA}" type="datetimeFigureOut">
              <a:rPr lang="en-IN" smtClean="0"/>
              <a:t>28-10-2026</a:t>
            </a:fld>
            <a:endParaRPr lang="en-IN"/>
          </a:p>
        </p:txBody>
      </p:sp>
      <p:sp>
        <p:nvSpPr>
          <p:cNvPr id="6" name="Footer Placeholder 5">
            <a:extLst>
              <a:ext uri="{FF2B5EF4-FFF2-40B4-BE49-F238E27FC236}">
                <a16:creationId xmlns:a16="http://schemas.microsoft.com/office/drawing/2014/main" id="{E32A813F-A45B-4ABF-305C-5B80BBDCD0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D16DBE-5043-F65F-96E5-999819904F50}"/>
              </a:ext>
            </a:extLst>
          </p:cNvPr>
          <p:cNvSpPr>
            <a:spLocks noGrp="1"/>
          </p:cNvSpPr>
          <p:nvPr>
            <p:ph type="sldNum" sz="quarter" idx="12"/>
          </p:nvPr>
        </p:nvSpPr>
        <p:spPr/>
        <p:txBody>
          <a:bodyPr/>
          <a:lstStyle/>
          <a:p>
            <a:fld id="{9BD8A510-2137-4280-B505-356E07F0D327}" type="slidenum">
              <a:rPr lang="en-IN" smtClean="0"/>
              <a:t>‹#›</a:t>
            </a:fld>
            <a:endParaRPr lang="en-IN"/>
          </a:p>
        </p:txBody>
      </p:sp>
    </p:spTree>
    <p:extLst>
      <p:ext uri="{BB962C8B-B14F-4D97-AF65-F5344CB8AC3E}">
        <p14:creationId xmlns:p14="http://schemas.microsoft.com/office/powerpoint/2010/main" val="261676477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F96C2-2B65-82AC-0EE5-6464C08C099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0B5797-52D6-A328-B32D-A61C91682E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E0B1B5-ABDF-43B8-B999-E677217F2831}"/>
              </a:ext>
            </a:extLst>
          </p:cNvPr>
          <p:cNvSpPr>
            <a:spLocks noGrp="1"/>
          </p:cNvSpPr>
          <p:nvPr>
            <p:ph type="dt" sz="half" idx="10"/>
          </p:nvPr>
        </p:nvSpPr>
        <p:spPr/>
        <p:txBody>
          <a:bodyPr/>
          <a:lstStyle/>
          <a:p>
            <a:fld id="{E69EB532-D67A-4E12-B317-4D8F35D403CA}" type="datetimeFigureOut">
              <a:rPr lang="en-IN" smtClean="0"/>
              <a:t>28-10-2026</a:t>
            </a:fld>
            <a:endParaRPr lang="en-IN"/>
          </a:p>
        </p:txBody>
      </p:sp>
      <p:sp>
        <p:nvSpPr>
          <p:cNvPr id="5" name="Footer Placeholder 4">
            <a:extLst>
              <a:ext uri="{FF2B5EF4-FFF2-40B4-BE49-F238E27FC236}">
                <a16:creationId xmlns:a16="http://schemas.microsoft.com/office/drawing/2014/main" id="{2198C3B3-5A8D-D6B7-6F31-0E2B9E9B7A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D860FF-2AAC-00CE-45B8-FBA01068BCCE}"/>
              </a:ext>
            </a:extLst>
          </p:cNvPr>
          <p:cNvSpPr>
            <a:spLocks noGrp="1"/>
          </p:cNvSpPr>
          <p:nvPr>
            <p:ph type="sldNum" sz="quarter" idx="12"/>
          </p:nvPr>
        </p:nvSpPr>
        <p:spPr/>
        <p:txBody>
          <a:bodyPr/>
          <a:lstStyle/>
          <a:p>
            <a:fld id="{9BD8A510-2137-4280-B505-356E07F0D327}" type="slidenum">
              <a:rPr lang="en-IN" smtClean="0"/>
              <a:t>‹#›</a:t>
            </a:fld>
            <a:endParaRPr lang="en-IN"/>
          </a:p>
        </p:txBody>
      </p:sp>
    </p:spTree>
    <p:extLst>
      <p:ext uri="{BB962C8B-B14F-4D97-AF65-F5344CB8AC3E}">
        <p14:creationId xmlns:p14="http://schemas.microsoft.com/office/powerpoint/2010/main" val="79812290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2858CA-4C84-C10C-E832-04704423EB9D}"/>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5C3E08-18CE-51FF-B9CC-94AB2CD393D3}"/>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CB5D7F-DFD4-CDB0-444A-B78F1A6D45AE}"/>
              </a:ext>
            </a:extLst>
          </p:cNvPr>
          <p:cNvSpPr>
            <a:spLocks noGrp="1"/>
          </p:cNvSpPr>
          <p:nvPr>
            <p:ph type="dt" sz="half" idx="10"/>
          </p:nvPr>
        </p:nvSpPr>
        <p:spPr/>
        <p:txBody>
          <a:bodyPr/>
          <a:lstStyle/>
          <a:p>
            <a:fld id="{E69EB532-D67A-4E12-B317-4D8F35D403CA}" type="datetimeFigureOut">
              <a:rPr lang="en-IN" smtClean="0"/>
              <a:t>28-10-2026</a:t>
            </a:fld>
            <a:endParaRPr lang="en-IN"/>
          </a:p>
        </p:txBody>
      </p:sp>
      <p:sp>
        <p:nvSpPr>
          <p:cNvPr id="5" name="Footer Placeholder 4">
            <a:extLst>
              <a:ext uri="{FF2B5EF4-FFF2-40B4-BE49-F238E27FC236}">
                <a16:creationId xmlns:a16="http://schemas.microsoft.com/office/drawing/2014/main" id="{81240140-4D83-DD9C-C25D-101DE8D7D1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30C425-4E59-2711-5AB5-FB580845A1F9}"/>
              </a:ext>
            </a:extLst>
          </p:cNvPr>
          <p:cNvSpPr>
            <a:spLocks noGrp="1"/>
          </p:cNvSpPr>
          <p:nvPr>
            <p:ph type="sldNum" sz="quarter" idx="12"/>
          </p:nvPr>
        </p:nvSpPr>
        <p:spPr/>
        <p:txBody>
          <a:bodyPr/>
          <a:lstStyle/>
          <a:p>
            <a:fld id="{9BD8A510-2137-4280-B505-356E07F0D327}" type="slidenum">
              <a:rPr lang="en-IN" smtClean="0"/>
              <a:t>‹#›</a:t>
            </a:fld>
            <a:endParaRPr lang="en-IN"/>
          </a:p>
        </p:txBody>
      </p:sp>
    </p:spTree>
    <p:extLst>
      <p:ext uri="{BB962C8B-B14F-4D97-AF65-F5344CB8AC3E}">
        <p14:creationId xmlns:p14="http://schemas.microsoft.com/office/powerpoint/2010/main" val="38528262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4245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9F7F59-7CD1-F89E-AA04-4E3C60408214}"/>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F982E3-BFBE-8E2D-2EAC-42F9E5F96D3D}"/>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FF3E6D-3C99-E10A-637E-F156393D2D4B}"/>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E69EB532-D67A-4E12-B317-4D8F35D403CA}" type="datetimeFigureOut">
              <a:rPr lang="en-IN" smtClean="0"/>
              <a:t>28-10-2026</a:t>
            </a:fld>
            <a:endParaRPr lang="en-IN"/>
          </a:p>
        </p:txBody>
      </p:sp>
      <p:sp>
        <p:nvSpPr>
          <p:cNvPr id="5" name="Footer Placeholder 4">
            <a:extLst>
              <a:ext uri="{FF2B5EF4-FFF2-40B4-BE49-F238E27FC236}">
                <a16:creationId xmlns:a16="http://schemas.microsoft.com/office/drawing/2014/main" id="{5307A85A-0682-B263-E903-EE895B0A0E52}"/>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3EB948B-1E6A-77DA-2196-646B1B8DA7C7}"/>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BD8A510-2137-4280-B505-356E07F0D327}" type="slidenum">
              <a:rPr lang="en-IN" smtClean="0"/>
              <a:t>‹#›</a:t>
            </a:fld>
            <a:endParaRPr lang="en-IN"/>
          </a:p>
        </p:txBody>
      </p:sp>
    </p:spTree>
    <p:extLst>
      <p:ext uri="{BB962C8B-B14F-4D97-AF65-F5344CB8AC3E}">
        <p14:creationId xmlns:p14="http://schemas.microsoft.com/office/powerpoint/2010/main" val="248629723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7863840" cy="91440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Customer Churn Analysis</a:t>
            </a:r>
            <a:endParaRPr lang="en-US" sz="4000" dirty="0"/>
          </a:p>
        </p:txBody>
      </p:sp>
      <p:sp>
        <p:nvSpPr>
          <p:cNvPr id="3" name="Text 1"/>
          <p:cNvSpPr txBox="1"/>
          <p:nvPr/>
        </p:nvSpPr>
        <p:spPr>
          <a:xfrm>
            <a:off x="640080" y="2331720"/>
            <a:ext cx="7863840" cy="731520"/>
          </a:xfrm>
          <a:prstGeom prst="rect">
            <a:avLst/>
          </a:prstGeom>
          <a:noFill/>
          <a:ln/>
        </p:spPr>
        <p:txBody>
          <a:bodyPr wrap="square" lIns="0" tIns="0" rIns="0" bIns="0" rtlCol="0" anchor="ctr"/>
          <a:lstStyle/>
          <a:p>
            <a:pPr marL="0" indent="0">
              <a:buNone/>
            </a:pPr>
            <a:r>
              <a:rPr lang="en-US" sz="2000" dirty="0">
                <a:solidFill>
                  <a:srgbClr val="CADCFC"/>
                </a:solidFill>
                <a:latin typeface="Arial" pitchFamily="34" charset="0"/>
                <a:ea typeface="Arial" pitchFamily="34" charset="-122"/>
                <a:cs typeface="Arial" pitchFamily="34" charset="-120"/>
              </a:rPr>
              <a:t>Telco customer data analysed with PostgreSQL, DBeaver, SQL, Power BI and Databricks</a:t>
            </a:r>
            <a:endParaRPr lang="en-US" sz="2000" dirty="0"/>
          </a:p>
        </p:txBody>
      </p:sp>
      <p:sp>
        <p:nvSpPr>
          <p:cNvPr id="4" name="Text 2"/>
          <p:cNvSpPr txBox="1"/>
          <p:nvPr/>
        </p:nvSpPr>
        <p:spPr>
          <a:xfrm>
            <a:off x="640080" y="4114800"/>
            <a:ext cx="7863840" cy="457200"/>
          </a:xfrm>
          <a:prstGeom prst="rect">
            <a:avLst/>
          </a:prstGeom>
          <a:noFill/>
          <a:ln/>
        </p:spPr>
        <p:txBody>
          <a:bodyPr wrap="square" lIns="0" tIns="0" rIns="0" bIns="0" rtlCol="0" anchor="ctr"/>
          <a:lstStyle/>
          <a:p>
            <a:pPr marL="0" indent="0">
              <a:buNone/>
            </a:pPr>
            <a:r>
              <a:rPr lang="en-US" sz="1400" dirty="0">
                <a:solidFill>
                  <a:srgbClr val="FFFFFF"/>
                </a:solidFill>
                <a:latin typeface="Arial" pitchFamily="34" charset="0"/>
                <a:ea typeface="Arial" pitchFamily="34" charset="-122"/>
                <a:cs typeface="Arial" pitchFamily="34" charset="-120"/>
              </a:rPr>
              <a:t>Khush Talera   |   Bigdata Analytics and DBMS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3864"/>
                </a:solidFill>
                <a:latin typeface="Arial" pitchFamily="34" charset="0"/>
                <a:ea typeface="Arial" pitchFamily="34" charset="-122"/>
                <a:cs typeface="Arial" pitchFamily="34" charset="-120"/>
              </a:rPr>
              <a:t>The data: 7,043 telco customers</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What the data is and what each part means</a:t>
            </a:r>
            <a:endParaRPr lang="en-US" sz="1400" dirty="0"/>
          </a:p>
        </p:txBody>
      </p:sp>
      <p:sp>
        <p:nvSpPr>
          <p:cNvPr id="4" name="Shape 2"/>
          <p:cNvSpPr/>
          <p:nvPr/>
        </p:nvSpPr>
        <p:spPr>
          <a:xfrm>
            <a:off x="457200" y="1463040"/>
            <a:ext cx="4572000" cy="3474720"/>
          </a:xfrm>
          <a:prstGeom prst="roundRect">
            <a:avLst>
              <a:gd name="adj" fmla="val 2105"/>
            </a:avLst>
          </a:prstGeom>
          <a:solidFill>
            <a:srgbClr val="F2F4F7"/>
          </a:solidFill>
          <a:ln w="12700">
            <a:solidFill>
              <a:srgbClr val="F2F4F7"/>
            </a:solidFill>
            <a:prstDash val="solid"/>
          </a:ln>
        </p:spPr>
        <p:txBody>
          <a:bodyPr/>
          <a:lstStyle/>
          <a:p>
            <a:endParaRPr lang="en-IN"/>
          </a:p>
        </p:txBody>
      </p:sp>
      <p:sp>
        <p:nvSpPr>
          <p:cNvPr id="5" name="Text 3"/>
          <p:cNvSpPr txBox="1"/>
          <p:nvPr/>
        </p:nvSpPr>
        <p:spPr>
          <a:xfrm>
            <a:off x="685800" y="1645920"/>
            <a:ext cx="4114800" cy="3200400"/>
          </a:xfrm>
          <a:prstGeom prst="rect">
            <a:avLst/>
          </a:prstGeom>
          <a:noFill/>
          <a:ln/>
        </p:spPr>
        <p:txBody>
          <a:bodyPr wrap="square" lIns="0" tIns="0" rIns="0" bIns="0" rtlCol="0" anchor="t"/>
          <a:lstStyle/>
          <a:p>
            <a:pPr marL="0" indent="0">
              <a:spcAft>
                <a:spcPts val="800"/>
              </a:spcAft>
              <a:buNone/>
            </a:pPr>
            <a:r>
              <a:rPr lang="en-US" sz="1800" b="1" dirty="0">
                <a:solidFill>
                  <a:srgbClr val="1F3864"/>
                </a:solidFill>
                <a:latin typeface="Arial" pitchFamily="34" charset="0"/>
                <a:ea typeface="Arial" pitchFamily="34" charset="-122"/>
                <a:cs typeface="Arial" pitchFamily="34" charset="-120"/>
              </a:rPr>
              <a:t>What the data is</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Telco customer churn dataset, supplied as telco.csv</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7,043 rows, one row per customer; 21 columns describing each customer</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Churn column: Yes means the customer left, No means they stayed</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Groups: customer details, services, account and billing, and churn</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Loaded into PostgreSQL and into Databricks</a:t>
            </a:r>
            <a:endParaRPr lang="en-US" sz="1800" dirty="0"/>
          </a:p>
        </p:txBody>
      </p:sp>
      <p:graphicFrame>
        <p:nvGraphicFramePr>
          <p:cNvPr id="6" name="Chart 0"/>
          <p:cNvGraphicFramePr/>
          <p:nvPr>
            <p:extLst>
              <p:ext uri="{D42A27DB-BD31-4B8C-83A1-F6EECF244321}">
                <p14:modId xmlns:p14="http://schemas.microsoft.com/office/powerpoint/2010/main" val="3479997486"/>
              </p:ext>
            </p:extLst>
          </p:nvPr>
        </p:nvGraphicFramePr>
        <p:xfrm>
          <a:off x="5303520" y="1463040"/>
          <a:ext cx="347472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5303520" y="4572000"/>
            <a:ext cx="3474720" cy="365760"/>
          </a:xfrm>
          <a:prstGeom prst="rect">
            <a:avLst/>
          </a:prstGeom>
          <a:noFill/>
          <a:ln/>
        </p:spPr>
        <p:txBody>
          <a:bodyPr wrap="square" lIns="0" tIns="0" rIns="0" bIns="0" rtlCol="0" anchor="ctr"/>
          <a:lstStyle/>
          <a:p>
            <a:pPr marL="0" indent="0" algn="ctr">
              <a:buNone/>
            </a:pPr>
            <a:r>
              <a:rPr lang="en-US" sz="1200" dirty="0">
                <a:solidFill>
                  <a:srgbClr val="6B7280"/>
                </a:solidFill>
                <a:latin typeface="Arial" pitchFamily="34" charset="0"/>
                <a:ea typeface="Arial" pitchFamily="34" charset="-122"/>
                <a:cs typeface="Arial" pitchFamily="34" charset="-120"/>
              </a:rPr>
              <a:t>Customer status (donut chart: no axes, slice size shows share)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3864"/>
                </a:solidFill>
                <a:latin typeface="Arial" pitchFamily="34" charset="0"/>
                <a:ea typeface="Arial" pitchFamily="34" charset="-122"/>
                <a:cs typeface="Arial" pitchFamily="34" charset="-120"/>
              </a:rPr>
              <a:t>Purpose and workflow</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Why the project was done and how the tools connect</a:t>
            </a:r>
            <a:endParaRPr lang="en-US" sz="1400" dirty="0"/>
          </a:p>
        </p:txBody>
      </p:sp>
      <p:sp>
        <p:nvSpPr>
          <p:cNvPr id="4" name="Shape 2"/>
          <p:cNvSpPr/>
          <p:nvPr/>
        </p:nvSpPr>
        <p:spPr>
          <a:xfrm>
            <a:off x="457200" y="1463040"/>
            <a:ext cx="8229600" cy="822960"/>
          </a:xfrm>
          <a:prstGeom prst="roundRect">
            <a:avLst>
              <a:gd name="adj" fmla="val 8889"/>
            </a:avLst>
          </a:prstGeom>
          <a:solidFill>
            <a:srgbClr val="F2F4F7"/>
          </a:solidFill>
          <a:ln w="12700">
            <a:solidFill>
              <a:srgbClr val="F2F4F7"/>
            </a:solidFill>
            <a:prstDash val="solid"/>
          </a:ln>
        </p:spPr>
        <p:txBody>
          <a:bodyPr/>
          <a:lstStyle/>
          <a:p>
            <a:endParaRPr lang="en-IN"/>
          </a:p>
        </p:txBody>
      </p:sp>
      <p:sp>
        <p:nvSpPr>
          <p:cNvPr id="5" name="Text 3"/>
          <p:cNvSpPr txBox="1"/>
          <p:nvPr/>
        </p:nvSpPr>
        <p:spPr>
          <a:xfrm>
            <a:off x="685800" y="1554480"/>
            <a:ext cx="7772400" cy="640080"/>
          </a:xfrm>
          <a:prstGeom prst="rect">
            <a:avLst/>
          </a:prstGeom>
          <a:noFill/>
          <a:ln/>
        </p:spPr>
        <p:txBody>
          <a:bodyPr wrap="square" lIns="0" tIns="0" rIns="0" bIns="0" rtlCol="0" anchor="ctr"/>
          <a:lstStyle/>
          <a:p>
            <a:pPr marL="0" indent="0">
              <a:buNone/>
            </a:pPr>
            <a:r>
              <a:rPr lang="en-US" sz="1600" b="1" dirty="0">
                <a:solidFill>
                  <a:srgbClr val="1F3864"/>
                </a:solidFill>
                <a:latin typeface="Arial" pitchFamily="34" charset="0"/>
                <a:ea typeface="Arial" pitchFamily="34" charset="-122"/>
                <a:cs typeface="Arial" pitchFamily="34" charset="-120"/>
              </a:rPr>
              <a:t>Purpose: find the customer characteristics most linked to churn, and present them to support retention decisions.</a:t>
            </a:r>
            <a:endParaRPr lang="en-US" sz="1600" dirty="0"/>
          </a:p>
        </p:txBody>
      </p:sp>
      <p:sp>
        <p:nvSpPr>
          <p:cNvPr id="6" name="Shape 4"/>
          <p:cNvSpPr/>
          <p:nvPr/>
        </p:nvSpPr>
        <p:spPr>
          <a:xfrm>
            <a:off x="457200" y="2560320"/>
            <a:ext cx="1417320" cy="1005840"/>
          </a:xfrm>
          <a:prstGeom prst="roundRect">
            <a:avLst>
              <a:gd name="adj" fmla="val 7273"/>
            </a:avLst>
          </a:prstGeom>
          <a:solidFill>
            <a:srgbClr val="F2F4F7"/>
          </a:solidFill>
          <a:ln w="12700">
            <a:solidFill>
              <a:srgbClr val="F2F4F7"/>
            </a:solidFill>
            <a:prstDash val="solid"/>
          </a:ln>
        </p:spPr>
        <p:txBody>
          <a:bodyPr/>
          <a:lstStyle/>
          <a:p>
            <a:endParaRPr lang="en-IN"/>
          </a:p>
        </p:txBody>
      </p:sp>
      <p:sp>
        <p:nvSpPr>
          <p:cNvPr id="7" name="Text 5"/>
          <p:cNvSpPr txBox="1"/>
          <p:nvPr/>
        </p:nvSpPr>
        <p:spPr>
          <a:xfrm>
            <a:off x="530352" y="2606040"/>
            <a:ext cx="1280160" cy="914400"/>
          </a:xfrm>
          <a:prstGeom prst="rect">
            <a:avLst/>
          </a:prstGeom>
          <a:noFill/>
          <a:ln/>
        </p:spPr>
        <p:txBody>
          <a:bodyPr wrap="square" lIns="0" tIns="0" rIns="0" bIns="0" rtlCol="0" anchor="ctr"/>
          <a:lstStyle/>
          <a:p>
            <a:pPr marL="0" indent="0" algn="ctr">
              <a:buNone/>
            </a:pPr>
            <a:r>
              <a:rPr lang="en-US" sz="1400" b="1" dirty="0">
                <a:solidFill>
                  <a:srgbClr val="262626"/>
                </a:solidFill>
                <a:latin typeface="Arial" pitchFamily="34" charset="0"/>
                <a:ea typeface="Arial" pitchFamily="34" charset="-122"/>
                <a:cs typeface="Arial" pitchFamily="34" charset="-120"/>
              </a:rPr>
              <a:t>CSV file</a:t>
            </a:r>
            <a:endParaRPr lang="en-US" sz="1400" dirty="0"/>
          </a:p>
        </p:txBody>
      </p:sp>
      <p:sp>
        <p:nvSpPr>
          <p:cNvPr id="8" name="Text 6"/>
          <p:cNvSpPr txBox="1"/>
          <p:nvPr/>
        </p:nvSpPr>
        <p:spPr>
          <a:xfrm>
            <a:off x="457200" y="3657600"/>
            <a:ext cx="1417320" cy="640080"/>
          </a:xfrm>
          <a:prstGeom prst="rect">
            <a:avLst/>
          </a:prstGeom>
          <a:noFill/>
          <a:ln/>
        </p:spPr>
        <p:txBody>
          <a:bodyPr wrap="square" lIns="0" tIns="0" rIns="0" bIns="0" rtlCol="0" anchor="t"/>
          <a:lstStyle/>
          <a:p>
            <a:pPr marL="0" indent="0" algn="ctr">
              <a:buNone/>
            </a:pPr>
            <a:r>
              <a:rPr lang="en-US" sz="1200" dirty="0">
                <a:solidFill>
                  <a:srgbClr val="262626"/>
                </a:solidFill>
                <a:latin typeface="Arial" pitchFamily="34" charset="0"/>
                <a:ea typeface="Arial" pitchFamily="34" charset="-122"/>
                <a:cs typeface="Arial" pitchFamily="34" charset="-120"/>
              </a:rPr>
              <a:t>Raw customer data</a:t>
            </a:r>
            <a:endParaRPr lang="en-US" sz="1200" dirty="0"/>
          </a:p>
        </p:txBody>
      </p:sp>
      <p:sp>
        <p:nvSpPr>
          <p:cNvPr id="9" name="Shape 7"/>
          <p:cNvSpPr/>
          <p:nvPr/>
        </p:nvSpPr>
        <p:spPr>
          <a:xfrm>
            <a:off x="1920240" y="2926080"/>
            <a:ext cx="201168" cy="274320"/>
          </a:xfrm>
          <a:prstGeom prst="rightArrow">
            <a:avLst/>
          </a:prstGeom>
          <a:solidFill>
            <a:srgbClr val="BFC5CE"/>
          </a:solidFill>
          <a:ln w="12700">
            <a:solidFill>
              <a:srgbClr val="BFC5CE"/>
            </a:solidFill>
            <a:prstDash val="solid"/>
          </a:ln>
        </p:spPr>
        <p:txBody>
          <a:bodyPr/>
          <a:lstStyle/>
          <a:p>
            <a:endParaRPr lang="en-IN"/>
          </a:p>
        </p:txBody>
      </p:sp>
      <p:sp>
        <p:nvSpPr>
          <p:cNvPr id="10" name="Shape 8"/>
          <p:cNvSpPr/>
          <p:nvPr/>
        </p:nvSpPr>
        <p:spPr>
          <a:xfrm>
            <a:off x="2148840" y="2560320"/>
            <a:ext cx="1417320" cy="1005840"/>
          </a:xfrm>
          <a:prstGeom prst="roundRect">
            <a:avLst>
              <a:gd name="adj" fmla="val 7273"/>
            </a:avLst>
          </a:prstGeom>
          <a:solidFill>
            <a:srgbClr val="1F3864"/>
          </a:solidFill>
          <a:ln w="12700">
            <a:solidFill>
              <a:srgbClr val="1F3864"/>
            </a:solidFill>
            <a:prstDash val="solid"/>
          </a:ln>
        </p:spPr>
        <p:txBody>
          <a:bodyPr/>
          <a:lstStyle/>
          <a:p>
            <a:endParaRPr lang="en-IN"/>
          </a:p>
        </p:txBody>
      </p:sp>
      <p:sp>
        <p:nvSpPr>
          <p:cNvPr id="11" name="Text 9"/>
          <p:cNvSpPr txBox="1"/>
          <p:nvPr/>
        </p:nvSpPr>
        <p:spPr>
          <a:xfrm>
            <a:off x="2221992" y="2606040"/>
            <a:ext cx="1280160" cy="9144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PostgreSQL</a:t>
            </a:r>
            <a:endParaRPr lang="en-US" sz="1400" dirty="0"/>
          </a:p>
        </p:txBody>
      </p:sp>
      <p:sp>
        <p:nvSpPr>
          <p:cNvPr id="12" name="Text 10"/>
          <p:cNvSpPr txBox="1"/>
          <p:nvPr/>
        </p:nvSpPr>
        <p:spPr>
          <a:xfrm>
            <a:off x="2148840" y="3657600"/>
            <a:ext cx="1417320" cy="640080"/>
          </a:xfrm>
          <a:prstGeom prst="rect">
            <a:avLst/>
          </a:prstGeom>
          <a:noFill/>
          <a:ln/>
        </p:spPr>
        <p:txBody>
          <a:bodyPr wrap="square" lIns="0" tIns="0" rIns="0" bIns="0" rtlCol="0" anchor="t"/>
          <a:lstStyle/>
          <a:p>
            <a:pPr marL="0" indent="0" algn="ctr">
              <a:buNone/>
            </a:pPr>
            <a:r>
              <a:rPr lang="en-US" sz="1200" dirty="0">
                <a:solidFill>
                  <a:srgbClr val="262626"/>
                </a:solidFill>
                <a:latin typeface="Arial" pitchFamily="34" charset="0"/>
                <a:ea typeface="Arial" pitchFamily="34" charset="-122"/>
                <a:cs typeface="Arial" pitchFamily="34" charset="-120"/>
              </a:rPr>
              <a:t>Stores the data (SQL Shell loads it)</a:t>
            </a:r>
            <a:endParaRPr lang="en-US" sz="1200" dirty="0"/>
          </a:p>
        </p:txBody>
      </p:sp>
      <p:sp>
        <p:nvSpPr>
          <p:cNvPr id="13" name="Shape 11"/>
          <p:cNvSpPr/>
          <p:nvPr/>
        </p:nvSpPr>
        <p:spPr>
          <a:xfrm>
            <a:off x="3611880" y="2926080"/>
            <a:ext cx="201168" cy="274320"/>
          </a:xfrm>
          <a:prstGeom prst="rightArrow">
            <a:avLst/>
          </a:prstGeom>
          <a:solidFill>
            <a:srgbClr val="BFC5CE"/>
          </a:solidFill>
          <a:ln w="12700">
            <a:solidFill>
              <a:srgbClr val="BFC5CE"/>
            </a:solidFill>
            <a:prstDash val="solid"/>
          </a:ln>
        </p:spPr>
        <p:txBody>
          <a:bodyPr/>
          <a:lstStyle/>
          <a:p>
            <a:endParaRPr lang="en-IN"/>
          </a:p>
        </p:txBody>
      </p:sp>
      <p:sp>
        <p:nvSpPr>
          <p:cNvPr id="14" name="Shape 12"/>
          <p:cNvSpPr/>
          <p:nvPr/>
        </p:nvSpPr>
        <p:spPr>
          <a:xfrm>
            <a:off x="3840480" y="2560320"/>
            <a:ext cx="1417320" cy="1005840"/>
          </a:xfrm>
          <a:prstGeom prst="roundRect">
            <a:avLst>
              <a:gd name="adj" fmla="val 7273"/>
            </a:avLst>
          </a:prstGeom>
          <a:solidFill>
            <a:srgbClr val="1F3864"/>
          </a:solidFill>
          <a:ln w="12700">
            <a:solidFill>
              <a:srgbClr val="1F3864"/>
            </a:solidFill>
            <a:prstDash val="solid"/>
          </a:ln>
        </p:spPr>
        <p:txBody>
          <a:bodyPr/>
          <a:lstStyle/>
          <a:p>
            <a:endParaRPr lang="en-IN"/>
          </a:p>
        </p:txBody>
      </p:sp>
      <p:sp>
        <p:nvSpPr>
          <p:cNvPr id="15" name="Text 13"/>
          <p:cNvSpPr txBox="1"/>
          <p:nvPr/>
        </p:nvSpPr>
        <p:spPr>
          <a:xfrm>
            <a:off x="3913632" y="2606040"/>
            <a:ext cx="1280160" cy="9144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DBeaver</a:t>
            </a:r>
            <a:endParaRPr lang="en-US" sz="1400" dirty="0"/>
          </a:p>
        </p:txBody>
      </p:sp>
      <p:sp>
        <p:nvSpPr>
          <p:cNvPr id="16" name="Text 14"/>
          <p:cNvSpPr txBox="1"/>
          <p:nvPr/>
        </p:nvSpPr>
        <p:spPr>
          <a:xfrm>
            <a:off x="3840480" y="3657600"/>
            <a:ext cx="1417320" cy="640080"/>
          </a:xfrm>
          <a:prstGeom prst="rect">
            <a:avLst/>
          </a:prstGeom>
          <a:noFill/>
          <a:ln/>
        </p:spPr>
        <p:txBody>
          <a:bodyPr wrap="square" lIns="0" tIns="0" rIns="0" bIns="0" rtlCol="0" anchor="t"/>
          <a:lstStyle/>
          <a:p>
            <a:pPr marL="0" indent="0" algn="ctr">
              <a:buNone/>
            </a:pPr>
            <a:r>
              <a:rPr lang="en-US" sz="1200" dirty="0">
                <a:solidFill>
                  <a:srgbClr val="262626"/>
                </a:solidFill>
                <a:latin typeface="Arial" pitchFamily="34" charset="0"/>
                <a:ea typeface="Arial" pitchFamily="34" charset="-122"/>
                <a:cs typeface="Arial" pitchFamily="34" charset="-120"/>
              </a:rPr>
              <a:t>Runs five analysis queries</a:t>
            </a:r>
            <a:endParaRPr lang="en-US" sz="1200" dirty="0"/>
          </a:p>
        </p:txBody>
      </p:sp>
      <p:sp>
        <p:nvSpPr>
          <p:cNvPr id="17" name="Shape 15"/>
          <p:cNvSpPr/>
          <p:nvPr/>
        </p:nvSpPr>
        <p:spPr>
          <a:xfrm>
            <a:off x="5303520" y="2926080"/>
            <a:ext cx="201168" cy="274320"/>
          </a:xfrm>
          <a:prstGeom prst="rightArrow">
            <a:avLst/>
          </a:prstGeom>
          <a:solidFill>
            <a:srgbClr val="BFC5CE"/>
          </a:solidFill>
          <a:ln w="12700">
            <a:solidFill>
              <a:srgbClr val="BFC5CE"/>
            </a:solidFill>
            <a:prstDash val="solid"/>
          </a:ln>
        </p:spPr>
        <p:txBody>
          <a:bodyPr/>
          <a:lstStyle/>
          <a:p>
            <a:endParaRPr lang="en-IN"/>
          </a:p>
        </p:txBody>
      </p:sp>
      <p:sp>
        <p:nvSpPr>
          <p:cNvPr id="18" name="Shape 16"/>
          <p:cNvSpPr/>
          <p:nvPr/>
        </p:nvSpPr>
        <p:spPr>
          <a:xfrm>
            <a:off x="5532120" y="2560320"/>
            <a:ext cx="1417320" cy="1005840"/>
          </a:xfrm>
          <a:prstGeom prst="roundRect">
            <a:avLst>
              <a:gd name="adj" fmla="val 7273"/>
            </a:avLst>
          </a:prstGeom>
          <a:solidFill>
            <a:srgbClr val="1F3864"/>
          </a:solidFill>
          <a:ln w="12700">
            <a:solidFill>
              <a:srgbClr val="1F3864"/>
            </a:solidFill>
            <a:prstDash val="solid"/>
          </a:ln>
        </p:spPr>
        <p:txBody>
          <a:bodyPr/>
          <a:lstStyle/>
          <a:p>
            <a:endParaRPr lang="en-IN"/>
          </a:p>
        </p:txBody>
      </p:sp>
      <p:sp>
        <p:nvSpPr>
          <p:cNvPr id="19" name="Text 17"/>
          <p:cNvSpPr txBox="1"/>
          <p:nvPr/>
        </p:nvSpPr>
        <p:spPr>
          <a:xfrm>
            <a:off x="5605272" y="2606040"/>
            <a:ext cx="1280160" cy="9144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Power BI</a:t>
            </a:r>
            <a:endParaRPr lang="en-US" sz="1400" dirty="0"/>
          </a:p>
        </p:txBody>
      </p:sp>
      <p:sp>
        <p:nvSpPr>
          <p:cNvPr id="20" name="Text 18"/>
          <p:cNvSpPr txBox="1"/>
          <p:nvPr/>
        </p:nvSpPr>
        <p:spPr>
          <a:xfrm>
            <a:off x="5532120" y="3657600"/>
            <a:ext cx="1417320" cy="640080"/>
          </a:xfrm>
          <a:prstGeom prst="rect">
            <a:avLst/>
          </a:prstGeom>
          <a:noFill/>
          <a:ln/>
        </p:spPr>
        <p:txBody>
          <a:bodyPr wrap="square" lIns="0" tIns="0" rIns="0" bIns="0" rtlCol="0" anchor="t"/>
          <a:lstStyle/>
          <a:p>
            <a:pPr marL="0" indent="0" algn="ctr">
              <a:buNone/>
            </a:pPr>
            <a:r>
              <a:rPr lang="en-US" sz="1200" dirty="0">
                <a:solidFill>
                  <a:srgbClr val="262626"/>
                </a:solidFill>
                <a:latin typeface="Arial" pitchFamily="34" charset="0"/>
                <a:ea typeface="Arial" pitchFamily="34" charset="-122"/>
                <a:cs typeface="Arial" pitchFamily="34" charset="-120"/>
              </a:rPr>
              <a:t>Interactive charts and measures</a:t>
            </a:r>
            <a:endParaRPr lang="en-US" sz="1200" dirty="0"/>
          </a:p>
        </p:txBody>
      </p:sp>
      <p:sp>
        <p:nvSpPr>
          <p:cNvPr id="21" name="Shape 19"/>
          <p:cNvSpPr/>
          <p:nvPr/>
        </p:nvSpPr>
        <p:spPr>
          <a:xfrm>
            <a:off x="6995160" y="2926080"/>
            <a:ext cx="201168" cy="274320"/>
          </a:xfrm>
          <a:prstGeom prst="rightArrow">
            <a:avLst/>
          </a:prstGeom>
          <a:solidFill>
            <a:srgbClr val="BFC5CE"/>
          </a:solidFill>
          <a:ln w="12700">
            <a:solidFill>
              <a:srgbClr val="BFC5CE"/>
            </a:solidFill>
            <a:prstDash val="solid"/>
          </a:ln>
        </p:spPr>
        <p:txBody>
          <a:bodyPr/>
          <a:lstStyle/>
          <a:p>
            <a:endParaRPr lang="en-IN"/>
          </a:p>
        </p:txBody>
      </p:sp>
      <p:sp>
        <p:nvSpPr>
          <p:cNvPr id="22" name="Shape 20"/>
          <p:cNvSpPr/>
          <p:nvPr/>
        </p:nvSpPr>
        <p:spPr>
          <a:xfrm>
            <a:off x="7223760" y="2560320"/>
            <a:ext cx="1417320" cy="1005840"/>
          </a:xfrm>
          <a:prstGeom prst="roundRect">
            <a:avLst>
              <a:gd name="adj" fmla="val 7273"/>
            </a:avLst>
          </a:prstGeom>
          <a:solidFill>
            <a:srgbClr val="1F3864"/>
          </a:solidFill>
          <a:ln w="12700">
            <a:solidFill>
              <a:srgbClr val="1F3864"/>
            </a:solidFill>
            <a:prstDash val="solid"/>
          </a:ln>
        </p:spPr>
        <p:txBody>
          <a:bodyPr/>
          <a:lstStyle/>
          <a:p>
            <a:endParaRPr lang="en-IN"/>
          </a:p>
        </p:txBody>
      </p:sp>
      <p:sp>
        <p:nvSpPr>
          <p:cNvPr id="23" name="Text 21"/>
          <p:cNvSpPr txBox="1"/>
          <p:nvPr/>
        </p:nvSpPr>
        <p:spPr>
          <a:xfrm>
            <a:off x="7296912" y="2606040"/>
            <a:ext cx="1280160" cy="9144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Word and PowerPoint</a:t>
            </a:r>
            <a:endParaRPr lang="en-US" sz="1400" dirty="0"/>
          </a:p>
        </p:txBody>
      </p:sp>
      <p:sp>
        <p:nvSpPr>
          <p:cNvPr id="24" name="Text 22"/>
          <p:cNvSpPr txBox="1"/>
          <p:nvPr/>
        </p:nvSpPr>
        <p:spPr>
          <a:xfrm>
            <a:off x="7223760" y="3657600"/>
            <a:ext cx="1417320" cy="640080"/>
          </a:xfrm>
          <a:prstGeom prst="rect">
            <a:avLst/>
          </a:prstGeom>
          <a:noFill/>
          <a:ln/>
        </p:spPr>
        <p:txBody>
          <a:bodyPr wrap="square" lIns="0" tIns="0" rIns="0" bIns="0" rtlCol="0" anchor="t"/>
          <a:lstStyle/>
          <a:p>
            <a:pPr marL="0" indent="0" algn="ctr">
              <a:buNone/>
            </a:pPr>
            <a:r>
              <a:rPr lang="en-US" sz="1200" dirty="0">
                <a:solidFill>
                  <a:srgbClr val="262626"/>
                </a:solidFill>
                <a:latin typeface="Arial" pitchFamily="34" charset="0"/>
                <a:ea typeface="Arial" pitchFamily="34" charset="-122"/>
                <a:cs typeface="Arial" pitchFamily="34" charset="-120"/>
              </a:rPr>
              <a:t>Report and presentation</a:t>
            </a:r>
            <a:endParaRPr lang="en-US" sz="1200" dirty="0"/>
          </a:p>
        </p:txBody>
      </p:sp>
      <p:sp>
        <p:nvSpPr>
          <p:cNvPr id="25" name="Shape 23"/>
          <p:cNvSpPr/>
          <p:nvPr/>
        </p:nvSpPr>
        <p:spPr>
          <a:xfrm>
            <a:off x="457200" y="4343400"/>
            <a:ext cx="8229600" cy="548640"/>
          </a:xfrm>
          <a:prstGeom prst="roundRect">
            <a:avLst>
              <a:gd name="adj" fmla="val 13333"/>
            </a:avLst>
          </a:prstGeom>
          <a:solidFill>
            <a:srgbClr val="F2F4F7"/>
          </a:solidFill>
          <a:ln w="12700">
            <a:solidFill>
              <a:srgbClr val="F2F4F7"/>
            </a:solidFill>
            <a:prstDash val="solid"/>
          </a:ln>
        </p:spPr>
        <p:txBody>
          <a:bodyPr/>
          <a:lstStyle/>
          <a:p>
            <a:endParaRPr lang="en-IN"/>
          </a:p>
        </p:txBody>
      </p:sp>
      <p:sp>
        <p:nvSpPr>
          <p:cNvPr id="26" name="Text 24"/>
          <p:cNvSpPr txBox="1"/>
          <p:nvPr/>
        </p:nvSpPr>
        <p:spPr>
          <a:xfrm>
            <a:off x="685800" y="4343400"/>
            <a:ext cx="7772400" cy="548640"/>
          </a:xfrm>
          <a:prstGeom prst="rect">
            <a:avLst/>
          </a:prstGeom>
          <a:noFill/>
          <a:ln/>
        </p:spPr>
        <p:txBody>
          <a:bodyPr wrap="square" lIns="0" tIns="0" rIns="0" bIns="0" rtlCol="0" anchor="ctr"/>
          <a:lstStyle/>
          <a:p>
            <a:pPr marL="0" indent="0">
              <a:buNone/>
            </a:pPr>
            <a:r>
              <a:rPr lang="en-US" sz="1400" b="1" dirty="0">
                <a:solidFill>
                  <a:srgbClr val="1F3864"/>
                </a:solidFill>
                <a:latin typeface="Arial" pitchFamily="34" charset="0"/>
                <a:ea typeface="Arial" pitchFamily="34" charset="-122"/>
                <a:cs typeface="Arial" pitchFamily="34" charset="-120"/>
              </a:rPr>
              <a:t>Parallel cloud route: the same data was also loaded into Databricks, where the churn dashboard was built.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3864"/>
                </a:solidFill>
                <a:latin typeface="Arial" pitchFamily="34" charset="0"/>
                <a:ea typeface="Arial" pitchFamily="34" charset="-122"/>
                <a:cs typeface="Arial" pitchFamily="34" charset="-120"/>
              </a:rPr>
              <a:t>Tools: database and loading</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PostgreSQL, SQL Shell (psql), and DBeaver</a:t>
            </a:r>
            <a:endParaRPr lang="en-US" sz="1400" dirty="0"/>
          </a:p>
        </p:txBody>
      </p:sp>
      <p:sp>
        <p:nvSpPr>
          <p:cNvPr id="4" name="Text 2"/>
          <p:cNvSpPr txBox="1"/>
          <p:nvPr/>
        </p:nvSpPr>
        <p:spPr>
          <a:xfrm>
            <a:off x="731520" y="1371600"/>
            <a:ext cx="2011680" cy="274320"/>
          </a:xfrm>
          <a:prstGeom prst="rect">
            <a:avLst/>
          </a:prstGeom>
          <a:noFill/>
          <a:ln/>
        </p:spPr>
        <p:txBody>
          <a:bodyPr wrap="square" lIns="0" tIns="0" rIns="0" bIns="0" rtlCol="0" anchor="ctr"/>
          <a:lstStyle/>
          <a:p>
            <a:pPr marL="0" indent="0">
              <a:buNone/>
            </a:pPr>
            <a:r>
              <a:rPr lang="en-US" sz="1400" b="1" dirty="0">
                <a:solidFill>
                  <a:srgbClr val="6B7280"/>
                </a:solidFill>
                <a:latin typeface="Arial" pitchFamily="34" charset="0"/>
                <a:ea typeface="Arial" pitchFamily="34" charset="-122"/>
                <a:cs typeface="Arial" pitchFamily="34" charset="-120"/>
              </a:rPr>
              <a:t>Tool</a:t>
            </a:r>
            <a:endParaRPr lang="en-US" sz="1400" dirty="0"/>
          </a:p>
        </p:txBody>
      </p:sp>
      <p:sp>
        <p:nvSpPr>
          <p:cNvPr id="5" name="Text 3"/>
          <p:cNvSpPr txBox="1"/>
          <p:nvPr/>
        </p:nvSpPr>
        <p:spPr>
          <a:xfrm>
            <a:off x="2834640" y="1371600"/>
            <a:ext cx="3200400" cy="274320"/>
          </a:xfrm>
          <a:prstGeom prst="rect">
            <a:avLst/>
          </a:prstGeom>
          <a:noFill/>
          <a:ln/>
        </p:spPr>
        <p:txBody>
          <a:bodyPr wrap="square" lIns="0" tIns="0" rIns="0" bIns="0" rtlCol="0" anchor="ctr"/>
          <a:lstStyle/>
          <a:p>
            <a:pPr marL="0" indent="0">
              <a:buNone/>
            </a:pPr>
            <a:r>
              <a:rPr lang="en-US" sz="1400" b="1" dirty="0">
                <a:solidFill>
                  <a:srgbClr val="6B7280"/>
                </a:solidFill>
                <a:latin typeface="Arial" pitchFamily="34" charset="0"/>
                <a:ea typeface="Arial" pitchFamily="34" charset="-122"/>
                <a:cs typeface="Arial" pitchFamily="34" charset="-120"/>
              </a:rPr>
              <a:t>Where we used it</a:t>
            </a:r>
            <a:endParaRPr lang="en-US" sz="1400" dirty="0"/>
          </a:p>
        </p:txBody>
      </p:sp>
      <p:sp>
        <p:nvSpPr>
          <p:cNvPr id="6" name="Text 4"/>
          <p:cNvSpPr txBox="1"/>
          <p:nvPr/>
        </p:nvSpPr>
        <p:spPr>
          <a:xfrm>
            <a:off x="6217920" y="1371600"/>
            <a:ext cx="2377440" cy="274320"/>
          </a:xfrm>
          <a:prstGeom prst="rect">
            <a:avLst/>
          </a:prstGeom>
          <a:noFill/>
          <a:ln/>
        </p:spPr>
        <p:txBody>
          <a:bodyPr wrap="square" lIns="0" tIns="0" rIns="0" bIns="0" rtlCol="0" anchor="ctr"/>
          <a:lstStyle/>
          <a:p>
            <a:pPr marL="0" indent="0">
              <a:buNone/>
            </a:pPr>
            <a:r>
              <a:rPr lang="en-US" sz="1400" b="1" dirty="0">
                <a:solidFill>
                  <a:srgbClr val="6B7280"/>
                </a:solidFill>
                <a:latin typeface="Arial" pitchFamily="34" charset="0"/>
                <a:ea typeface="Arial" pitchFamily="34" charset="-122"/>
                <a:cs typeface="Arial" pitchFamily="34" charset="-120"/>
              </a:rPr>
              <a:t>Why we used it</a:t>
            </a:r>
            <a:endParaRPr lang="en-US" sz="1400" dirty="0"/>
          </a:p>
        </p:txBody>
      </p:sp>
      <p:sp>
        <p:nvSpPr>
          <p:cNvPr id="7" name="Shape 5"/>
          <p:cNvSpPr/>
          <p:nvPr/>
        </p:nvSpPr>
        <p:spPr>
          <a:xfrm>
            <a:off x="457200" y="1737360"/>
            <a:ext cx="8229600" cy="960120"/>
          </a:xfrm>
          <a:prstGeom prst="roundRect">
            <a:avLst>
              <a:gd name="adj" fmla="val 7619"/>
            </a:avLst>
          </a:prstGeom>
          <a:solidFill>
            <a:srgbClr val="F2F4F7"/>
          </a:solidFill>
          <a:ln w="12700">
            <a:solidFill>
              <a:srgbClr val="F2F4F7"/>
            </a:solidFill>
            <a:prstDash val="solid"/>
          </a:ln>
        </p:spPr>
        <p:txBody>
          <a:bodyPr/>
          <a:lstStyle/>
          <a:p>
            <a:endParaRPr lang="en-IN"/>
          </a:p>
        </p:txBody>
      </p:sp>
      <p:sp>
        <p:nvSpPr>
          <p:cNvPr id="8" name="Text 6"/>
          <p:cNvSpPr txBox="1"/>
          <p:nvPr/>
        </p:nvSpPr>
        <p:spPr>
          <a:xfrm>
            <a:off x="731520" y="1783080"/>
            <a:ext cx="2011680" cy="868680"/>
          </a:xfrm>
          <a:prstGeom prst="rect">
            <a:avLst/>
          </a:prstGeom>
          <a:noFill/>
          <a:ln/>
        </p:spPr>
        <p:txBody>
          <a:bodyPr wrap="square" lIns="0" tIns="0" rIns="0" bIns="0" rtlCol="0" anchor="ctr"/>
          <a:lstStyle/>
          <a:p>
            <a:pPr marL="0" indent="0">
              <a:buNone/>
            </a:pPr>
            <a:r>
              <a:rPr lang="en-US" sz="1600" b="1" dirty="0">
                <a:solidFill>
                  <a:srgbClr val="1F3864"/>
                </a:solidFill>
                <a:latin typeface="Arial" pitchFamily="34" charset="0"/>
                <a:ea typeface="Arial" pitchFamily="34" charset="-122"/>
                <a:cs typeface="Arial" pitchFamily="34" charset="-120"/>
              </a:rPr>
              <a:t>PostgreSQL</a:t>
            </a:r>
            <a:endParaRPr lang="en-US" sz="1600" dirty="0"/>
          </a:p>
        </p:txBody>
      </p:sp>
      <p:sp>
        <p:nvSpPr>
          <p:cNvPr id="9" name="Text 7"/>
          <p:cNvSpPr txBox="1"/>
          <p:nvPr/>
        </p:nvSpPr>
        <p:spPr>
          <a:xfrm>
            <a:off x="2834640" y="1783080"/>
            <a:ext cx="3200400" cy="8686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Stored the churn_db database and the telco table (7,043 rows)</a:t>
            </a:r>
            <a:endParaRPr lang="en-US" sz="1400" dirty="0"/>
          </a:p>
        </p:txBody>
      </p:sp>
      <p:sp>
        <p:nvSpPr>
          <p:cNvPr id="10" name="Text 8"/>
          <p:cNvSpPr txBox="1"/>
          <p:nvPr/>
        </p:nvSpPr>
        <p:spPr>
          <a:xfrm>
            <a:off x="6217920" y="1783080"/>
            <a:ext cx="2377440" cy="8686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Reliable database server that runs SQL and connects to Power BI</a:t>
            </a:r>
            <a:endParaRPr lang="en-US" sz="1400" dirty="0"/>
          </a:p>
        </p:txBody>
      </p:sp>
      <p:sp>
        <p:nvSpPr>
          <p:cNvPr id="11" name="Shape 9"/>
          <p:cNvSpPr/>
          <p:nvPr/>
        </p:nvSpPr>
        <p:spPr>
          <a:xfrm>
            <a:off x="457200" y="2834640"/>
            <a:ext cx="8229600" cy="960120"/>
          </a:xfrm>
          <a:prstGeom prst="roundRect">
            <a:avLst>
              <a:gd name="adj" fmla="val 7619"/>
            </a:avLst>
          </a:prstGeom>
          <a:solidFill>
            <a:srgbClr val="F2F4F7"/>
          </a:solidFill>
          <a:ln w="12700">
            <a:solidFill>
              <a:srgbClr val="F2F4F7"/>
            </a:solidFill>
            <a:prstDash val="solid"/>
          </a:ln>
        </p:spPr>
        <p:txBody>
          <a:bodyPr/>
          <a:lstStyle/>
          <a:p>
            <a:endParaRPr lang="en-IN"/>
          </a:p>
        </p:txBody>
      </p:sp>
      <p:sp>
        <p:nvSpPr>
          <p:cNvPr id="12" name="Text 10"/>
          <p:cNvSpPr txBox="1"/>
          <p:nvPr/>
        </p:nvSpPr>
        <p:spPr>
          <a:xfrm>
            <a:off x="731520" y="2880360"/>
            <a:ext cx="2011680" cy="868680"/>
          </a:xfrm>
          <a:prstGeom prst="rect">
            <a:avLst/>
          </a:prstGeom>
          <a:noFill/>
          <a:ln/>
        </p:spPr>
        <p:txBody>
          <a:bodyPr wrap="square" lIns="0" tIns="0" rIns="0" bIns="0" rtlCol="0" anchor="ctr"/>
          <a:lstStyle/>
          <a:p>
            <a:pPr marL="0" indent="0">
              <a:buNone/>
            </a:pPr>
            <a:r>
              <a:rPr lang="en-US" sz="1600" b="1" dirty="0">
                <a:solidFill>
                  <a:srgbClr val="1F3864"/>
                </a:solidFill>
                <a:latin typeface="Arial" pitchFamily="34" charset="0"/>
                <a:ea typeface="Arial" pitchFamily="34" charset="-122"/>
                <a:cs typeface="Arial" pitchFamily="34" charset="-120"/>
              </a:rPr>
              <a:t>SQL Shell (psql)</a:t>
            </a:r>
            <a:endParaRPr lang="en-US" sz="1600" dirty="0"/>
          </a:p>
        </p:txBody>
      </p:sp>
      <p:sp>
        <p:nvSpPr>
          <p:cNvPr id="13" name="Text 11"/>
          <p:cNvSpPr txBox="1"/>
          <p:nvPr/>
        </p:nvSpPr>
        <p:spPr>
          <a:xfrm>
            <a:off x="2834640" y="2880360"/>
            <a:ext cx="3200400" cy="8686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Loaded the CSV with \copy, changed a column type, checked row counts</a:t>
            </a:r>
            <a:endParaRPr lang="en-US" sz="1400" dirty="0"/>
          </a:p>
        </p:txBody>
      </p:sp>
      <p:sp>
        <p:nvSpPr>
          <p:cNvPr id="14" name="Text 12"/>
          <p:cNvSpPr txBox="1"/>
          <p:nvPr/>
        </p:nvSpPr>
        <p:spPr>
          <a:xfrm>
            <a:off x="6217920" y="2880360"/>
            <a:ext cx="2377440" cy="8686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Loads files reliably and shows the exact line of any error</a:t>
            </a:r>
            <a:endParaRPr lang="en-US" sz="1400" dirty="0"/>
          </a:p>
        </p:txBody>
      </p:sp>
      <p:sp>
        <p:nvSpPr>
          <p:cNvPr id="15" name="Shape 13"/>
          <p:cNvSpPr/>
          <p:nvPr/>
        </p:nvSpPr>
        <p:spPr>
          <a:xfrm>
            <a:off x="457200" y="3931920"/>
            <a:ext cx="8229600" cy="960120"/>
          </a:xfrm>
          <a:prstGeom prst="roundRect">
            <a:avLst>
              <a:gd name="adj" fmla="val 7619"/>
            </a:avLst>
          </a:prstGeom>
          <a:solidFill>
            <a:srgbClr val="F2F4F7"/>
          </a:solidFill>
          <a:ln w="12700">
            <a:solidFill>
              <a:srgbClr val="F2F4F7"/>
            </a:solidFill>
            <a:prstDash val="solid"/>
          </a:ln>
        </p:spPr>
        <p:txBody>
          <a:bodyPr/>
          <a:lstStyle/>
          <a:p>
            <a:endParaRPr lang="en-IN"/>
          </a:p>
        </p:txBody>
      </p:sp>
      <p:sp>
        <p:nvSpPr>
          <p:cNvPr id="16" name="Text 14"/>
          <p:cNvSpPr txBox="1"/>
          <p:nvPr/>
        </p:nvSpPr>
        <p:spPr>
          <a:xfrm>
            <a:off x="731520" y="3977640"/>
            <a:ext cx="2011680" cy="868680"/>
          </a:xfrm>
          <a:prstGeom prst="rect">
            <a:avLst/>
          </a:prstGeom>
          <a:noFill/>
          <a:ln/>
        </p:spPr>
        <p:txBody>
          <a:bodyPr wrap="square" lIns="0" tIns="0" rIns="0" bIns="0" rtlCol="0" anchor="ctr"/>
          <a:lstStyle/>
          <a:p>
            <a:pPr marL="0" indent="0">
              <a:buNone/>
            </a:pPr>
            <a:r>
              <a:rPr lang="en-US" sz="1600" b="1" dirty="0">
                <a:solidFill>
                  <a:srgbClr val="1F3864"/>
                </a:solidFill>
                <a:latin typeface="Arial" pitchFamily="34" charset="0"/>
                <a:ea typeface="Arial" pitchFamily="34" charset="-122"/>
                <a:cs typeface="Arial" pitchFamily="34" charset="-120"/>
              </a:rPr>
              <a:t>DBeaver</a:t>
            </a:r>
            <a:endParaRPr lang="en-US" sz="1600" dirty="0"/>
          </a:p>
        </p:txBody>
      </p:sp>
      <p:sp>
        <p:nvSpPr>
          <p:cNvPr id="17" name="Text 15"/>
          <p:cNvSpPr txBox="1"/>
          <p:nvPr/>
        </p:nvSpPr>
        <p:spPr>
          <a:xfrm>
            <a:off x="2834640" y="3977640"/>
            <a:ext cx="3200400" cy="8686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Created the database and table, ran the five analysis queries</a:t>
            </a:r>
            <a:endParaRPr lang="en-US" sz="1400" dirty="0"/>
          </a:p>
        </p:txBody>
      </p:sp>
      <p:sp>
        <p:nvSpPr>
          <p:cNvPr id="18" name="Text 16"/>
          <p:cNvSpPr txBox="1"/>
          <p:nvPr/>
        </p:nvSpPr>
        <p:spPr>
          <a:xfrm>
            <a:off x="6217920" y="3977640"/>
            <a:ext cx="2377440" cy="8686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Visual SQL editor with a table browser and results grid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3864"/>
                </a:solidFill>
                <a:latin typeface="Arial" pitchFamily="34" charset="0"/>
                <a:ea typeface="Arial" pitchFamily="34" charset="-122"/>
                <a:cs typeface="Arial" pitchFamily="34" charset="-120"/>
              </a:rPr>
              <a:t>Tools: dashboards and reporting</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Databricks, Power BI, Microsoft Word, and Microsoft PowerPoint</a:t>
            </a:r>
            <a:endParaRPr lang="en-US" sz="1400" dirty="0"/>
          </a:p>
        </p:txBody>
      </p:sp>
      <p:sp>
        <p:nvSpPr>
          <p:cNvPr id="4" name="Text 2"/>
          <p:cNvSpPr txBox="1"/>
          <p:nvPr/>
        </p:nvSpPr>
        <p:spPr>
          <a:xfrm>
            <a:off x="731520" y="1371600"/>
            <a:ext cx="2011680" cy="274320"/>
          </a:xfrm>
          <a:prstGeom prst="rect">
            <a:avLst/>
          </a:prstGeom>
          <a:noFill/>
          <a:ln/>
        </p:spPr>
        <p:txBody>
          <a:bodyPr wrap="square" lIns="0" tIns="0" rIns="0" bIns="0" rtlCol="0" anchor="ctr"/>
          <a:lstStyle/>
          <a:p>
            <a:pPr marL="0" indent="0">
              <a:buNone/>
            </a:pPr>
            <a:r>
              <a:rPr lang="en-US" sz="1400" b="1" dirty="0">
                <a:solidFill>
                  <a:srgbClr val="6B7280"/>
                </a:solidFill>
                <a:latin typeface="Arial" pitchFamily="34" charset="0"/>
                <a:ea typeface="Arial" pitchFamily="34" charset="-122"/>
                <a:cs typeface="Arial" pitchFamily="34" charset="-120"/>
              </a:rPr>
              <a:t>Tool</a:t>
            </a:r>
            <a:endParaRPr lang="en-US" sz="1400" dirty="0"/>
          </a:p>
        </p:txBody>
      </p:sp>
      <p:sp>
        <p:nvSpPr>
          <p:cNvPr id="5" name="Text 3"/>
          <p:cNvSpPr txBox="1"/>
          <p:nvPr/>
        </p:nvSpPr>
        <p:spPr>
          <a:xfrm>
            <a:off x="2834640" y="1371600"/>
            <a:ext cx="3200400" cy="274320"/>
          </a:xfrm>
          <a:prstGeom prst="rect">
            <a:avLst/>
          </a:prstGeom>
          <a:noFill/>
          <a:ln/>
        </p:spPr>
        <p:txBody>
          <a:bodyPr wrap="square" lIns="0" tIns="0" rIns="0" bIns="0" rtlCol="0" anchor="ctr"/>
          <a:lstStyle/>
          <a:p>
            <a:pPr marL="0" indent="0">
              <a:buNone/>
            </a:pPr>
            <a:r>
              <a:rPr lang="en-US" sz="1400" b="1" dirty="0">
                <a:solidFill>
                  <a:srgbClr val="6B7280"/>
                </a:solidFill>
                <a:latin typeface="Arial" pitchFamily="34" charset="0"/>
                <a:ea typeface="Arial" pitchFamily="34" charset="-122"/>
                <a:cs typeface="Arial" pitchFamily="34" charset="-120"/>
              </a:rPr>
              <a:t>Where we used it</a:t>
            </a:r>
            <a:endParaRPr lang="en-US" sz="1400" dirty="0"/>
          </a:p>
        </p:txBody>
      </p:sp>
      <p:sp>
        <p:nvSpPr>
          <p:cNvPr id="6" name="Text 4"/>
          <p:cNvSpPr txBox="1"/>
          <p:nvPr/>
        </p:nvSpPr>
        <p:spPr>
          <a:xfrm>
            <a:off x="6217920" y="1371600"/>
            <a:ext cx="2377440" cy="274320"/>
          </a:xfrm>
          <a:prstGeom prst="rect">
            <a:avLst/>
          </a:prstGeom>
          <a:noFill/>
          <a:ln/>
        </p:spPr>
        <p:txBody>
          <a:bodyPr wrap="square" lIns="0" tIns="0" rIns="0" bIns="0" rtlCol="0" anchor="ctr"/>
          <a:lstStyle/>
          <a:p>
            <a:pPr marL="0" indent="0">
              <a:buNone/>
            </a:pPr>
            <a:r>
              <a:rPr lang="en-US" sz="1400" b="1" dirty="0">
                <a:solidFill>
                  <a:srgbClr val="6B7280"/>
                </a:solidFill>
                <a:latin typeface="Arial" pitchFamily="34" charset="0"/>
                <a:ea typeface="Arial" pitchFamily="34" charset="-122"/>
                <a:cs typeface="Arial" pitchFamily="34" charset="-120"/>
              </a:rPr>
              <a:t>Why we used it</a:t>
            </a:r>
            <a:endParaRPr lang="en-US" sz="1400" dirty="0"/>
          </a:p>
        </p:txBody>
      </p:sp>
      <p:sp>
        <p:nvSpPr>
          <p:cNvPr id="7" name="Shape 5"/>
          <p:cNvSpPr/>
          <p:nvPr/>
        </p:nvSpPr>
        <p:spPr>
          <a:xfrm>
            <a:off x="457200" y="1691640"/>
            <a:ext cx="8229600" cy="731520"/>
          </a:xfrm>
          <a:prstGeom prst="roundRect">
            <a:avLst>
              <a:gd name="adj" fmla="val 10000"/>
            </a:avLst>
          </a:prstGeom>
          <a:solidFill>
            <a:srgbClr val="F2F4F7"/>
          </a:solidFill>
          <a:ln w="12700">
            <a:solidFill>
              <a:srgbClr val="F2F4F7"/>
            </a:solidFill>
            <a:prstDash val="solid"/>
          </a:ln>
        </p:spPr>
        <p:txBody>
          <a:bodyPr/>
          <a:lstStyle/>
          <a:p>
            <a:endParaRPr lang="en-IN"/>
          </a:p>
        </p:txBody>
      </p:sp>
      <p:sp>
        <p:nvSpPr>
          <p:cNvPr id="8" name="Text 6"/>
          <p:cNvSpPr txBox="1"/>
          <p:nvPr/>
        </p:nvSpPr>
        <p:spPr>
          <a:xfrm>
            <a:off x="731520" y="1737360"/>
            <a:ext cx="2011680" cy="640080"/>
          </a:xfrm>
          <a:prstGeom prst="rect">
            <a:avLst/>
          </a:prstGeom>
          <a:noFill/>
          <a:ln/>
        </p:spPr>
        <p:txBody>
          <a:bodyPr wrap="square" lIns="0" tIns="0" rIns="0" bIns="0" rtlCol="0" anchor="ctr"/>
          <a:lstStyle/>
          <a:p>
            <a:pPr marL="0" indent="0">
              <a:buNone/>
            </a:pPr>
            <a:r>
              <a:rPr lang="en-US" sz="1600" b="1" dirty="0">
                <a:solidFill>
                  <a:srgbClr val="1F3864"/>
                </a:solidFill>
                <a:latin typeface="Arial" pitchFamily="34" charset="0"/>
                <a:ea typeface="Arial" pitchFamily="34" charset="-122"/>
                <a:cs typeface="Arial" pitchFamily="34" charset="-120"/>
              </a:rPr>
              <a:t>Databricks</a:t>
            </a:r>
            <a:endParaRPr lang="en-US" sz="1600" dirty="0"/>
          </a:p>
        </p:txBody>
      </p:sp>
      <p:sp>
        <p:nvSpPr>
          <p:cNvPr id="9" name="Text 7"/>
          <p:cNvSpPr txBox="1"/>
          <p:nvPr/>
        </p:nvSpPr>
        <p:spPr>
          <a:xfrm>
            <a:off x="2834640" y="1737360"/>
            <a:ext cx="3200400" cy="6400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Loaded the data as a table and built the churn dashboard</a:t>
            </a:r>
            <a:endParaRPr lang="en-US" sz="1400" dirty="0"/>
          </a:p>
        </p:txBody>
      </p:sp>
      <p:sp>
        <p:nvSpPr>
          <p:cNvPr id="10" name="Text 8"/>
          <p:cNvSpPr txBox="1"/>
          <p:nvPr/>
        </p:nvSpPr>
        <p:spPr>
          <a:xfrm>
            <a:off x="6217920" y="1737360"/>
            <a:ext cx="2377440" cy="6400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Cloud platform for shared dashboards, no local server needed</a:t>
            </a:r>
            <a:endParaRPr lang="en-US" sz="1400" dirty="0"/>
          </a:p>
        </p:txBody>
      </p:sp>
      <p:sp>
        <p:nvSpPr>
          <p:cNvPr id="11" name="Shape 9"/>
          <p:cNvSpPr/>
          <p:nvPr/>
        </p:nvSpPr>
        <p:spPr>
          <a:xfrm>
            <a:off x="457200" y="2496312"/>
            <a:ext cx="8229600" cy="731520"/>
          </a:xfrm>
          <a:prstGeom prst="roundRect">
            <a:avLst>
              <a:gd name="adj" fmla="val 10000"/>
            </a:avLst>
          </a:prstGeom>
          <a:solidFill>
            <a:srgbClr val="F2F4F7"/>
          </a:solidFill>
          <a:ln w="12700">
            <a:solidFill>
              <a:srgbClr val="F2F4F7"/>
            </a:solidFill>
            <a:prstDash val="solid"/>
          </a:ln>
        </p:spPr>
        <p:txBody>
          <a:bodyPr/>
          <a:lstStyle/>
          <a:p>
            <a:endParaRPr lang="en-IN"/>
          </a:p>
        </p:txBody>
      </p:sp>
      <p:sp>
        <p:nvSpPr>
          <p:cNvPr id="12" name="Text 10"/>
          <p:cNvSpPr txBox="1"/>
          <p:nvPr/>
        </p:nvSpPr>
        <p:spPr>
          <a:xfrm>
            <a:off x="731520" y="2542032"/>
            <a:ext cx="2011680" cy="640080"/>
          </a:xfrm>
          <a:prstGeom prst="rect">
            <a:avLst/>
          </a:prstGeom>
          <a:noFill/>
          <a:ln/>
        </p:spPr>
        <p:txBody>
          <a:bodyPr wrap="square" lIns="0" tIns="0" rIns="0" bIns="0" rtlCol="0" anchor="ctr"/>
          <a:lstStyle/>
          <a:p>
            <a:pPr marL="0" indent="0">
              <a:buNone/>
            </a:pPr>
            <a:r>
              <a:rPr lang="en-US" sz="1600" b="1" dirty="0">
                <a:solidFill>
                  <a:srgbClr val="1F3864"/>
                </a:solidFill>
                <a:latin typeface="Arial" pitchFamily="34" charset="0"/>
                <a:ea typeface="Arial" pitchFamily="34" charset="-122"/>
                <a:cs typeface="Arial" pitchFamily="34" charset="-120"/>
              </a:rPr>
              <a:t>Power BI Desktop</a:t>
            </a:r>
            <a:endParaRPr lang="en-US" sz="1600" dirty="0"/>
          </a:p>
        </p:txBody>
      </p:sp>
      <p:sp>
        <p:nvSpPr>
          <p:cNvPr id="13" name="Text 11"/>
          <p:cNvSpPr txBox="1"/>
          <p:nvPr/>
        </p:nvSpPr>
        <p:spPr>
          <a:xfrm>
            <a:off x="2834640" y="2542032"/>
            <a:ext cx="3200400" cy="6400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Connected to PostgreSQL; built the churn measure, card, and charts</a:t>
            </a:r>
            <a:endParaRPr lang="en-US" sz="1400" dirty="0"/>
          </a:p>
        </p:txBody>
      </p:sp>
      <p:sp>
        <p:nvSpPr>
          <p:cNvPr id="14" name="Text 12"/>
          <p:cNvSpPr txBox="1"/>
          <p:nvPr/>
        </p:nvSpPr>
        <p:spPr>
          <a:xfrm>
            <a:off x="6217920" y="2542032"/>
            <a:ext cx="2377440" cy="6400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Interactive dashboards with filters and calculated measures</a:t>
            </a:r>
            <a:endParaRPr lang="en-US" sz="1400" dirty="0"/>
          </a:p>
        </p:txBody>
      </p:sp>
      <p:sp>
        <p:nvSpPr>
          <p:cNvPr id="15" name="Shape 13"/>
          <p:cNvSpPr/>
          <p:nvPr/>
        </p:nvSpPr>
        <p:spPr>
          <a:xfrm>
            <a:off x="457200" y="3300984"/>
            <a:ext cx="8229600" cy="731520"/>
          </a:xfrm>
          <a:prstGeom prst="roundRect">
            <a:avLst>
              <a:gd name="adj" fmla="val 10000"/>
            </a:avLst>
          </a:prstGeom>
          <a:solidFill>
            <a:srgbClr val="F2F4F7"/>
          </a:solidFill>
          <a:ln w="12700">
            <a:solidFill>
              <a:srgbClr val="F2F4F7"/>
            </a:solidFill>
            <a:prstDash val="solid"/>
          </a:ln>
        </p:spPr>
        <p:txBody>
          <a:bodyPr/>
          <a:lstStyle/>
          <a:p>
            <a:endParaRPr lang="en-IN"/>
          </a:p>
        </p:txBody>
      </p:sp>
      <p:sp>
        <p:nvSpPr>
          <p:cNvPr id="16" name="Text 14"/>
          <p:cNvSpPr txBox="1"/>
          <p:nvPr/>
        </p:nvSpPr>
        <p:spPr>
          <a:xfrm>
            <a:off x="731520" y="3346704"/>
            <a:ext cx="2011680" cy="640080"/>
          </a:xfrm>
          <a:prstGeom prst="rect">
            <a:avLst/>
          </a:prstGeom>
          <a:noFill/>
          <a:ln/>
        </p:spPr>
        <p:txBody>
          <a:bodyPr wrap="square" lIns="0" tIns="0" rIns="0" bIns="0" rtlCol="0" anchor="ctr"/>
          <a:lstStyle/>
          <a:p>
            <a:pPr marL="0" indent="0">
              <a:buNone/>
            </a:pPr>
            <a:r>
              <a:rPr lang="en-US" sz="1600" b="1" dirty="0">
                <a:solidFill>
                  <a:srgbClr val="1F3864"/>
                </a:solidFill>
                <a:latin typeface="Arial" pitchFamily="34" charset="0"/>
                <a:ea typeface="Arial" pitchFamily="34" charset="-122"/>
                <a:cs typeface="Arial" pitchFamily="34" charset="-120"/>
              </a:rPr>
              <a:t>Microsoft Word</a:t>
            </a:r>
            <a:endParaRPr lang="en-US" sz="1600" dirty="0"/>
          </a:p>
        </p:txBody>
      </p:sp>
      <p:sp>
        <p:nvSpPr>
          <p:cNvPr id="17" name="Text 15"/>
          <p:cNvSpPr txBox="1"/>
          <p:nvPr/>
        </p:nvSpPr>
        <p:spPr>
          <a:xfrm>
            <a:off x="2834640" y="3346704"/>
            <a:ext cx="3200400" cy="6400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Analysis report, project proposal, and work log</a:t>
            </a:r>
            <a:endParaRPr lang="en-US" sz="1400" dirty="0"/>
          </a:p>
        </p:txBody>
      </p:sp>
      <p:sp>
        <p:nvSpPr>
          <p:cNvPr id="18" name="Text 16"/>
          <p:cNvSpPr txBox="1"/>
          <p:nvPr/>
        </p:nvSpPr>
        <p:spPr>
          <a:xfrm>
            <a:off x="6217920" y="3346704"/>
            <a:ext cx="2377440" cy="6400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Standard academic format the professor can read and mark</a:t>
            </a:r>
            <a:endParaRPr lang="en-US" sz="1400" dirty="0"/>
          </a:p>
        </p:txBody>
      </p:sp>
      <p:sp>
        <p:nvSpPr>
          <p:cNvPr id="19" name="Shape 17"/>
          <p:cNvSpPr/>
          <p:nvPr/>
        </p:nvSpPr>
        <p:spPr>
          <a:xfrm>
            <a:off x="457200" y="4105656"/>
            <a:ext cx="8229600" cy="731520"/>
          </a:xfrm>
          <a:prstGeom prst="roundRect">
            <a:avLst>
              <a:gd name="adj" fmla="val 10000"/>
            </a:avLst>
          </a:prstGeom>
          <a:solidFill>
            <a:srgbClr val="F2F4F7"/>
          </a:solidFill>
          <a:ln w="12700">
            <a:solidFill>
              <a:srgbClr val="F2F4F7"/>
            </a:solidFill>
            <a:prstDash val="solid"/>
          </a:ln>
        </p:spPr>
        <p:txBody>
          <a:bodyPr/>
          <a:lstStyle/>
          <a:p>
            <a:endParaRPr lang="en-IN"/>
          </a:p>
        </p:txBody>
      </p:sp>
      <p:sp>
        <p:nvSpPr>
          <p:cNvPr id="20" name="Text 18"/>
          <p:cNvSpPr txBox="1"/>
          <p:nvPr/>
        </p:nvSpPr>
        <p:spPr>
          <a:xfrm>
            <a:off x="731520" y="4151376"/>
            <a:ext cx="2011680" cy="640080"/>
          </a:xfrm>
          <a:prstGeom prst="rect">
            <a:avLst/>
          </a:prstGeom>
          <a:noFill/>
          <a:ln/>
        </p:spPr>
        <p:txBody>
          <a:bodyPr wrap="square" lIns="0" tIns="0" rIns="0" bIns="0" rtlCol="0" anchor="ctr"/>
          <a:lstStyle/>
          <a:p>
            <a:pPr marL="0" indent="0">
              <a:buNone/>
            </a:pPr>
            <a:r>
              <a:rPr lang="en-US" sz="1600" b="1" dirty="0">
                <a:solidFill>
                  <a:srgbClr val="1F3864"/>
                </a:solidFill>
                <a:latin typeface="Arial" pitchFamily="34" charset="0"/>
                <a:ea typeface="Arial" pitchFamily="34" charset="-122"/>
                <a:cs typeface="Arial" pitchFamily="34" charset="-120"/>
              </a:rPr>
              <a:t>Microsoft PowerPoint</a:t>
            </a:r>
            <a:endParaRPr lang="en-US" sz="1600" dirty="0"/>
          </a:p>
        </p:txBody>
      </p:sp>
      <p:sp>
        <p:nvSpPr>
          <p:cNvPr id="21" name="Text 19"/>
          <p:cNvSpPr txBox="1"/>
          <p:nvPr/>
        </p:nvSpPr>
        <p:spPr>
          <a:xfrm>
            <a:off x="2834640" y="4151376"/>
            <a:ext cx="3200400" cy="6400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This presentation, with editable charts and speaker notes</a:t>
            </a:r>
            <a:endParaRPr lang="en-US" sz="1400" dirty="0"/>
          </a:p>
        </p:txBody>
      </p:sp>
      <p:sp>
        <p:nvSpPr>
          <p:cNvPr id="22" name="Text 20"/>
          <p:cNvSpPr txBox="1"/>
          <p:nvPr/>
        </p:nvSpPr>
        <p:spPr>
          <a:xfrm>
            <a:off x="6217920" y="4151376"/>
            <a:ext cx="2377440" cy="6400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Clear format for presenting findings to the class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3864"/>
                </a:solidFill>
                <a:latin typeface="Arial" pitchFamily="34" charset="0"/>
                <a:ea typeface="Arial" pitchFamily="34" charset="-122"/>
                <a:cs typeface="Arial" pitchFamily="34" charset="-120"/>
              </a:rPr>
              <a:t>Data preparation: three issues fixed</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Problems found while loading the data and how each was solved</a:t>
            </a:r>
            <a:endParaRPr lang="en-US" sz="1400" dirty="0"/>
          </a:p>
        </p:txBody>
      </p:sp>
      <p:sp>
        <p:nvSpPr>
          <p:cNvPr id="4" name="Shape 2"/>
          <p:cNvSpPr/>
          <p:nvPr/>
        </p:nvSpPr>
        <p:spPr>
          <a:xfrm>
            <a:off x="457200" y="1463040"/>
            <a:ext cx="2606040" cy="3200400"/>
          </a:xfrm>
          <a:prstGeom prst="roundRect">
            <a:avLst>
              <a:gd name="adj" fmla="val 2807"/>
            </a:avLst>
          </a:prstGeom>
          <a:solidFill>
            <a:srgbClr val="F2F4F7"/>
          </a:solidFill>
          <a:ln w="12700">
            <a:solidFill>
              <a:srgbClr val="F2F4F7"/>
            </a:solidFill>
            <a:prstDash val="solid"/>
          </a:ln>
        </p:spPr>
        <p:txBody>
          <a:bodyPr/>
          <a:lstStyle/>
          <a:p>
            <a:endParaRPr lang="en-IN"/>
          </a:p>
        </p:txBody>
      </p:sp>
      <p:sp>
        <p:nvSpPr>
          <p:cNvPr id="5" name="Text 3"/>
          <p:cNvSpPr txBox="1"/>
          <p:nvPr/>
        </p:nvSpPr>
        <p:spPr>
          <a:xfrm>
            <a:off x="685800" y="1645920"/>
            <a:ext cx="2194560" cy="411480"/>
          </a:xfrm>
          <a:prstGeom prst="rect">
            <a:avLst/>
          </a:prstGeom>
          <a:noFill/>
          <a:ln/>
        </p:spPr>
        <p:txBody>
          <a:bodyPr wrap="square" lIns="0" tIns="0" rIns="0" bIns="0" rtlCol="0" anchor="ctr"/>
          <a:lstStyle/>
          <a:p>
            <a:pPr marL="0" indent="0">
              <a:buNone/>
            </a:pPr>
            <a:r>
              <a:rPr lang="en-US" sz="1800" b="1" dirty="0">
                <a:solidFill>
                  <a:srgbClr val="1F3864"/>
                </a:solidFill>
                <a:latin typeface="Arial" pitchFamily="34" charset="0"/>
                <a:ea typeface="Arial" pitchFamily="34" charset="-122"/>
                <a:cs typeface="Arial" pitchFamily="34" charset="-120"/>
              </a:rPr>
              <a:t>Blank values</a:t>
            </a:r>
            <a:endParaRPr lang="en-US" sz="1800" dirty="0"/>
          </a:p>
        </p:txBody>
      </p:sp>
      <p:sp>
        <p:nvSpPr>
          <p:cNvPr id="6" name="Text 4"/>
          <p:cNvSpPr txBox="1"/>
          <p:nvPr/>
        </p:nvSpPr>
        <p:spPr>
          <a:xfrm>
            <a:off x="685800" y="2057400"/>
            <a:ext cx="2194560" cy="457200"/>
          </a:xfrm>
          <a:prstGeom prst="rect">
            <a:avLst/>
          </a:prstGeom>
          <a:noFill/>
          <a:ln/>
        </p:spPr>
        <p:txBody>
          <a:bodyPr wrap="square" lIns="0" tIns="0" rIns="0" bIns="0" rtlCol="0" anchor="t"/>
          <a:lstStyle/>
          <a:p>
            <a:pPr marL="0" indent="0">
              <a:buNone/>
            </a:pPr>
            <a:r>
              <a:rPr lang="en-US" sz="1400" b="1" dirty="0">
                <a:solidFill>
                  <a:srgbClr val="6B7280"/>
                </a:solidFill>
                <a:latin typeface="Arial" pitchFamily="34" charset="0"/>
                <a:ea typeface="Arial" pitchFamily="34" charset="-122"/>
                <a:cs typeface="Arial" pitchFamily="34" charset="-120"/>
              </a:rPr>
              <a:t>Tool: SQL Shell</a:t>
            </a:r>
            <a:endParaRPr lang="en-US" sz="1400" dirty="0"/>
          </a:p>
        </p:txBody>
      </p:sp>
      <p:sp>
        <p:nvSpPr>
          <p:cNvPr id="7" name="Text 5"/>
          <p:cNvSpPr txBox="1"/>
          <p:nvPr/>
        </p:nvSpPr>
        <p:spPr>
          <a:xfrm>
            <a:off x="685800" y="2606040"/>
            <a:ext cx="2194560" cy="1920240"/>
          </a:xfrm>
          <a:prstGeom prst="rect">
            <a:avLst/>
          </a:prstGeom>
          <a:noFill/>
          <a:ln/>
        </p:spPr>
        <p:txBody>
          <a:bodyPr wrap="square" lIns="0" tIns="0" rIns="0" bIns="0" rtlCol="0" anchor="t"/>
          <a:lstStyle/>
          <a:p>
            <a:pPr marL="0" indent="0">
              <a:buNone/>
            </a:pPr>
            <a:r>
              <a:rPr lang="en-US" sz="1400" dirty="0">
                <a:solidFill>
                  <a:srgbClr val="262626"/>
                </a:solidFill>
                <a:latin typeface="Arial" pitchFamily="34" charset="0"/>
                <a:ea typeface="Arial" pitchFamily="34" charset="-122"/>
                <a:cs typeface="Arial" pitchFamily="34" charset="-120"/>
              </a:rPr>
              <a:t>11 customers had a blank TotalCharges value. It was stored as NULL after a temporary text conversion.</a:t>
            </a:r>
            <a:endParaRPr lang="en-US" sz="1400" dirty="0"/>
          </a:p>
        </p:txBody>
      </p:sp>
      <p:sp>
        <p:nvSpPr>
          <p:cNvPr id="8" name="Shape 6"/>
          <p:cNvSpPr/>
          <p:nvPr/>
        </p:nvSpPr>
        <p:spPr>
          <a:xfrm>
            <a:off x="3246120" y="1463040"/>
            <a:ext cx="2606040" cy="3200400"/>
          </a:xfrm>
          <a:prstGeom prst="roundRect">
            <a:avLst>
              <a:gd name="adj" fmla="val 2807"/>
            </a:avLst>
          </a:prstGeom>
          <a:solidFill>
            <a:srgbClr val="F2F4F7"/>
          </a:solidFill>
          <a:ln w="12700">
            <a:solidFill>
              <a:srgbClr val="F2F4F7"/>
            </a:solidFill>
            <a:prstDash val="solid"/>
          </a:ln>
        </p:spPr>
        <p:txBody>
          <a:bodyPr/>
          <a:lstStyle/>
          <a:p>
            <a:endParaRPr lang="en-IN"/>
          </a:p>
        </p:txBody>
      </p:sp>
      <p:sp>
        <p:nvSpPr>
          <p:cNvPr id="9" name="Text 7"/>
          <p:cNvSpPr txBox="1"/>
          <p:nvPr/>
        </p:nvSpPr>
        <p:spPr>
          <a:xfrm>
            <a:off x="3474720" y="1645920"/>
            <a:ext cx="2194560" cy="411480"/>
          </a:xfrm>
          <a:prstGeom prst="rect">
            <a:avLst/>
          </a:prstGeom>
          <a:noFill/>
          <a:ln/>
        </p:spPr>
        <p:txBody>
          <a:bodyPr wrap="square" lIns="0" tIns="0" rIns="0" bIns="0" rtlCol="0" anchor="ctr"/>
          <a:lstStyle/>
          <a:p>
            <a:pPr marL="0" indent="0">
              <a:buNone/>
            </a:pPr>
            <a:r>
              <a:rPr lang="en-US" sz="1800" b="1" dirty="0">
                <a:solidFill>
                  <a:srgbClr val="1F3864"/>
                </a:solidFill>
                <a:latin typeface="Arial" pitchFamily="34" charset="0"/>
                <a:ea typeface="Arial" pitchFamily="34" charset="-122"/>
                <a:cs typeface="Arial" pitchFamily="34" charset="-120"/>
              </a:rPr>
              <a:t>Failed import</a:t>
            </a:r>
            <a:endParaRPr lang="en-US" sz="1800" dirty="0"/>
          </a:p>
        </p:txBody>
      </p:sp>
      <p:sp>
        <p:nvSpPr>
          <p:cNvPr id="10" name="Text 8"/>
          <p:cNvSpPr txBox="1"/>
          <p:nvPr/>
        </p:nvSpPr>
        <p:spPr>
          <a:xfrm>
            <a:off x="3474720" y="2057400"/>
            <a:ext cx="2194560" cy="457200"/>
          </a:xfrm>
          <a:prstGeom prst="rect">
            <a:avLst/>
          </a:prstGeom>
          <a:noFill/>
          <a:ln/>
        </p:spPr>
        <p:txBody>
          <a:bodyPr wrap="square" lIns="0" tIns="0" rIns="0" bIns="0" rtlCol="0" anchor="t"/>
          <a:lstStyle/>
          <a:p>
            <a:pPr marL="0" indent="0">
              <a:buNone/>
            </a:pPr>
            <a:r>
              <a:rPr lang="en-US" sz="1400" b="1" dirty="0">
                <a:solidFill>
                  <a:srgbClr val="6B7280"/>
                </a:solidFill>
                <a:latin typeface="Arial" pitchFamily="34" charset="0"/>
                <a:ea typeface="Arial" pitchFamily="34" charset="-122"/>
                <a:cs typeface="Arial" pitchFamily="34" charset="-120"/>
              </a:rPr>
              <a:t>Tool: DBeaver, then SQL Shell</a:t>
            </a:r>
            <a:endParaRPr lang="en-US" sz="1400" dirty="0"/>
          </a:p>
        </p:txBody>
      </p:sp>
      <p:sp>
        <p:nvSpPr>
          <p:cNvPr id="11" name="Text 9"/>
          <p:cNvSpPr txBox="1"/>
          <p:nvPr/>
        </p:nvSpPr>
        <p:spPr>
          <a:xfrm>
            <a:off x="3474720" y="2606040"/>
            <a:ext cx="2194560" cy="1920240"/>
          </a:xfrm>
          <a:prstGeom prst="rect">
            <a:avLst/>
          </a:prstGeom>
          <a:noFill/>
          <a:ln/>
        </p:spPr>
        <p:txBody>
          <a:bodyPr wrap="square" lIns="0" tIns="0" rIns="0" bIns="0" rtlCol="0" anchor="t"/>
          <a:lstStyle/>
          <a:p>
            <a:pPr marL="0" indent="0">
              <a:buNone/>
            </a:pPr>
            <a:r>
              <a:rPr lang="en-US" sz="1400" dirty="0">
                <a:solidFill>
                  <a:srgbClr val="262626"/>
                </a:solidFill>
                <a:latin typeface="Arial" pitchFamily="34" charset="0"/>
                <a:ea typeface="Arial" pitchFamily="34" charset="-122"/>
                <a:cs typeface="Arial" pitchFamily="34" charset="-120"/>
              </a:rPr>
              <a:t>The import wizard stopped at about 7,000 rows. The file was reloaded with \copy, which loaded all rows.</a:t>
            </a:r>
            <a:endParaRPr lang="en-US" sz="1400" dirty="0"/>
          </a:p>
        </p:txBody>
      </p:sp>
      <p:sp>
        <p:nvSpPr>
          <p:cNvPr id="12" name="Shape 10"/>
          <p:cNvSpPr/>
          <p:nvPr/>
        </p:nvSpPr>
        <p:spPr>
          <a:xfrm>
            <a:off x="6035040" y="1463040"/>
            <a:ext cx="2606040" cy="3200400"/>
          </a:xfrm>
          <a:prstGeom prst="roundRect">
            <a:avLst>
              <a:gd name="adj" fmla="val 2807"/>
            </a:avLst>
          </a:prstGeom>
          <a:solidFill>
            <a:srgbClr val="F2F4F7"/>
          </a:solidFill>
          <a:ln w="12700">
            <a:solidFill>
              <a:srgbClr val="F2F4F7"/>
            </a:solidFill>
            <a:prstDash val="solid"/>
          </a:ln>
        </p:spPr>
        <p:txBody>
          <a:bodyPr/>
          <a:lstStyle/>
          <a:p>
            <a:endParaRPr lang="en-IN"/>
          </a:p>
        </p:txBody>
      </p:sp>
      <p:sp>
        <p:nvSpPr>
          <p:cNvPr id="13" name="Text 11"/>
          <p:cNvSpPr txBox="1"/>
          <p:nvPr/>
        </p:nvSpPr>
        <p:spPr>
          <a:xfrm>
            <a:off x="6263640" y="1645920"/>
            <a:ext cx="2194560" cy="411480"/>
          </a:xfrm>
          <a:prstGeom prst="rect">
            <a:avLst/>
          </a:prstGeom>
          <a:noFill/>
          <a:ln/>
        </p:spPr>
        <p:txBody>
          <a:bodyPr wrap="square" lIns="0" tIns="0" rIns="0" bIns="0" rtlCol="0" anchor="ctr"/>
          <a:lstStyle/>
          <a:p>
            <a:pPr marL="0" indent="0">
              <a:buNone/>
            </a:pPr>
            <a:r>
              <a:rPr lang="en-US" sz="1800" b="1" dirty="0">
                <a:solidFill>
                  <a:srgbClr val="1F3864"/>
                </a:solidFill>
                <a:latin typeface="Arial" pitchFamily="34" charset="0"/>
                <a:ea typeface="Arial" pitchFamily="34" charset="-122"/>
                <a:cs typeface="Arial" pitchFamily="34" charset="-120"/>
              </a:rPr>
              <a:t>Verified load</a:t>
            </a:r>
            <a:endParaRPr lang="en-US" sz="1800" dirty="0"/>
          </a:p>
        </p:txBody>
      </p:sp>
      <p:sp>
        <p:nvSpPr>
          <p:cNvPr id="14" name="Text 12"/>
          <p:cNvSpPr txBox="1"/>
          <p:nvPr/>
        </p:nvSpPr>
        <p:spPr>
          <a:xfrm>
            <a:off x="6263640" y="2057400"/>
            <a:ext cx="2194560" cy="457200"/>
          </a:xfrm>
          <a:prstGeom prst="rect">
            <a:avLst/>
          </a:prstGeom>
          <a:noFill/>
          <a:ln/>
        </p:spPr>
        <p:txBody>
          <a:bodyPr wrap="square" lIns="0" tIns="0" rIns="0" bIns="0" rtlCol="0" anchor="t"/>
          <a:lstStyle/>
          <a:p>
            <a:pPr marL="0" indent="0">
              <a:buNone/>
            </a:pPr>
            <a:r>
              <a:rPr lang="en-US" sz="1400" b="1" dirty="0">
                <a:solidFill>
                  <a:srgbClr val="6B7280"/>
                </a:solidFill>
                <a:latin typeface="Arial" pitchFamily="34" charset="0"/>
                <a:ea typeface="Arial" pitchFamily="34" charset="-122"/>
                <a:cs typeface="Arial" pitchFamily="34" charset="-120"/>
              </a:rPr>
              <a:t>Tool: SQL Shell and DBeaver</a:t>
            </a:r>
            <a:endParaRPr lang="en-US" sz="1400" dirty="0"/>
          </a:p>
        </p:txBody>
      </p:sp>
      <p:sp>
        <p:nvSpPr>
          <p:cNvPr id="15" name="Text 13"/>
          <p:cNvSpPr txBox="1"/>
          <p:nvPr/>
        </p:nvSpPr>
        <p:spPr>
          <a:xfrm>
            <a:off x="6263640" y="2606040"/>
            <a:ext cx="2194560" cy="1920240"/>
          </a:xfrm>
          <a:prstGeom prst="rect">
            <a:avLst/>
          </a:prstGeom>
          <a:noFill/>
          <a:ln/>
        </p:spPr>
        <p:txBody>
          <a:bodyPr wrap="square" lIns="0" tIns="0" rIns="0" bIns="0" rtlCol="0" anchor="t"/>
          <a:lstStyle/>
          <a:p>
            <a:pPr marL="0" indent="0">
              <a:buNone/>
            </a:pPr>
            <a:r>
              <a:rPr lang="en-US" sz="1400" dirty="0">
                <a:solidFill>
                  <a:srgbClr val="262626"/>
                </a:solidFill>
                <a:latin typeface="Arial" pitchFamily="34" charset="0"/>
                <a:ea typeface="Arial" pitchFamily="34" charset="-122"/>
                <a:cs typeface="Arial" pitchFamily="34" charset="-120"/>
              </a:rPr>
              <a:t>7,043 rows loaded. The churn split of 5,174 No and 1,869 Yes matches the source file.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3864"/>
                </a:solidFill>
                <a:latin typeface="Arial" pitchFamily="34" charset="0"/>
                <a:ea typeface="Arial" pitchFamily="34" charset="-122"/>
                <a:cs typeface="Arial" pitchFamily="34" charset="-120"/>
              </a:rPr>
              <a:t>Analysis 1: contract length</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Purpose: test whether contract length is linked to churn</a:t>
            </a:r>
            <a:endParaRPr lang="en-US" sz="1400" dirty="0"/>
          </a:p>
        </p:txBody>
      </p:sp>
      <p:graphicFrame>
        <p:nvGraphicFramePr>
          <p:cNvPr id="4" name="Chart 0"/>
          <p:cNvGraphicFramePr/>
          <p:nvPr/>
        </p:nvGraphicFramePr>
        <p:xfrm>
          <a:off x="365760" y="1463040"/>
          <a:ext cx="539496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457200" y="4709160"/>
            <a:ext cx="5303520" cy="320040"/>
          </a:xfrm>
          <a:prstGeom prst="rect">
            <a:avLst/>
          </a:prstGeom>
          <a:noFill/>
          <a:ln/>
        </p:spPr>
        <p:txBody>
          <a:bodyPr wrap="square" lIns="0" tIns="0" rIns="0" bIns="0" rtlCol="0" anchor="ctr"/>
          <a:lstStyle/>
          <a:p>
            <a:pPr marL="0" indent="0">
              <a:buNone/>
            </a:pPr>
            <a:r>
              <a:rPr lang="en-US" sz="1200" dirty="0">
                <a:solidFill>
                  <a:srgbClr val="6B7280"/>
                </a:solidFill>
                <a:latin typeface="Arial" pitchFamily="34" charset="0"/>
                <a:ea typeface="Arial" pitchFamily="34" charset="-122"/>
                <a:cs typeface="Arial" pitchFamily="34" charset="-120"/>
              </a:rPr>
              <a:t>Share of all customers: Month-to-month 55.02%, Two year 24.07%, One year 20.91%</a:t>
            </a:r>
            <a:endParaRPr lang="en-US" sz="1200" dirty="0"/>
          </a:p>
        </p:txBody>
      </p:sp>
      <p:sp>
        <p:nvSpPr>
          <p:cNvPr id="6" name="Shape 3"/>
          <p:cNvSpPr/>
          <p:nvPr/>
        </p:nvSpPr>
        <p:spPr>
          <a:xfrm>
            <a:off x="6035040" y="1463040"/>
            <a:ext cx="2651760" cy="3383280"/>
          </a:xfrm>
          <a:prstGeom prst="roundRect">
            <a:avLst>
              <a:gd name="adj" fmla="val 2759"/>
            </a:avLst>
          </a:prstGeom>
          <a:solidFill>
            <a:srgbClr val="F2F4F7"/>
          </a:solidFill>
          <a:ln w="12700">
            <a:solidFill>
              <a:srgbClr val="F2F4F7"/>
            </a:solidFill>
            <a:prstDash val="solid"/>
          </a:ln>
        </p:spPr>
        <p:txBody>
          <a:bodyPr/>
          <a:lstStyle/>
          <a:p>
            <a:endParaRPr lang="en-IN"/>
          </a:p>
        </p:txBody>
      </p:sp>
      <p:sp>
        <p:nvSpPr>
          <p:cNvPr id="7" name="Text 4"/>
          <p:cNvSpPr txBox="1"/>
          <p:nvPr/>
        </p:nvSpPr>
        <p:spPr>
          <a:xfrm>
            <a:off x="6263640" y="1645920"/>
            <a:ext cx="2286000" cy="3108960"/>
          </a:xfrm>
          <a:prstGeom prst="rect">
            <a:avLst/>
          </a:prstGeom>
          <a:noFill/>
          <a:ln/>
        </p:spPr>
        <p:txBody>
          <a:bodyPr wrap="square" lIns="0" tIns="0" rIns="0" bIns="0" rtlCol="0" anchor="t"/>
          <a:lstStyle/>
          <a:p>
            <a:pPr marL="0" indent="0">
              <a:spcAft>
                <a:spcPts val="800"/>
              </a:spcAft>
              <a:buNone/>
            </a:pPr>
            <a:r>
              <a:rPr lang="en-US" sz="1800" b="1" dirty="0">
                <a:solidFill>
                  <a:srgbClr val="1F3864"/>
                </a:solidFill>
                <a:latin typeface="Arial" pitchFamily="34" charset="0"/>
                <a:ea typeface="Arial" pitchFamily="34" charset="-122"/>
                <a:cs typeface="Arial" pitchFamily="34" charset="-120"/>
              </a:rPr>
              <a:t>What it shows</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Month-to-month: 42.7% churn</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One year: 11.3% churn</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Two year: 2.8% churn</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Month-to-month customers churn about 15 times as often as two-year customers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3864"/>
                </a:solidFill>
                <a:latin typeface="Arial" pitchFamily="34" charset="0"/>
                <a:ea typeface="Arial" pitchFamily="34" charset="-122"/>
                <a:cs typeface="Arial" pitchFamily="34" charset="-120"/>
              </a:rPr>
              <a:t>Analysis 2: internet service and payment</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Purpose: compare churn across internet service types and payment methods</a:t>
            </a:r>
            <a:endParaRPr lang="en-US" sz="1400" dirty="0"/>
          </a:p>
        </p:txBody>
      </p:sp>
      <p:sp>
        <p:nvSpPr>
          <p:cNvPr id="4" name="Text 2"/>
          <p:cNvSpPr txBox="1"/>
          <p:nvPr/>
        </p:nvSpPr>
        <p:spPr>
          <a:xfrm>
            <a:off x="457200" y="1417320"/>
            <a:ext cx="4023360" cy="320040"/>
          </a:xfrm>
          <a:prstGeom prst="rect">
            <a:avLst/>
          </a:prstGeom>
          <a:noFill/>
          <a:ln/>
        </p:spPr>
        <p:txBody>
          <a:bodyPr wrap="square" lIns="0" tIns="0" rIns="0" bIns="0" rtlCol="0" anchor="ctr"/>
          <a:lstStyle/>
          <a:p>
            <a:pPr marL="0" indent="0">
              <a:buNone/>
            </a:pPr>
            <a:r>
              <a:rPr lang="en-US" sz="1400" b="1" dirty="0">
                <a:solidFill>
                  <a:srgbClr val="262626"/>
                </a:solidFill>
                <a:latin typeface="Arial" pitchFamily="34" charset="0"/>
                <a:ea typeface="Arial" pitchFamily="34" charset="-122"/>
                <a:cs typeface="Arial" pitchFamily="34" charset="-120"/>
              </a:rPr>
              <a:t>Churn rate by internet service</a:t>
            </a:r>
            <a:endParaRPr lang="en-US" sz="1400" dirty="0"/>
          </a:p>
        </p:txBody>
      </p:sp>
      <p:graphicFrame>
        <p:nvGraphicFramePr>
          <p:cNvPr id="5" name="Chart 0"/>
          <p:cNvGraphicFramePr/>
          <p:nvPr/>
        </p:nvGraphicFramePr>
        <p:xfrm>
          <a:off x="365760" y="1737360"/>
          <a:ext cx="411480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4663440" y="1417320"/>
            <a:ext cx="4023360" cy="320040"/>
          </a:xfrm>
          <a:prstGeom prst="rect">
            <a:avLst/>
          </a:prstGeom>
          <a:noFill/>
          <a:ln/>
        </p:spPr>
        <p:txBody>
          <a:bodyPr wrap="square" lIns="0" tIns="0" rIns="0" bIns="0" rtlCol="0" anchor="ctr"/>
          <a:lstStyle/>
          <a:p>
            <a:pPr marL="0" indent="0">
              <a:buNone/>
            </a:pPr>
            <a:r>
              <a:rPr lang="en-US" sz="1400" b="1" dirty="0">
                <a:solidFill>
                  <a:srgbClr val="262626"/>
                </a:solidFill>
                <a:latin typeface="Arial" pitchFamily="34" charset="0"/>
                <a:ea typeface="Arial" pitchFamily="34" charset="-122"/>
                <a:cs typeface="Arial" pitchFamily="34" charset="-120"/>
              </a:rPr>
              <a:t>Churn rate by payment method</a:t>
            </a:r>
            <a:endParaRPr lang="en-US" sz="1400" dirty="0"/>
          </a:p>
        </p:txBody>
      </p:sp>
      <p:graphicFrame>
        <p:nvGraphicFramePr>
          <p:cNvPr id="7" name="Chart 1"/>
          <p:cNvGraphicFramePr/>
          <p:nvPr/>
        </p:nvGraphicFramePr>
        <p:xfrm>
          <a:off x="4572000" y="1737360"/>
          <a:ext cx="4206240" cy="265176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457200" y="4434840"/>
            <a:ext cx="8229600" cy="566928"/>
          </a:xfrm>
          <a:prstGeom prst="roundRect">
            <a:avLst>
              <a:gd name="adj" fmla="val 12903"/>
            </a:avLst>
          </a:prstGeom>
          <a:solidFill>
            <a:srgbClr val="F2F4F7"/>
          </a:solidFill>
          <a:ln w="12700">
            <a:solidFill>
              <a:srgbClr val="F2F4F7"/>
            </a:solidFill>
            <a:prstDash val="solid"/>
          </a:ln>
        </p:spPr>
        <p:txBody>
          <a:bodyPr/>
          <a:lstStyle/>
          <a:p>
            <a:endParaRPr lang="en-IN"/>
          </a:p>
        </p:txBody>
      </p:sp>
      <p:sp>
        <p:nvSpPr>
          <p:cNvPr id="9" name="Text 5"/>
          <p:cNvSpPr txBox="1"/>
          <p:nvPr/>
        </p:nvSpPr>
        <p:spPr>
          <a:xfrm>
            <a:off x="685800" y="4434840"/>
            <a:ext cx="7772400" cy="566928"/>
          </a:xfrm>
          <a:prstGeom prst="rect">
            <a:avLst/>
          </a:prstGeom>
          <a:noFill/>
          <a:ln/>
        </p:spPr>
        <p:txBody>
          <a:bodyPr wrap="square" lIns="0" tIns="0" rIns="0" bIns="0" rtlCol="0" anchor="ctr"/>
          <a:lstStyle/>
          <a:p>
            <a:pPr marL="0" indent="0">
              <a:buNone/>
            </a:pPr>
            <a:r>
              <a:rPr lang="en-US" sz="1400" b="1" dirty="0">
                <a:solidFill>
                  <a:srgbClr val="1F3864"/>
                </a:solidFill>
                <a:latin typeface="Arial" pitchFamily="34" charset="0"/>
                <a:ea typeface="Arial" pitchFamily="34" charset="-122"/>
                <a:cs typeface="Arial" pitchFamily="34" charset="-120"/>
              </a:rPr>
              <a:t>Fiber optic churn is more than double DSL. Electronic check churn is nearly three times credit card churn.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3864"/>
                </a:solidFill>
                <a:latin typeface="Arial" pitchFamily="34" charset="0"/>
                <a:ea typeface="Arial" pitchFamily="34" charset="-122"/>
                <a:cs typeface="Arial" pitchFamily="34" charset="-120"/>
              </a:rPr>
              <a:t>Analysis 3: tenure and tech support</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Purpose: test whether customer loyalty over time and add-on support are linked to churn</a:t>
            </a:r>
            <a:endParaRPr lang="en-US" sz="1400" dirty="0"/>
          </a:p>
        </p:txBody>
      </p:sp>
      <p:sp>
        <p:nvSpPr>
          <p:cNvPr id="4" name="Text 2"/>
          <p:cNvSpPr txBox="1"/>
          <p:nvPr/>
        </p:nvSpPr>
        <p:spPr>
          <a:xfrm>
            <a:off x="457200" y="1417320"/>
            <a:ext cx="4023360" cy="320040"/>
          </a:xfrm>
          <a:prstGeom prst="rect">
            <a:avLst/>
          </a:prstGeom>
          <a:noFill/>
          <a:ln/>
        </p:spPr>
        <p:txBody>
          <a:bodyPr wrap="square" lIns="0" tIns="0" rIns="0" bIns="0" rtlCol="0" anchor="ctr"/>
          <a:lstStyle/>
          <a:p>
            <a:pPr marL="0" indent="0">
              <a:buNone/>
            </a:pPr>
            <a:r>
              <a:rPr lang="en-US" sz="1400" b="1" dirty="0">
                <a:solidFill>
                  <a:srgbClr val="262626"/>
                </a:solidFill>
                <a:latin typeface="Arial" pitchFamily="34" charset="0"/>
                <a:ea typeface="Arial" pitchFamily="34" charset="-122"/>
                <a:cs typeface="Arial" pitchFamily="34" charset="-120"/>
              </a:rPr>
              <a:t>Churn rate by tenure group</a:t>
            </a:r>
            <a:endParaRPr lang="en-US" sz="1400" dirty="0"/>
          </a:p>
        </p:txBody>
      </p:sp>
      <p:graphicFrame>
        <p:nvGraphicFramePr>
          <p:cNvPr id="5" name="Chart 0"/>
          <p:cNvGraphicFramePr/>
          <p:nvPr/>
        </p:nvGraphicFramePr>
        <p:xfrm>
          <a:off x="365760" y="1737360"/>
          <a:ext cx="411480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4663440" y="1417320"/>
            <a:ext cx="4023360" cy="320040"/>
          </a:xfrm>
          <a:prstGeom prst="rect">
            <a:avLst/>
          </a:prstGeom>
          <a:noFill/>
          <a:ln/>
        </p:spPr>
        <p:txBody>
          <a:bodyPr wrap="square" lIns="0" tIns="0" rIns="0" bIns="0" rtlCol="0" anchor="ctr"/>
          <a:lstStyle/>
          <a:p>
            <a:pPr marL="0" indent="0">
              <a:buNone/>
            </a:pPr>
            <a:r>
              <a:rPr lang="en-US" sz="1400" b="1" dirty="0">
                <a:solidFill>
                  <a:srgbClr val="262626"/>
                </a:solidFill>
                <a:latin typeface="Arial" pitchFamily="34" charset="0"/>
                <a:ea typeface="Arial" pitchFamily="34" charset="-122"/>
                <a:cs typeface="Arial" pitchFamily="34" charset="-120"/>
              </a:rPr>
              <a:t>Churn rate by tech support</a:t>
            </a:r>
            <a:endParaRPr lang="en-US" sz="1400" dirty="0"/>
          </a:p>
        </p:txBody>
      </p:sp>
      <p:graphicFrame>
        <p:nvGraphicFramePr>
          <p:cNvPr id="7" name="Chart 1"/>
          <p:cNvGraphicFramePr/>
          <p:nvPr/>
        </p:nvGraphicFramePr>
        <p:xfrm>
          <a:off x="4572000" y="1737360"/>
          <a:ext cx="4206240" cy="265176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457200" y="4434840"/>
            <a:ext cx="8229600" cy="566928"/>
          </a:xfrm>
          <a:prstGeom prst="roundRect">
            <a:avLst>
              <a:gd name="adj" fmla="val 12903"/>
            </a:avLst>
          </a:prstGeom>
          <a:solidFill>
            <a:srgbClr val="F2F4F7"/>
          </a:solidFill>
          <a:ln w="12700">
            <a:solidFill>
              <a:srgbClr val="F2F4F7"/>
            </a:solidFill>
            <a:prstDash val="solid"/>
          </a:ln>
        </p:spPr>
        <p:txBody>
          <a:bodyPr/>
          <a:lstStyle/>
          <a:p>
            <a:endParaRPr lang="en-IN"/>
          </a:p>
        </p:txBody>
      </p:sp>
      <p:sp>
        <p:nvSpPr>
          <p:cNvPr id="9" name="Text 5"/>
          <p:cNvSpPr txBox="1"/>
          <p:nvPr/>
        </p:nvSpPr>
        <p:spPr>
          <a:xfrm>
            <a:off x="685800" y="4434840"/>
            <a:ext cx="7772400" cy="566928"/>
          </a:xfrm>
          <a:prstGeom prst="rect">
            <a:avLst/>
          </a:prstGeom>
          <a:noFill/>
          <a:ln/>
        </p:spPr>
        <p:txBody>
          <a:bodyPr wrap="square" lIns="0" tIns="0" rIns="0" bIns="0" rtlCol="0" anchor="ctr"/>
          <a:lstStyle/>
          <a:p>
            <a:pPr marL="0" indent="0">
              <a:buNone/>
            </a:pPr>
            <a:r>
              <a:rPr lang="en-US" sz="1400" b="1" dirty="0">
                <a:solidFill>
                  <a:srgbClr val="1F3864"/>
                </a:solidFill>
                <a:latin typeface="Arial" pitchFamily="34" charset="0"/>
                <a:ea typeface="Arial" pitchFamily="34" charset="-122"/>
                <a:cs typeface="Arial" pitchFamily="34" charset="-120"/>
              </a:rPr>
              <a:t>Churn falls from 47.4% in year one to 9.5% after four years. Without tech support, churn is about 2.7 times higher.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3864"/>
                </a:solidFill>
                <a:latin typeface="Arial" pitchFamily="34" charset="0"/>
                <a:ea typeface="Arial" pitchFamily="34" charset="-122"/>
                <a:cs typeface="Arial" pitchFamily="34" charset="-120"/>
              </a:rPr>
              <a:t>Databricks dashboard: key numbers</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Purpose: a cloud dashboard that shows headline figures and customer counts</a:t>
            </a:r>
            <a:endParaRPr lang="en-US" sz="1400" dirty="0"/>
          </a:p>
        </p:txBody>
      </p:sp>
      <p:sp>
        <p:nvSpPr>
          <p:cNvPr id="4" name="Shape 2"/>
          <p:cNvSpPr/>
          <p:nvPr/>
        </p:nvSpPr>
        <p:spPr>
          <a:xfrm>
            <a:off x="457200" y="1417320"/>
            <a:ext cx="1920240" cy="1143000"/>
          </a:xfrm>
          <a:prstGeom prst="roundRect">
            <a:avLst>
              <a:gd name="adj" fmla="val 6400"/>
            </a:avLst>
          </a:prstGeom>
          <a:solidFill>
            <a:srgbClr val="F2F4F7"/>
          </a:solidFill>
          <a:ln w="12700">
            <a:solidFill>
              <a:srgbClr val="F2F4F7"/>
            </a:solidFill>
            <a:prstDash val="solid"/>
          </a:ln>
        </p:spPr>
        <p:txBody>
          <a:bodyPr/>
          <a:lstStyle/>
          <a:p>
            <a:endParaRPr lang="en-IN"/>
          </a:p>
        </p:txBody>
      </p:sp>
      <p:sp>
        <p:nvSpPr>
          <p:cNvPr id="5" name="Text 3"/>
          <p:cNvSpPr txBox="1"/>
          <p:nvPr/>
        </p:nvSpPr>
        <p:spPr>
          <a:xfrm>
            <a:off x="594360" y="1508760"/>
            <a:ext cx="1645920" cy="54864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7,043</a:t>
            </a:r>
            <a:endParaRPr lang="en-US" sz="2800" dirty="0"/>
          </a:p>
        </p:txBody>
      </p:sp>
      <p:sp>
        <p:nvSpPr>
          <p:cNvPr id="6" name="Text 4"/>
          <p:cNvSpPr txBox="1"/>
          <p:nvPr/>
        </p:nvSpPr>
        <p:spPr>
          <a:xfrm>
            <a:off x="594360" y="2057400"/>
            <a:ext cx="1645920" cy="4114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Total customers</a:t>
            </a:r>
            <a:endParaRPr lang="en-US" sz="1400" dirty="0"/>
          </a:p>
        </p:txBody>
      </p:sp>
      <p:sp>
        <p:nvSpPr>
          <p:cNvPr id="7" name="Shape 5"/>
          <p:cNvSpPr/>
          <p:nvPr/>
        </p:nvSpPr>
        <p:spPr>
          <a:xfrm>
            <a:off x="2560320" y="1417320"/>
            <a:ext cx="1920240" cy="1143000"/>
          </a:xfrm>
          <a:prstGeom prst="roundRect">
            <a:avLst>
              <a:gd name="adj" fmla="val 6400"/>
            </a:avLst>
          </a:prstGeom>
          <a:solidFill>
            <a:srgbClr val="F2F4F7"/>
          </a:solidFill>
          <a:ln w="12700">
            <a:solidFill>
              <a:srgbClr val="F2F4F7"/>
            </a:solidFill>
            <a:prstDash val="solid"/>
          </a:ln>
        </p:spPr>
        <p:txBody>
          <a:bodyPr/>
          <a:lstStyle/>
          <a:p>
            <a:endParaRPr lang="en-IN"/>
          </a:p>
        </p:txBody>
      </p:sp>
      <p:sp>
        <p:nvSpPr>
          <p:cNvPr id="8" name="Text 6"/>
          <p:cNvSpPr txBox="1"/>
          <p:nvPr/>
        </p:nvSpPr>
        <p:spPr>
          <a:xfrm>
            <a:off x="2697480" y="1508760"/>
            <a:ext cx="1645920" cy="548640"/>
          </a:xfrm>
          <a:prstGeom prst="rect">
            <a:avLst/>
          </a:prstGeom>
          <a:noFill/>
          <a:ln/>
        </p:spPr>
        <p:txBody>
          <a:bodyPr wrap="square" lIns="0" tIns="0" rIns="0" bIns="0" rtlCol="0" anchor="ctr"/>
          <a:lstStyle/>
          <a:p>
            <a:pPr marL="0" indent="0">
              <a:buNone/>
            </a:pPr>
            <a:r>
              <a:rPr lang="en-US" sz="2800" b="1" dirty="0">
                <a:solidFill>
                  <a:srgbClr val="E4572E"/>
                </a:solidFill>
                <a:latin typeface="Arial" pitchFamily="34" charset="0"/>
                <a:ea typeface="Arial" pitchFamily="34" charset="-122"/>
                <a:cs typeface="Arial" pitchFamily="34" charset="-120"/>
              </a:rPr>
              <a:t>26.54%</a:t>
            </a:r>
            <a:endParaRPr lang="en-US" sz="2800" dirty="0"/>
          </a:p>
        </p:txBody>
      </p:sp>
      <p:sp>
        <p:nvSpPr>
          <p:cNvPr id="9" name="Text 7"/>
          <p:cNvSpPr txBox="1"/>
          <p:nvPr/>
        </p:nvSpPr>
        <p:spPr>
          <a:xfrm>
            <a:off x="2697480" y="2057400"/>
            <a:ext cx="1645920" cy="4114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Churn rate</a:t>
            </a:r>
            <a:endParaRPr lang="en-US" sz="1400" dirty="0"/>
          </a:p>
        </p:txBody>
      </p:sp>
      <p:sp>
        <p:nvSpPr>
          <p:cNvPr id="10" name="Shape 8"/>
          <p:cNvSpPr/>
          <p:nvPr/>
        </p:nvSpPr>
        <p:spPr>
          <a:xfrm>
            <a:off x="4663440" y="1417320"/>
            <a:ext cx="1920240" cy="1143000"/>
          </a:xfrm>
          <a:prstGeom prst="roundRect">
            <a:avLst>
              <a:gd name="adj" fmla="val 6400"/>
            </a:avLst>
          </a:prstGeom>
          <a:solidFill>
            <a:srgbClr val="F2F4F7"/>
          </a:solidFill>
          <a:ln w="12700">
            <a:solidFill>
              <a:srgbClr val="F2F4F7"/>
            </a:solidFill>
            <a:prstDash val="solid"/>
          </a:ln>
        </p:spPr>
        <p:txBody>
          <a:bodyPr/>
          <a:lstStyle/>
          <a:p>
            <a:endParaRPr lang="en-IN"/>
          </a:p>
        </p:txBody>
      </p:sp>
      <p:sp>
        <p:nvSpPr>
          <p:cNvPr id="11" name="Text 9"/>
          <p:cNvSpPr txBox="1"/>
          <p:nvPr/>
        </p:nvSpPr>
        <p:spPr>
          <a:xfrm>
            <a:off x="4800600" y="1508760"/>
            <a:ext cx="1645920" cy="54864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$64.76</a:t>
            </a:r>
            <a:endParaRPr lang="en-US" sz="2800" dirty="0"/>
          </a:p>
        </p:txBody>
      </p:sp>
      <p:sp>
        <p:nvSpPr>
          <p:cNvPr id="12" name="Text 10"/>
          <p:cNvSpPr txBox="1"/>
          <p:nvPr/>
        </p:nvSpPr>
        <p:spPr>
          <a:xfrm>
            <a:off x="4800600" y="2057400"/>
            <a:ext cx="1645920" cy="4114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Avg monthly charges</a:t>
            </a:r>
            <a:endParaRPr lang="en-US" sz="1400" dirty="0"/>
          </a:p>
        </p:txBody>
      </p:sp>
      <p:sp>
        <p:nvSpPr>
          <p:cNvPr id="13" name="Shape 11"/>
          <p:cNvSpPr/>
          <p:nvPr/>
        </p:nvSpPr>
        <p:spPr>
          <a:xfrm>
            <a:off x="6766560" y="1417320"/>
            <a:ext cx="1920240" cy="1143000"/>
          </a:xfrm>
          <a:prstGeom prst="roundRect">
            <a:avLst>
              <a:gd name="adj" fmla="val 6400"/>
            </a:avLst>
          </a:prstGeom>
          <a:solidFill>
            <a:srgbClr val="F2F4F7"/>
          </a:solidFill>
          <a:ln w="12700">
            <a:solidFill>
              <a:srgbClr val="F2F4F7"/>
            </a:solidFill>
            <a:prstDash val="solid"/>
          </a:ln>
        </p:spPr>
        <p:txBody>
          <a:bodyPr/>
          <a:lstStyle/>
          <a:p>
            <a:endParaRPr lang="en-IN"/>
          </a:p>
        </p:txBody>
      </p:sp>
      <p:sp>
        <p:nvSpPr>
          <p:cNvPr id="14" name="Text 12"/>
          <p:cNvSpPr txBox="1"/>
          <p:nvPr/>
        </p:nvSpPr>
        <p:spPr>
          <a:xfrm>
            <a:off x="6903720" y="1508760"/>
            <a:ext cx="1645920" cy="54864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32.4</a:t>
            </a:r>
            <a:endParaRPr lang="en-US" sz="2800" dirty="0"/>
          </a:p>
        </p:txBody>
      </p:sp>
      <p:sp>
        <p:nvSpPr>
          <p:cNvPr id="15" name="Text 13"/>
          <p:cNvSpPr txBox="1"/>
          <p:nvPr/>
        </p:nvSpPr>
        <p:spPr>
          <a:xfrm>
            <a:off x="6903720" y="2057400"/>
            <a:ext cx="1645920" cy="411480"/>
          </a:xfrm>
          <a:prstGeom prst="rect">
            <a:avLst/>
          </a:prstGeom>
          <a:noFill/>
          <a:ln/>
        </p:spPr>
        <p:txBody>
          <a:bodyPr wrap="square" lIns="0" tIns="0" rIns="0" bIns="0" rtlCol="0" anchor="ctr"/>
          <a:lstStyle/>
          <a:p>
            <a:pPr marL="0" indent="0">
              <a:buNone/>
            </a:pPr>
            <a:r>
              <a:rPr lang="en-US" sz="1400" dirty="0">
                <a:solidFill>
                  <a:srgbClr val="262626"/>
                </a:solidFill>
                <a:latin typeface="Arial" pitchFamily="34" charset="0"/>
                <a:ea typeface="Arial" pitchFamily="34" charset="-122"/>
                <a:cs typeface="Arial" pitchFamily="34" charset="-120"/>
              </a:rPr>
              <a:t>Avg tenure (months)</a:t>
            </a:r>
            <a:endParaRPr lang="en-US" sz="1400" dirty="0"/>
          </a:p>
        </p:txBody>
      </p:sp>
      <p:sp>
        <p:nvSpPr>
          <p:cNvPr id="16" name="Text 14"/>
          <p:cNvSpPr txBox="1"/>
          <p:nvPr/>
        </p:nvSpPr>
        <p:spPr>
          <a:xfrm>
            <a:off x="457200" y="2743200"/>
            <a:ext cx="5120640" cy="320040"/>
          </a:xfrm>
          <a:prstGeom prst="rect">
            <a:avLst/>
          </a:prstGeom>
          <a:noFill/>
          <a:ln/>
        </p:spPr>
        <p:txBody>
          <a:bodyPr wrap="square" lIns="0" tIns="0" rIns="0" bIns="0" rtlCol="0" anchor="ctr"/>
          <a:lstStyle/>
          <a:p>
            <a:pPr marL="0" indent="0">
              <a:buNone/>
            </a:pPr>
            <a:r>
              <a:rPr lang="en-US" sz="1400" b="1" dirty="0">
                <a:solidFill>
                  <a:srgbClr val="262626"/>
                </a:solidFill>
                <a:latin typeface="Arial" pitchFamily="34" charset="0"/>
                <a:ea typeface="Arial" pitchFamily="34" charset="-122"/>
                <a:cs typeface="Arial" pitchFamily="34" charset="-120"/>
              </a:rPr>
              <a:t>Customers by contract type</a:t>
            </a:r>
            <a:endParaRPr lang="en-US" sz="1400" dirty="0"/>
          </a:p>
        </p:txBody>
      </p:sp>
      <p:graphicFrame>
        <p:nvGraphicFramePr>
          <p:cNvPr id="17" name="Chart 0"/>
          <p:cNvGraphicFramePr/>
          <p:nvPr/>
        </p:nvGraphicFramePr>
        <p:xfrm>
          <a:off x="365760" y="3017520"/>
          <a:ext cx="539496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18" name="Shape 15"/>
          <p:cNvSpPr/>
          <p:nvPr/>
        </p:nvSpPr>
        <p:spPr>
          <a:xfrm>
            <a:off x="6035040" y="2743200"/>
            <a:ext cx="2651760" cy="2286000"/>
          </a:xfrm>
          <a:prstGeom prst="roundRect">
            <a:avLst>
              <a:gd name="adj" fmla="val 3200"/>
            </a:avLst>
          </a:prstGeom>
          <a:solidFill>
            <a:srgbClr val="F2F4F7"/>
          </a:solidFill>
          <a:ln w="12700">
            <a:solidFill>
              <a:srgbClr val="F2F4F7"/>
            </a:solidFill>
            <a:prstDash val="solid"/>
          </a:ln>
        </p:spPr>
        <p:txBody>
          <a:bodyPr/>
          <a:lstStyle/>
          <a:p>
            <a:endParaRPr lang="en-IN"/>
          </a:p>
        </p:txBody>
      </p:sp>
      <p:sp>
        <p:nvSpPr>
          <p:cNvPr id="19" name="Text 16"/>
          <p:cNvSpPr txBox="1"/>
          <p:nvPr/>
        </p:nvSpPr>
        <p:spPr>
          <a:xfrm>
            <a:off x="6263640" y="2880360"/>
            <a:ext cx="2286000" cy="2057400"/>
          </a:xfrm>
          <a:prstGeom prst="rect">
            <a:avLst/>
          </a:prstGeom>
          <a:noFill/>
          <a:ln/>
        </p:spPr>
        <p:txBody>
          <a:bodyPr wrap="square" lIns="0" tIns="0" rIns="0" bIns="0" rtlCol="0" anchor="t"/>
          <a:lstStyle/>
          <a:p>
            <a:pPr marL="0" indent="0">
              <a:spcAft>
                <a:spcPts val="800"/>
              </a:spcAft>
              <a:buNone/>
            </a:pPr>
            <a:r>
              <a:rPr lang="en-US" sz="1800" b="1" dirty="0">
                <a:solidFill>
                  <a:srgbClr val="1F3864"/>
                </a:solidFill>
                <a:latin typeface="Arial" pitchFamily="34" charset="0"/>
                <a:ea typeface="Arial" pitchFamily="34" charset="-122"/>
                <a:cs typeface="Arial" pitchFamily="34" charset="-120"/>
              </a:rPr>
              <a:t>Also included</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Churn pie chart</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Internet and payment bar charts</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Summary table by contract</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3864"/>
                </a:solidFill>
                <a:latin typeface="Arial" pitchFamily="34" charset="0"/>
                <a:ea typeface="Arial" pitchFamily="34" charset="-122"/>
                <a:cs typeface="Arial" pitchFamily="34" charset="-120"/>
              </a:rPr>
              <a:t>Findings, recommendations, and limitations</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What the analysis shows, what to do about it, and what it cannot yet prove</a:t>
            </a:r>
            <a:endParaRPr lang="en-US" sz="1400" dirty="0"/>
          </a:p>
        </p:txBody>
      </p:sp>
      <p:sp>
        <p:nvSpPr>
          <p:cNvPr id="4" name="Shape 2"/>
          <p:cNvSpPr/>
          <p:nvPr/>
        </p:nvSpPr>
        <p:spPr>
          <a:xfrm>
            <a:off x="457200" y="1417320"/>
            <a:ext cx="4023360" cy="2697480"/>
          </a:xfrm>
          <a:prstGeom prst="roundRect">
            <a:avLst>
              <a:gd name="adj" fmla="val 2712"/>
            </a:avLst>
          </a:prstGeom>
          <a:solidFill>
            <a:srgbClr val="F2F4F7"/>
          </a:solidFill>
          <a:ln w="12700">
            <a:solidFill>
              <a:srgbClr val="F2F4F7"/>
            </a:solidFill>
            <a:prstDash val="solid"/>
          </a:ln>
        </p:spPr>
        <p:txBody>
          <a:bodyPr/>
          <a:lstStyle/>
          <a:p>
            <a:endParaRPr lang="en-IN"/>
          </a:p>
        </p:txBody>
      </p:sp>
      <p:sp>
        <p:nvSpPr>
          <p:cNvPr id="5" name="Text 3"/>
          <p:cNvSpPr txBox="1"/>
          <p:nvPr/>
        </p:nvSpPr>
        <p:spPr>
          <a:xfrm>
            <a:off x="685800" y="1554480"/>
            <a:ext cx="3657600" cy="2468880"/>
          </a:xfrm>
          <a:prstGeom prst="rect">
            <a:avLst/>
          </a:prstGeom>
          <a:noFill/>
          <a:ln/>
        </p:spPr>
        <p:txBody>
          <a:bodyPr wrap="square" lIns="0" tIns="0" rIns="0" bIns="0" rtlCol="0" anchor="t"/>
          <a:lstStyle/>
          <a:p>
            <a:pPr marL="0" indent="0">
              <a:spcAft>
                <a:spcPts val="800"/>
              </a:spcAft>
              <a:buNone/>
            </a:pPr>
            <a:r>
              <a:rPr lang="en-US" sz="1800" b="1" dirty="0">
                <a:solidFill>
                  <a:srgbClr val="1F3864"/>
                </a:solidFill>
                <a:latin typeface="Arial" pitchFamily="34" charset="0"/>
                <a:ea typeface="Arial" pitchFamily="34" charset="-122"/>
                <a:cs typeface="Arial" pitchFamily="34" charset="-120"/>
              </a:rPr>
              <a:t>Key findings</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Overall churn is 26.54%</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Contract: 42.7% month-to-month vs 2.8% two-year</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First-year customers churn at 47.4%</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Fiber optic churns at 41.9%</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Electronic check users churn at 45.3%</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No tech support: 41.6% vs 15.2% with it</a:t>
            </a:r>
            <a:endParaRPr lang="en-US" sz="1800" dirty="0"/>
          </a:p>
        </p:txBody>
      </p:sp>
      <p:sp>
        <p:nvSpPr>
          <p:cNvPr id="6" name="Shape 4"/>
          <p:cNvSpPr/>
          <p:nvPr/>
        </p:nvSpPr>
        <p:spPr>
          <a:xfrm>
            <a:off x="4663440" y="1417320"/>
            <a:ext cx="4023360" cy="2697480"/>
          </a:xfrm>
          <a:prstGeom prst="roundRect">
            <a:avLst>
              <a:gd name="adj" fmla="val 2712"/>
            </a:avLst>
          </a:prstGeom>
          <a:solidFill>
            <a:srgbClr val="F2F4F7"/>
          </a:solidFill>
          <a:ln w="12700">
            <a:solidFill>
              <a:srgbClr val="F2F4F7"/>
            </a:solidFill>
            <a:prstDash val="solid"/>
          </a:ln>
        </p:spPr>
        <p:txBody>
          <a:bodyPr/>
          <a:lstStyle/>
          <a:p>
            <a:endParaRPr lang="en-IN"/>
          </a:p>
        </p:txBody>
      </p:sp>
      <p:sp>
        <p:nvSpPr>
          <p:cNvPr id="7" name="Text 5"/>
          <p:cNvSpPr txBox="1"/>
          <p:nvPr/>
        </p:nvSpPr>
        <p:spPr>
          <a:xfrm>
            <a:off x="4892040" y="1554480"/>
            <a:ext cx="3657600" cy="2468880"/>
          </a:xfrm>
          <a:prstGeom prst="rect">
            <a:avLst/>
          </a:prstGeom>
          <a:noFill/>
          <a:ln/>
        </p:spPr>
        <p:txBody>
          <a:bodyPr wrap="square" lIns="0" tIns="0" rIns="0" bIns="0" rtlCol="0" anchor="t"/>
          <a:lstStyle/>
          <a:p>
            <a:pPr marL="0" indent="0">
              <a:spcAft>
                <a:spcPts val="800"/>
              </a:spcAft>
              <a:buNone/>
            </a:pPr>
            <a:r>
              <a:rPr lang="en-US" sz="1800" b="1" dirty="0">
                <a:solidFill>
                  <a:srgbClr val="1F3864"/>
                </a:solidFill>
                <a:latin typeface="Arial" pitchFamily="34" charset="0"/>
                <a:ea typeface="Arial" pitchFamily="34" charset="-122"/>
                <a:cs typeface="Arial" pitchFamily="34" charset="-120"/>
              </a:rPr>
              <a:t>Recommendations</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Offer incentives for one- and two-year contracts</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Focus on onboarding and early support in year one</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Review fiber optic service quality and pricing</a:t>
            </a:r>
            <a:endParaRPr lang="en-US" sz="1800" dirty="0"/>
          </a:p>
          <a:p>
            <a:pPr marL="342900" indent="-342900">
              <a:spcAft>
                <a:spcPts val="600"/>
              </a:spcAft>
              <a:buSzPct val="100000"/>
              <a:buChar char="•"/>
            </a:pPr>
            <a:r>
              <a:rPr lang="en-US" sz="1400" dirty="0">
                <a:solidFill>
                  <a:srgbClr val="262626"/>
                </a:solidFill>
                <a:latin typeface="Arial" pitchFamily="34" charset="0"/>
                <a:ea typeface="Arial" pitchFamily="34" charset="-122"/>
                <a:cs typeface="Arial" pitchFamily="34" charset="-120"/>
              </a:rPr>
              <a:t>Promote tech support to customers without it</a:t>
            </a:r>
            <a:endParaRPr lang="en-US" sz="1800" dirty="0"/>
          </a:p>
        </p:txBody>
      </p:sp>
      <p:sp>
        <p:nvSpPr>
          <p:cNvPr id="8" name="Shape 6"/>
          <p:cNvSpPr/>
          <p:nvPr/>
        </p:nvSpPr>
        <p:spPr>
          <a:xfrm>
            <a:off x="457200" y="4297680"/>
            <a:ext cx="8229600" cy="731520"/>
          </a:xfrm>
          <a:prstGeom prst="roundRect">
            <a:avLst>
              <a:gd name="adj" fmla="val 10000"/>
            </a:avLst>
          </a:prstGeom>
          <a:solidFill>
            <a:srgbClr val="F2F4F7"/>
          </a:solidFill>
          <a:ln w="12700">
            <a:solidFill>
              <a:srgbClr val="F2F4F7"/>
            </a:solidFill>
            <a:prstDash val="solid"/>
          </a:ln>
        </p:spPr>
        <p:txBody>
          <a:bodyPr/>
          <a:lstStyle/>
          <a:p>
            <a:endParaRPr lang="en-IN"/>
          </a:p>
        </p:txBody>
      </p:sp>
      <p:sp>
        <p:nvSpPr>
          <p:cNvPr id="9" name="Text 7"/>
          <p:cNvSpPr txBox="1"/>
          <p:nvPr/>
        </p:nvSpPr>
        <p:spPr>
          <a:xfrm>
            <a:off x="685800" y="4297680"/>
            <a:ext cx="7772400" cy="731520"/>
          </a:xfrm>
          <a:prstGeom prst="rect">
            <a:avLst/>
          </a:prstGeom>
          <a:noFill/>
          <a:ln/>
        </p:spPr>
        <p:txBody>
          <a:bodyPr wrap="square" lIns="0" tIns="0" rIns="0" bIns="0" rtlCol="0" anchor="ctr"/>
          <a:lstStyle/>
          <a:p>
            <a:pPr marL="0" indent="0">
              <a:buNone/>
            </a:pPr>
            <a:r>
              <a:rPr lang="en-US" sz="1400" b="1" dirty="0">
                <a:solidFill>
                  <a:srgbClr val="1F3864"/>
                </a:solidFill>
                <a:latin typeface="Arial" pitchFamily="34" charset="0"/>
                <a:ea typeface="Arial" pitchFamily="34" charset="-122"/>
                <a:cs typeface="Arial" pitchFamily="34" charset="-120"/>
              </a:rPr>
              <a:t>Limitations: results show associations, not causes. Single-factor comparisons do not control for other variables. The data is one snapshot in time.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46</TotalTime>
  <Words>1467</Words>
  <Application>Microsoft Office PowerPoint</Application>
  <PresentationFormat>On-screen Show (16:9)</PresentationFormat>
  <Paragraphs>152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Analysis</dc:title>
  <dc:subject>PptxGenJS Presentation</dc:subject>
  <dc:creator>PptxGenJS</dc:creator>
  <cp:lastModifiedBy>khush talera</cp:lastModifiedBy>
  <cp:revision>3</cp:revision>
  <dcterms:created xsi:type="dcterms:W3CDTF">2026-10-27T13:18:41Z</dcterms:created>
  <dcterms:modified xsi:type="dcterms:W3CDTF">2026-10-28T04:57:17Z</dcterms:modified>
</cp:coreProperties>
</file>