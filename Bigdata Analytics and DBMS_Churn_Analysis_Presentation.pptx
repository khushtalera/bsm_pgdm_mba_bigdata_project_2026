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charts/chart2.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2.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3.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notesSlides/notesSlide14.xml" ContentType="application/vnd.openxmlformats-officedocument.presentationml.notesSlide+xml"/>
  <Override PartName="/ppt/charts/chart12.xml" ContentType="application/vnd.openxmlformats-officedocument.drawingml.chart+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5A07313-C251-45A9-5F85-DDFE5BD7F042}">
          <p14:sldIdLst>
            <p14:sldId id="256"/>
          </p14:sldIdLst>
        </p14:section>
        <p14:section name="Data and workflow" id="{6ED5E210-EE14-397B-674E-2A3CD03F5915}">
          <p14:sldIdLst>
            <p14:sldId id="257"/>
            <p14:sldId id="258"/>
          </p14:sldIdLst>
        </p14:section>
        <p14:section name="Tools and preparation" id="{2120F0F7-580A-E5A4-C71C-49739C4E3F0D}">
          <p14:sldIdLst>
            <p14:sldId id="259"/>
            <p14:sldId id="260"/>
            <p14:sldId id="261"/>
          </p14:sldIdLst>
        </p14:section>
        <p14:section name="Code and queries" id="{8692390C-052F-3CDE-1787-4C9DA0A073B8}">
          <p14:sldIdLst>
            <p14:sldId id="262"/>
            <p14:sldId id="263"/>
            <p14:sldId id="264"/>
          </p14:sldIdLst>
        </p14:section>
        <p14:section name="Analysis" id="{12714DFD-AD7B-A712-909A-B9E12EEA3497}">
          <p14:sldIdLst>
            <p14:sldId id="265"/>
            <p14:sldId id="266"/>
            <p14:sldId id="267"/>
          </p14:sldIdLst>
        </p14:section>
        <p14:section name="Dashboard and wrap-up" id="{BC4F7E8D-BA28-1484-2B97-28DC548C06D3}">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Customers</c:v>
                </c:pt>
              </c:strCache>
            </c:strRef>
          </c:tx>
          <c:spPr>
            <a:solidFill>
              <a:schemeClr val="accent1"/>
            </a:solidFill>
            <a:ln w="9525" cap="flat">
              <a:solidFill>
                <a:srgbClr val="F9F9F9"/>
              </a:solidFill>
              <a:prstDash val="solid"/>
              <a:round/>
            </a:ln>
            <a:effectLst/>
          </c:spPr>
          <c:dPt>
            <c:idx val="0"/>
            <c:bubble3D val="0"/>
            <c:spPr>
              <a:solidFill>
                <a:srgbClr val="19B3A1"/>
              </a:solidFill>
              <a:ln w="38100" cap="flat">
                <a:solidFill>
                  <a:srgbClr val="2A3B6B"/>
                </a:solidFill>
                <a:prstDash val="solid"/>
                <a:round/>
              </a:ln>
              <a:effectLst/>
            </c:spPr>
            <c:extLst>
              <c:ext xmlns:c16="http://schemas.microsoft.com/office/drawing/2014/chart" uri="{C3380CC4-5D6E-409C-BE32-E72D297353CC}">
                <c16:uniqueId val="{00000001-DF14-4761-B215-A12E3C2FDE27}"/>
              </c:ext>
            </c:extLst>
          </c:dPt>
          <c:dPt>
            <c:idx val="1"/>
            <c:bubble3D val="0"/>
            <c:spPr>
              <a:solidFill>
                <a:srgbClr val="FF5C4D"/>
              </a:solidFill>
              <a:ln w="38100" cap="flat">
                <a:solidFill>
                  <a:srgbClr val="2A3B6B"/>
                </a:solidFill>
                <a:prstDash val="solid"/>
                <a:round/>
              </a:ln>
              <a:effectLst/>
            </c:spPr>
            <c:extLst>
              <c:ext xmlns:c16="http://schemas.microsoft.com/office/drawing/2014/chart" uri="{C3380CC4-5D6E-409C-BE32-E72D297353CC}">
                <c16:uniqueId val="{00000003-DF14-4761-B215-A12E3C2FDE27}"/>
              </c:ext>
            </c:extLst>
          </c:dPt>
          <c:cat>
            <c:strRef>
              <c:f>Sheet1!$A$2:$A$3</c:f>
              <c:strCache>
                <c:ptCount val="2"/>
                <c:pt idx="0">
                  <c:v>Stayed</c:v>
                </c:pt>
                <c:pt idx="1">
                  <c:v>Churned</c:v>
                </c:pt>
              </c:strCache>
            </c:strRef>
          </c:cat>
          <c:val>
            <c:numRef>
              <c:f>Sheet1!$B$2:$B$3</c:f>
              <c:numCache>
                <c:formatCode>General</c:formatCode>
                <c:ptCount val="2"/>
                <c:pt idx="0">
                  <c:v>5174</c:v>
                </c:pt>
                <c:pt idx="1">
                  <c:v>1869</c:v>
                </c:pt>
              </c:numCache>
            </c:numRef>
          </c:val>
          <c:extLst>
            <c:ext xmlns:c16="http://schemas.microsoft.com/office/drawing/2014/chart" uri="{C3380CC4-5D6E-409C-BE32-E72D297353CC}">
              <c16:uniqueId val="{00000004-DF14-4761-B215-A12E3C2FDE27}"/>
            </c:ext>
          </c:extLst>
        </c:ser>
        <c:dLbls>
          <c:showLegendKey val="0"/>
          <c:showVal val="0"/>
          <c:showCatName val="0"/>
          <c:showSerName val="0"/>
          <c:showPercent val="0"/>
          <c:showBubbleSize val="0"/>
          <c:showLeaderLines val="0"/>
        </c:dLbls>
        <c:firstSliceAng val="0"/>
        <c:holeSize val="7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Customers</c:v>
                </c:pt>
              </c:strCache>
            </c:strRef>
          </c:tx>
          <c:spPr>
            <a:solidFill>
              <a:schemeClr val="accent1"/>
            </a:solidFill>
            <a:ln w="9525" cap="flat">
              <a:solidFill>
                <a:srgbClr val="F9F9F9"/>
              </a:solidFill>
              <a:prstDash val="solid"/>
              <a:round/>
            </a:ln>
            <a:effectLst/>
          </c:spPr>
          <c:dPt>
            <c:idx val="0"/>
            <c:bubble3D val="0"/>
            <c:spPr>
              <a:solidFill>
                <a:srgbClr val="19B3A1"/>
              </a:solidFill>
              <a:ln w="38100" cap="flat">
                <a:solidFill>
                  <a:srgbClr val="F1F4FA"/>
                </a:solidFill>
                <a:prstDash val="solid"/>
                <a:round/>
              </a:ln>
              <a:effectLst/>
            </c:spPr>
            <c:extLst>
              <c:ext xmlns:c16="http://schemas.microsoft.com/office/drawing/2014/chart" uri="{C3380CC4-5D6E-409C-BE32-E72D297353CC}">
                <c16:uniqueId val="{00000001-4EF7-46B4-A3AA-921A4364120B}"/>
              </c:ext>
            </c:extLst>
          </c:dPt>
          <c:dPt>
            <c:idx val="1"/>
            <c:bubble3D val="0"/>
            <c:spPr>
              <a:solidFill>
                <a:srgbClr val="FF5C4D"/>
              </a:solidFill>
              <a:ln w="38100" cap="flat">
                <a:solidFill>
                  <a:srgbClr val="F1F4FA"/>
                </a:solidFill>
                <a:prstDash val="solid"/>
                <a:round/>
              </a:ln>
              <a:effectLst/>
            </c:spPr>
            <c:extLst>
              <c:ext xmlns:c16="http://schemas.microsoft.com/office/drawing/2014/chart" uri="{C3380CC4-5D6E-409C-BE32-E72D297353CC}">
                <c16:uniqueId val="{00000003-4EF7-46B4-A3AA-921A4364120B}"/>
              </c:ext>
            </c:extLst>
          </c:dPt>
          <c:cat>
            <c:strRef>
              <c:f>Sheet1!$A$2:$A$3</c:f>
              <c:strCache>
                <c:ptCount val="2"/>
                <c:pt idx="0">
                  <c:v>Stayed</c:v>
                </c:pt>
                <c:pt idx="1">
                  <c:v>Churned</c:v>
                </c:pt>
              </c:strCache>
            </c:strRef>
          </c:cat>
          <c:val>
            <c:numRef>
              <c:f>Sheet1!$B$2:$B$3</c:f>
              <c:numCache>
                <c:formatCode>General</c:formatCode>
                <c:ptCount val="2"/>
                <c:pt idx="0">
                  <c:v>5174</c:v>
                </c:pt>
                <c:pt idx="1">
                  <c:v>1869</c:v>
                </c:pt>
              </c:numCache>
            </c:numRef>
          </c:val>
          <c:extLst>
            <c:ext xmlns:c16="http://schemas.microsoft.com/office/drawing/2014/chart" uri="{C3380CC4-5D6E-409C-BE32-E72D297353CC}">
              <c16:uniqueId val="{00000004-4EF7-46B4-A3AA-921A4364120B}"/>
            </c:ext>
          </c:extLst>
        </c:ser>
        <c:dLbls>
          <c:showLegendKey val="0"/>
          <c:showVal val="0"/>
          <c:showCatName val="0"/>
          <c:showSerName val="0"/>
          <c:showPercent val="0"/>
          <c:showBubbleSize val="0"/>
          <c:showLeaderLines val="0"/>
        </c:dLbls>
        <c:firstSliceAng val="0"/>
        <c:holeSize val="68"/>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Churn rate</c:v>
                </c:pt>
              </c:strCache>
            </c:strRef>
          </c:tx>
          <c:spPr>
            <a:solidFill>
              <a:srgbClr val="B9C2DD"/>
            </a:solidFill>
            <a:effectLst/>
          </c:spPr>
          <c:invertIfNegative val="0"/>
          <c:dPt>
            <c:idx val="0"/>
            <c:invertIfNegative val="0"/>
            <c:bubble3D val="0"/>
            <c:extLst>
              <c:ext xmlns:c16="http://schemas.microsoft.com/office/drawing/2014/chart" uri="{C3380CC4-5D6E-409C-BE32-E72D297353CC}">
                <c16:uniqueId val="{00000001-A3A0-4508-8040-820A57F0610D}"/>
              </c:ext>
            </c:extLst>
          </c:dPt>
          <c:dPt>
            <c:idx val="1"/>
            <c:invertIfNegative val="0"/>
            <c:bubble3D val="0"/>
            <c:extLst>
              <c:ext xmlns:c16="http://schemas.microsoft.com/office/drawing/2014/chart" uri="{C3380CC4-5D6E-409C-BE32-E72D297353CC}">
                <c16:uniqueId val="{00000003-A3A0-4508-8040-820A57F0610D}"/>
              </c:ext>
            </c:extLst>
          </c:dPt>
          <c:dPt>
            <c:idx val="2"/>
            <c:invertIfNegative val="0"/>
            <c:bubble3D val="0"/>
            <c:spPr>
              <a:solidFill>
                <a:srgbClr val="FF5C4D"/>
              </a:solidFill>
              <a:effectLst/>
            </c:spPr>
            <c:extLst>
              <c:ext xmlns:c16="http://schemas.microsoft.com/office/drawing/2014/chart" uri="{C3380CC4-5D6E-409C-BE32-E72D297353CC}">
                <c16:uniqueId val="{00000005-A3A0-4508-8040-820A57F0610D}"/>
              </c:ext>
            </c:extLst>
          </c:dPt>
          <c:dLbls>
            <c:numFmt formatCode="0.0&quot;%&quot;" sourceLinked="0"/>
            <c:spPr>
              <a:noFill/>
              <a:ln>
                <a:noFill/>
              </a:ln>
              <a:effectLst/>
            </c:spPr>
            <c:txPr>
              <a:bodyPr/>
              <a:lstStyle/>
              <a:p>
                <a:pPr>
                  <a:defRPr sz="1400" b="1" i="0" u="none" strike="noStrike">
                    <a:solidFill>
                      <a:srgbClr val="0B15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Two year</c:v>
                </c:pt>
                <c:pt idx="1">
                  <c:v>One year</c:v>
                </c:pt>
                <c:pt idx="2">
                  <c:v>Month-to-month</c:v>
                </c:pt>
              </c:strCache>
            </c:strRef>
          </c:cat>
          <c:val>
            <c:numRef>
              <c:f>Sheet1!$B$2:$B$4</c:f>
              <c:numCache>
                <c:formatCode>General</c:formatCode>
                <c:ptCount val="3"/>
                <c:pt idx="0">
                  <c:v>2.8</c:v>
                </c:pt>
                <c:pt idx="1">
                  <c:v>11.3</c:v>
                </c:pt>
                <c:pt idx="2">
                  <c:v>42.7</c:v>
                </c:pt>
              </c:numCache>
            </c:numRef>
          </c:val>
          <c:extLst>
            <c:ext xmlns:c16="http://schemas.microsoft.com/office/drawing/2014/chart" uri="{C3380CC4-5D6E-409C-BE32-E72D297353CC}">
              <c16:uniqueId val="{00000006-A3A0-4508-8040-820A57F0610D}"/>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6264F"/>
                </a:solidFill>
                <a:latin typeface="+mn-lt"/>
              </a:defRPr>
            </a:pPr>
            <a:endParaRPr lang="en-US"/>
          </a:p>
        </c:txPr>
        <c:crossAx val="2094734552"/>
        <c:crosses val="autoZero"/>
        <c:auto val="1"/>
        <c:lblAlgn val="ctr"/>
        <c:lblOffset val="100"/>
        <c:noMultiLvlLbl val="1"/>
      </c:catAx>
      <c:valAx>
        <c:axId val="2094734552"/>
        <c:scaling>
          <c:orientation val="minMax"/>
          <c:max val="52"/>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Churn rate</c:v>
                </c:pt>
              </c:strCache>
            </c:strRef>
          </c:tx>
          <c:spPr>
            <a:solidFill>
              <a:srgbClr val="B9C2DD"/>
            </a:solidFill>
            <a:effectLst/>
          </c:spPr>
          <c:invertIfNegative val="0"/>
          <c:dPt>
            <c:idx val="0"/>
            <c:invertIfNegative val="0"/>
            <c:bubble3D val="0"/>
            <c:extLst>
              <c:ext xmlns:c16="http://schemas.microsoft.com/office/drawing/2014/chart" uri="{C3380CC4-5D6E-409C-BE32-E72D297353CC}">
                <c16:uniqueId val="{00000001-DDCB-47B3-8A07-2670A5D41F25}"/>
              </c:ext>
            </c:extLst>
          </c:dPt>
          <c:dPt>
            <c:idx val="1"/>
            <c:invertIfNegative val="0"/>
            <c:bubble3D val="0"/>
            <c:extLst>
              <c:ext xmlns:c16="http://schemas.microsoft.com/office/drawing/2014/chart" uri="{C3380CC4-5D6E-409C-BE32-E72D297353CC}">
                <c16:uniqueId val="{00000003-DDCB-47B3-8A07-2670A5D41F25}"/>
              </c:ext>
            </c:extLst>
          </c:dPt>
          <c:dPt>
            <c:idx val="2"/>
            <c:invertIfNegative val="0"/>
            <c:bubble3D val="0"/>
            <c:spPr>
              <a:solidFill>
                <a:srgbClr val="FF5C4D"/>
              </a:solidFill>
              <a:effectLst/>
            </c:spPr>
            <c:extLst>
              <c:ext xmlns:c16="http://schemas.microsoft.com/office/drawing/2014/chart" uri="{C3380CC4-5D6E-409C-BE32-E72D297353CC}">
                <c16:uniqueId val="{00000005-DDCB-47B3-8A07-2670A5D41F25}"/>
              </c:ext>
            </c:extLst>
          </c:dPt>
          <c:dLbls>
            <c:numFmt formatCode="0.0&quot;%&quot;" sourceLinked="0"/>
            <c:spPr>
              <a:noFill/>
              <a:ln>
                <a:noFill/>
              </a:ln>
              <a:effectLst/>
            </c:spPr>
            <c:txPr>
              <a:bodyPr/>
              <a:lstStyle/>
              <a:p>
                <a:pPr>
                  <a:defRPr sz="1400" b="1" i="0" u="none" strike="noStrike">
                    <a:solidFill>
                      <a:srgbClr val="0B15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 internet service</c:v>
                </c:pt>
                <c:pt idx="1">
                  <c:v>DSL</c:v>
                </c:pt>
                <c:pt idx="2">
                  <c:v>Fiber optic</c:v>
                </c:pt>
              </c:strCache>
            </c:strRef>
          </c:cat>
          <c:val>
            <c:numRef>
              <c:f>Sheet1!$B$2:$B$4</c:f>
              <c:numCache>
                <c:formatCode>General</c:formatCode>
                <c:ptCount val="3"/>
                <c:pt idx="0">
                  <c:v>7.4</c:v>
                </c:pt>
                <c:pt idx="1">
                  <c:v>19</c:v>
                </c:pt>
                <c:pt idx="2">
                  <c:v>41.9</c:v>
                </c:pt>
              </c:numCache>
            </c:numRef>
          </c:val>
          <c:extLst>
            <c:ext xmlns:c16="http://schemas.microsoft.com/office/drawing/2014/chart" uri="{C3380CC4-5D6E-409C-BE32-E72D297353CC}">
              <c16:uniqueId val="{00000006-DDCB-47B3-8A07-2670A5D41F25}"/>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6264F"/>
                </a:solidFill>
                <a:latin typeface="+mn-lt"/>
              </a:defRPr>
            </a:pPr>
            <a:endParaRPr lang="en-US"/>
          </a:p>
        </c:txPr>
        <c:crossAx val="2094734552"/>
        <c:crosses val="autoZero"/>
        <c:auto val="1"/>
        <c:lblAlgn val="ctr"/>
        <c:lblOffset val="100"/>
        <c:noMultiLvlLbl val="1"/>
      </c:catAx>
      <c:valAx>
        <c:axId val="2094734552"/>
        <c:scaling>
          <c:orientation val="minMax"/>
          <c:max val="52"/>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Churn rate</c:v>
                </c:pt>
              </c:strCache>
            </c:strRef>
          </c:tx>
          <c:spPr>
            <a:solidFill>
              <a:srgbClr val="B9C2DD"/>
            </a:solidFill>
            <a:effectLst/>
          </c:spPr>
          <c:invertIfNegative val="0"/>
          <c:dPt>
            <c:idx val="0"/>
            <c:invertIfNegative val="0"/>
            <c:bubble3D val="0"/>
            <c:extLst>
              <c:ext xmlns:c16="http://schemas.microsoft.com/office/drawing/2014/chart" uri="{C3380CC4-5D6E-409C-BE32-E72D297353CC}">
                <c16:uniqueId val="{00000001-D274-49F8-994E-D36C68887618}"/>
              </c:ext>
            </c:extLst>
          </c:dPt>
          <c:dPt>
            <c:idx val="1"/>
            <c:invertIfNegative val="0"/>
            <c:bubble3D val="0"/>
            <c:extLst>
              <c:ext xmlns:c16="http://schemas.microsoft.com/office/drawing/2014/chart" uri="{C3380CC4-5D6E-409C-BE32-E72D297353CC}">
                <c16:uniqueId val="{00000003-D274-49F8-994E-D36C68887618}"/>
              </c:ext>
            </c:extLst>
          </c:dPt>
          <c:dPt>
            <c:idx val="2"/>
            <c:invertIfNegative val="0"/>
            <c:bubble3D val="0"/>
            <c:extLst>
              <c:ext xmlns:c16="http://schemas.microsoft.com/office/drawing/2014/chart" uri="{C3380CC4-5D6E-409C-BE32-E72D297353CC}">
                <c16:uniqueId val="{00000005-D274-49F8-994E-D36C68887618}"/>
              </c:ext>
            </c:extLst>
          </c:dPt>
          <c:dPt>
            <c:idx val="3"/>
            <c:invertIfNegative val="0"/>
            <c:bubble3D val="0"/>
            <c:spPr>
              <a:solidFill>
                <a:srgbClr val="FF5C4D"/>
              </a:solidFill>
              <a:effectLst/>
            </c:spPr>
            <c:extLst>
              <c:ext xmlns:c16="http://schemas.microsoft.com/office/drawing/2014/chart" uri="{C3380CC4-5D6E-409C-BE32-E72D297353CC}">
                <c16:uniqueId val="{00000007-D274-49F8-994E-D36C68887618}"/>
              </c:ext>
            </c:extLst>
          </c:dPt>
          <c:dLbls>
            <c:numFmt formatCode="0.0&quot;%&quot;" sourceLinked="0"/>
            <c:spPr>
              <a:noFill/>
              <a:ln>
                <a:noFill/>
              </a:ln>
              <a:effectLst/>
            </c:spPr>
            <c:txPr>
              <a:bodyPr/>
              <a:lstStyle/>
              <a:p>
                <a:pPr>
                  <a:defRPr sz="1400" b="1" i="0" u="none" strike="noStrike">
                    <a:solidFill>
                      <a:srgbClr val="0B15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Credit card (auto)</c:v>
                </c:pt>
                <c:pt idx="1">
                  <c:v>Bank transfer (auto)</c:v>
                </c:pt>
                <c:pt idx="2">
                  <c:v>Mailed check</c:v>
                </c:pt>
                <c:pt idx="3">
                  <c:v>Electronic check</c:v>
                </c:pt>
              </c:strCache>
            </c:strRef>
          </c:cat>
          <c:val>
            <c:numRef>
              <c:f>Sheet1!$B$2:$B$5</c:f>
              <c:numCache>
                <c:formatCode>General</c:formatCode>
                <c:ptCount val="4"/>
                <c:pt idx="0">
                  <c:v>15.2</c:v>
                </c:pt>
                <c:pt idx="1">
                  <c:v>16.7</c:v>
                </c:pt>
                <c:pt idx="2">
                  <c:v>19.100000000000001</c:v>
                </c:pt>
                <c:pt idx="3">
                  <c:v>45.3</c:v>
                </c:pt>
              </c:numCache>
            </c:numRef>
          </c:val>
          <c:extLst>
            <c:ext xmlns:c16="http://schemas.microsoft.com/office/drawing/2014/chart" uri="{C3380CC4-5D6E-409C-BE32-E72D297353CC}">
              <c16:uniqueId val="{00000008-D274-49F8-994E-D36C68887618}"/>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6264F"/>
                </a:solidFill>
                <a:latin typeface="+mn-lt"/>
              </a:defRPr>
            </a:pPr>
            <a:endParaRPr lang="en-US"/>
          </a:p>
        </c:txPr>
        <c:crossAx val="2094734552"/>
        <c:crosses val="autoZero"/>
        <c:auto val="1"/>
        <c:lblAlgn val="ctr"/>
        <c:lblOffset val="100"/>
        <c:noMultiLvlLbl val="1"/>
      </c:catAx>
      <c:valAx>
        <c:axId val="2094734552"/>
        <c:scaling>
          <c:orientation val="minMax"/>
          <c:max val="56"/>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Churn rate</c:v>
                </c:pt>
              </c:strCache>
            </c:strRef>
          </c:tx>
          <c:spPr>
            <a:ln w="50800" cap="flat">
              <a:solidFill>
                <a:srgbClr val="FF5C4D"/>
              </a:solidFill>
              <a:prstDash val="solid"/>
              <a:round/>
            </a:ln>
            <a:effectLst/>
          </c:spPr>
          <c:marker>
            <c:symbol val="circle"/>
            <c:size val="11"/>
            <c:spPr>
              <a:solidFill>
                <a:srgbClr val="FF5C4D"/>
              </a:solidFill>
              <a:ln w="9525" cap="flat">
                <a:solidFill>
                  <a:srgbClr val="FF5C4D"/>
                </a:solidFill>
                <a:prstDash val="solid"/>
                <a:round/>
              </a:ln>
              <a:effectLst/>
            </c:spPr>
          </c:marker>
          <c:dLbls>
            <c:numFmt formatCode="0.0&quot;%&quot;" sourceLinked="0"/>
            <c:spPr>
              <a:noFill/>
              <a:ln>
                <a:noFill/>
              </a:ln>
              <a:effectLst/>
            </c:spPr>
            <c:txPr>
              <a:bodyPr/>
              <a:lstStyle/>
              <a:p>
                <a:pPr>
                  <a:defRPr sz="1400" b="1" i="0" u="none" strike="noStrike">
                    <a:solidFill>
                      <a:srgbClr val="0B1530"/>
                    </a:solidFill>
                    <a:latin typeface="+mn-lt"/>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0-12</c:v>
                </c:pt>
                <c:pt idx="1">
                  <c:v>13-24</c:v>
                </c:pt>
                <c:pt idx="2">
                  <c:v>25-48</c:v>
                </c:pt>
                <c:pt idx="3">
                  <c:v>49-72</c:v>
                </c:pt>
              </c:strCache>
            </c:strRef>
          </c:cat>
          <c:val>
            <c:numRef>
              <c:f>Sheet1!$B$2:$B$5</c:f>
              <c:numCache>
                <c:formatCode>General</c:formatCode>
                <c:ptCount val="4"/>
                <c:pt idx="0">
                  <c:v>47.4</c:v>
                </c:pt>
                <c:pt idx="1">
                  <c:v>28.7</c:v>
                </c:pt>
                <c:pt idx="2">
                  <c:v>20.399999999999999</c:v>
                </c:pt>
                <c:pt idx="3">
                  <c:v>9.5</c:v>
                </c:pt>
              </c:numCache>
            </c:numRef>
          </c:val>
          <c:smooth val="0"/>
          <c:extLst>
            <c:ext xmlns:c16="http://schemas.microsoft.com/office/drawing/2014/chart" uri="{C3380CC4-5D6E-409C-BE32-E72D297353CC}">
              <c16:uniqueId val="{00000000-2AD2-46D2-AA82-1EF053D9EB15}"/>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16264F"/>
                </a:solidFill>
                <a:latin typeface="+mn-lt"/>
              </a:defRPr>
            </a:pPr>
            <a:endParaRPr lang="en-US"/>
          </a:p>
        </c:txPr>
        <c:crossAx val="2094734552"/>
        <c:crosses val="autoZero"/>
        <c:auto val="1"/>
        <c:lblAlgn val="ctr"/>
        <c:lblOffset val="100"/>
        <c:noMultiLvlLbl val="1"/>
      </c:catAx>
      <c:valAx>
        <c:axId val="2094734552"/>
        <c:scaling>
          <c:orientation val="minMax"/>
          <c:max val="6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Churn rate</c:v>
                </c:pt>
              </c:strCache>
            </c:strRef>
          </c:tx>
          <c:spPr>
            <a:solidFill>
              <a:srgbClr val="B9C2DD"/>
            </a:solidFill>
            <a:effectLst/>
          </c:spPr>
          <c:invertIfNegative val="0"/>
          <c:dPt>
            <c:idx val="0"/>
            <c:invertIfNegative val="0"/>
            <c:bubble3D val="0"/>
            <c:extLst>
              <c:ext xmlns:c16="http://schemas.microsoft.com/office/drawing/2014/chart" uri="{C3380CC4-5D6E-409C-BE32-E72D297353CC}">
                <c16:uniqueId val="{00000001-95CB-4326-8424-C6C8CD4E35F1}"/>
              </c:ext>
            </c:extLst>
          </c:dPt>
          <c:dPt>
            <c:idx val="1"/>
            <c:invertIfNegative val="0"/>
            <c:bubble3D val="0"/>
            <c:extLst>
              <c:ext xmlns:c16="http://schemas.microsoft.com/office/drawing/2014/chart" uri="{C3380CC4-5D6E-409C-BE32-E72D297353CC}">
                <c16:uniqueId val="{00000003-95CB-4326-8424-C6C8CD4E35F1}"/>
              </c:ext>
            </c:extLst>
          </c:dPt>
          <c:dPt>
            <c:idx val="2"/>
            <c:invertIfNegative val="0"/>
            <c:bubble3D val="0"/>
            <c:spPr>
              <a:solidFill>
                <a:srgbClr val="FF5C4D"/>
              </a:solidFill>
              <a:effectLst/>
            </c:spPr>
            <c:extLst>
              <c:ext xmlns:c16="http://schemas.microsoft.com/office/drawing/2014/chart" uri="{C3380CC4-5D6E-409C-BE32-E72D297353CC}">
                <c16:uniqueId val="{00000005-95CB-4326-8424-C6C8CD4E35F1}"/>
              </c:ext>
            </c:extLst>
          </c:dPt>
          <c:dLbls>
            <c:numFmt formatCode="0.0&quot;%&quot;" sourceLinked="0"/>
            <c:spPr>
              <a:noFill/>
              <a:ln>
                <a:noFill/>
              </a:ln>
              <a:effectLst/>
            </c:spPr>
            <c:txPr>
              <a:bodyPr/>
              <a:lstStyle/>
              <a:p>
                <a:pPr>
                  <a:defRPr sz="1400" b="1" i="0" u="none" strike="noStrike">
                    <a:solidFill>
                      <a:srgbClr val="0B15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 internet service</c:v>
                </c:pt>
                <c:pt idx="1">
                  <c:v>Has tech support</c:v>
                </c:pt>
                <c:pt idx="2">
                  <c:v>No tech support</c:v>
                </c:pt>
              </c:strCache>
            </c:strRef>
          </c:cat>
          <c:val>
            <c:numRef>
              <c:f>Sheet1!$B$2:$B$4</c:f>
              <c:numCache>
                <c:formatCode>General</c:formatCode>
                <c:ptCount val="3"/>
                <c:pt idx="0">
                  <c:v>7.4</c:v>
                </c:pt>
                <c:pt idx="1">
                  <c:v>15.2</c:v>
                </c:pt>
                <c:pt idx="2">
                  <c:v>41.6</c:v>
                </c:pt>
              </c:numCache>
            </c:numRef>
          </c:val>
          <c:extLst>
            <c:ext xmlns:c16="http://schemas.microsoft.com/office/drawing/2014/chart" uri="{C3380CC4-5D6E-409C-BE32-E72D297353CC}">
              <c16:uniqueId val="{00000006-95CB-4326-8424-C6C8CD4E35F1}"/>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6264F"/>
                </a:solidFill>
                <a:latin typeface="+mn-lt"/>
              </a:defRPr>
            </a:pPr>
            <a:endParaRPr lang="en-US"/>
          </a:p>
        </c:txPr>
        <c:crossAx val="2094734552"/>
        <c:crosses val="autoZero"/>
        <c:auto val="1"/>
        <c:lblAlgn val="ctr"/>
        <c:lblOffset val="100"/>
        <c:noMultiLvlLbl val="1"/>
      </c:catAx>
      <c:valAx>
        <c:axId val="2094734552"/>
        <c:scaling>
          <c:orientation val="minMax"/>
          <c:max val="52"/>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Churn rate</c:v>
                </c:pt>
              </c:strCache>
            </c:strRef>
          </c:tx>
          <c:spPr>
            <a:solidFill>
              <a:srgbClr val="B9C2DD"/>
            </a:solidFill>
            <a:effectLst/>
          </c:spPr>
          <c:invertIfNegative val="0"/>
          <c:dPt>
            <c:idx val="0"/>
            <c:invertIfNegative val="0"/>
            <c:bubble3D val="0"/>
            <c:extLst>
              <c:ext xmlns:c16="http://schemas.microsoft.com/office/drawing/2014/chart" uri="{C3380CC4-5D6E-409C-BE32-E72D297353CC}">
                <c16:uniqueId val="{00000001-6652-42AD-81EE-F5545A900BCB}"/>
              </c:ext>
            </c:extLst>
          </c:dPt>
          <c:dPt>
            <c:idx val="1"/>
            <c:invertIfNegative val="0"/>
            <c:bubble3D val="0"/>
            <c:extLst>
              <c:ext xmlns:c16="http://schemas.microsoft.com/office/drawing/2014/chart" uri="{C3380CC4-5D6E-409C-BE32-E72D297353CC}">
                <c16:uniqueId val="{00000003-6652-42AD-81EE-F5545A900BCB}"/>
              </c:ext>
            </c:extLst>
          </c:dPt>
          <c:dPt>
            <c:idx val="2"/>
            <c:invertIfNegative val="0"/>
            <c:bubble3D val="0"/>
            <c:spPr>
              <a:solidFill>
                <a:srgbClr val="FF5C4D"/>
              </a:solidFill>
              <a:effectLst/>
            </c:spPr>
            <c:extLst>
              <c:ext xmlns:c16="http://schemas.microsoft.com/office/drawing/2014/chart" uri="{C3380CC4-5D6E-409C-BE32-E72D297353CC}">
                <c16:uniqueId val="{00000005-6652-42AD-81EE-F5545A900BCB}"/>
              </c:ext>
            </c:extLst>
          </c:dPt>
          <c:dLbls>
            <c:numFmt formatCode="0.0&quot;%&quot;" sourceLinked="0"/>
            <c:spPr>
              <a:noFill/>
              <a:ln>
                <a:noFill/>
              </a:ln>
              <a:effectLst/>
            </c:spPr>
            <c:txPr>
              <a:bodyPr/>
              <a:lstStyle/>
              <a:p>
                <a:pPr>
                  <a:defRPr sz="1400" b="1" i="0" u="none" strike="noStrike">
                    <a:solidFill>
                      <a:srgbClr val="0B15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Two year</c:v>
                </c:pt>
                <c:pt idx="1">
                  <c:v>One year</c:v>
                </c:pt>
                <c:pt idx="2">
                  <c:v>Month-to-month</c:v>
                </c:pt>
              </c:strCache>
            </c:strRef>
          </c:cat>
          <c:val>
            <c:numRef>
              <c:f>Sheet1!$B$2:$B$4</c:f>
              <c:numCache>
                <c:formatCode>General</c:formatCode>
                <c:ptCount val="3"/>
                <c:pt idx="0">
                  <c:v>2.8</c:v>
                </c:pt>
                <c:pt idx="1">
                  <c:v>11.3</c:v>
                </c:pt>
                <c:pt idx="2">
                  <c:v>42.7</c:v>
                </c:pt>
              </c:numCache>
            </c:numRef>
          </c:val>
          <c:extLst>
            <c:ext xmlns:c16="http://schemas.microsoft.com/office/drawing/2014/chart" uri="{C3380CC4-5D6E-409C-BE32-E72D297353CC}">
              <c16:uniqueId val="{00000006-6652-42AD-81EE-F5545A900BCB}"/>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6264F"/>
                </a:solidFill>
                <a:latin typeface="+mn-lt"/>
              </a:defRPr>
            </a:pPr>
            <a:endParaRPr lang="en-US"/>
          </a:p>
        </c:txPr>
        <c:crossAx val="2094734552"/>
        <c:crosses val="autoZero"/>
        <c:auto val="1"/>
        <c:lblAlgn val="ctr"/>
        <c:lblOffset val="100"/>
        <c:noMultiLvlLbl val="1"/>
      </c:catAx>
      <c:valAx>
        <c:axId val="2094734552"/>
        <c:scaling>
          <c:orientation val="minMax"/>
          <c:max val="52"/>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Customers</c:v>
                </c:pt>
              </c:strCache>
            </c:strRef>
          </c:tx>
          <c:spPr>
            <a:solidFill>
              <a:schemeClr val="accent1"/>
            </a:solidFill>
            <a:ln w="9525" cap="flat">
              <a:solidFill>
                <a:srgbClr val="F9F9F9"/>
              </a:solidFill>
              <a:prstDash val="solid"/>
              <a:round/>
            </a:ln>
            <a:effectLst/>
          </c:spPr>
          <c:dPt>
            <c:idx val="0"/>
            <c:bubble3D val="0"/>
            <c:spPr>
              <a:solidFill>
                <a:srgbClr val="19B3A1"/>
              </a:solidFill>
              <a:ln w="25400" cap="flat">
                <a:solidFill>
                  <a:srgbClr val="F1F4FA"/>
                </a:solidFill>
                <a:prstDash val="solid"/>
                <a:round/>
              </a:ln>
              <a:effectLst/>
            </c:spPr>
            <c:extLst>
              <c:ext xmlns:c16="http://schemas.microsoft.com/office/drawing/2014/chart" uri="{C3380CC4-5D6E-409C-BE32-E72D297353CC}">
                <c16:uniqueId val="{00000001-A04C-4760-85E0-69832DEE573F}"/>
              </c:ext>
            </c:extLst>
          </c:dPt>
          <c:dPt>
            <c:idx val="1"/>
            <c:bubble3D val="0"/>
            <c:spPr>
              <a:solidFill>
                <a:srgbClr val="FF5C4D"/>
              </a:solidFill>
              <a:ln w="25400" cap="flat">
                <a:solidFill>
                  <a:srgbClr val="F1F4FA"/>
                </a:solidFill>
                <a:prstDash val="solid"/>
                <a:round/>
              </a:ln>
              <a:effectLst/>
            </c:spPr>
            <c:extLst>
              <c:ext xmlns:c16="http://schemas.microsoft.com/office/drawing/2014/chart" uri="{C3380CC4-5D6E-409C-BE32-E72D297353CC}">
                <c16:uniqueId val="{00000003-A04C-4760-85E0-69832DEE573F}"/>
              </c:ext>
            </c:extLst>
          </c:dPt>
          <c:dLbls>
            <c:dLbl>
              <c:idx val="0"/>
              <c:numFmt formatCode="0%" sourceLinked="0"/>
              <c:spPr/>
              <c:txPr>
                <a:bodyPr/>
                <a:lstStyle/>
                <a:p>
                  <a:pPr>
                    <a:defRPr sz="14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04C-4760-85E0-69832DEE573F}"/>
                </c:ext>
              </c:extLst>
            </c:dLbl>
            <c:dLbl>
              <c:idx val="1"/>
              <c:layout>
                <c:manualLayout>
                  <c:x val="0.11180579628804262"/>
                  <c:y val="0.23440573716164265"/>
                </c:manualLayout>
              </c:layout>
              <c:numFmt formatCode="0.00%" sourceLinked="0"/>
              <c:spPr/>
              <c:txPr>
                <a:bodyPr/>
                <a:lstStyle/>
                <a:p>
                  <a:pPr>
                    <a:defRPr sz="14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3807766953659095"/>
                      <c:h val="0.19436026936026937"/>
                    </c:manualLayout>
                  </c15:layout>
                </c:ext>
                <c:ext xmlns:c16="http://schemas.microsoft.com/office/drawing/2014/chart" uri="{C3380CC4-5D6E-409C-BE32-E72D297353CC}">
                  <c16:uniqueId val="{00000003-A04C-4760-85E0-69832DEE573F}"/>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No</c:v>
                </c:pt>
                <c:pt idx="1">
                  <c:v>Yes</c:v>
                </c:pt>
              </c:strCache>
            </c:strRef>
          </c:cat>
          <c:val>
            <c:numRef>
              <c:f>Sheet1!$B$2:$B$3</c:f>
              <c:numCache>
                <c:formatCode>General</c:formatCode>
                <c:ptCount val="2"/>
                <c:pt idx="0">
                  <c:v>5174</c:v>
                </c:pt>
                <c:pt idx="1">
                  <c:v>1869</c:v>
                </c:pt>
              </c:numCache>
            </c:numRef>
          </c:val>
          <c:extLst>
            <c:ext xmlns:c16="http://schemas.microsoft.com/office/drawing/2014/chart" uri="{C3380CC4-5D6E-409C-BE32-E72D297353CC}">
              <c16:uniqueId val="{00000004-A04C-4760-85E0-69832DEE573F}"/>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txPr>
        <a:bodyPr/>
        <a:lstStyle/>
        <a:p>
          <a:pPr>
            <a:defRPr sz="1300">
              <a:solidFill>
                <a:srgbClr val="0B153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Customers</c:v>
                </c:pt>
              </c:strCache>
            </c:strRef>
          </c:tx>
          <c:spPr>
            <a:solidFill>
              <a:schemeClr val="accent1"/>
            </a:solidFill>
            <a:ln w="9525" cap="flat">
              <a:solidFill>
                <a:srgbClr val="F9F9F9"/>
              </a:solidFill>
              <a:prstDash val="solid"/>
              <a:round/>
            </a:ln>
            <a:effectLst/>
          </c:spPr>
          <c:dPt>
            <c:idx val="0"/>
            <c:bubble3D val="0"/>
            <c:spPr>
              <a:solidFill>
                <a:srgbClr val="FF5C4D"/>
              </a:solidFill>
              <a:ln w="25400" cap="flat">
                <a:solidFill>
                  <a:srgbClr val="F1F4FA"/>
                </a:solidFill>
                <a:prstDash val="solid"/>
                <a:round/>
              </a:ln>
              <a:effectLst/>
            </c:spPr>
            <c:extLst>
              <c:ext xmlns:c16="http://schemas.microsoft.com/office/drawing/2014/chart" uri="{C3380CC4-5D6E-409C-BE32-E72D297353CC}">
                <c16:uniqueId val="{00000001-AB85-4DBA-9C3C-CEAAADE8024E}"/>
              </c:ext>
            </c:extLst>
          </c:dPt>
          <c:dPt>
            <c:idx val="1"/>
            <c:bubble3D val="0"/>
            <c:spPr>
              <a:solidFill>
                <a:srgbClr val="2A3B6B"/>
              </a:solidFill>
              <a:ln w="25400" cap="flat">
                <a:solidFill>
                  <a:srgbClr val="F1F4FA"/>
                </a:solidFill>
                <a:prstDash val="solid"/>
                <a:round/>
              </a:ln>
              <a:effectLst/>
            </c:spPr>
            <c:extLst>
              <c:ext xmlns:c16="http://schemas.microsoft.com/office/drawing/2014/chart" uri="{C3380CC4-5D6E-409C-BE32-E72D297353CC}">
                <c16:uniqueId val="{00000003-AB85-4DBA-9C3C-CEAAADE8024E}"/>
              </c:ext>
            </c:extLst>
          </c:dPt>
          <c:dPt>
            <c:idx val="2"/>
            <c:bubble3D val="0"/>
            <c:spPr>
              <a:solidFill>
                <a:srgbClr val="6B7796"/>
              </a:solidFill>
              <a:ln w="25400" cap="flat">
                <a:solidFill>
                  <a:srgbClr val="F1F4FA"/>
                </a:solidFill>
                <a:prstDash val="solid"/>
                <a:round/>
              </a:ln>
              <a:effectLst/>
            </c:spPr>
            <c:extLst>
              <c:ext xmlns:c16="http://schemas.microsoft.com/office/drawing/2014/chart" uri="{C3380CC4-5D6E-409C-BE32-E72D297353CC}">
                <c16:uniqueId val="{00000005-AB85-4DBA-9C3C-CEAAADE8024E}"/>
              </c:ext>
            </c:extLst>
          </c:dPt>
          <c:cat>
            <c:strRef>
              <c:f>Sheet1!$A$2:$A$4</c:f>
              <c:strCache>
                <c:ptCount val="3"/>
                <c:pt idx="0">
                  <c:v>Month-to-month  55%</c:v>
                </c:pt>
                <c:pt idx="1">
                  <c:v>Two year  24%</c:v>
                </c:pt>
                <c:pt idx="2">
                  <c:v>One year  21%</c:v>
                </c:pt>
              </c:strCache>
            </c:strRef>
          </c:cat>
          <c:val>
            <c:numRef>
              <c:f>Sheet1!$B$2:$B$4</c:f>
              <c:numCache>
                <c:formatCode>General</c:formatCode>
                <c:ptCount val="3"/>
                <c:pt idx="0">
                  <c:v>3875</c:v>
                </c:pt>
                <c:pt idx="1">
                  <c:v>1695</c:v>
                </c:pt>
                <c:pt idx="2">
                  <c:v>1473</c:v>
                </c:pt>
              </c:numCache>
            </c:numRef>
          </c:val>
          <c:extLst>
            <c:ext xmlns:c16="http://schemas.microsoft.com/office/drawing/2014/chart" uri="{C3380CC4-5D6E-409C-BE32-E72D297353CC}">
              <c16:uniqueId val="{00000006-AB85-4DBA-9C3C-CEAAADE8024E}"/>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1300">
              <a:solidFill>
                <a:srgbClr val="0B153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Churn rate</c:v>
                </c:pt>
              </c:strCache>
            </c:strRef>
          </c:tx>
          <c:spPr>
            <a:ln w="38100" cap="flat">
              <a:solidFill>
                <a:srgbClr val="FF5C4D"/>
              </a:solidFill>
              <a:prstDash val="solid"/>
              <a:round/>
            </a:ln>
            <a:effectLst/>
          </c:spPr>
          <c:marker>
            <c:symbol val="circle"/>
            <c:size val="9"/>
            <c:spPr>
              <a:solidFill>
                <a:srgbClr val="FF5C4D"/>
              </a:solidFill>
              <a:ln w="9525" cap="flat">
                <a:solidFill>
                  <a:srgbClr val="FF5C4D"/>
                </a:solidFill>
                <a:prstDash val="solid"/>
                <a:round/>
              </a:ln>
              <a:effectLst/>
            </c:spPr>
          </c:marker>
          <c:dLbls>
            <c:numFmt formatCode="0.0&quot;%&quot;" sourceLinked="0"/>
            <c:spPr>
              <a:noFill/>
              <a:ln>
                <a:noFill/>
              </a:ln>
              <a:effectLst/>
            </c:spPr>
            <c:txPr>
              <a:bodyPr/>
              <a:lstStyle/>
              <a:p>
                <a:pPr>
                  <a:defRPr sz="1400" b="1" i="0" u="none" strike="noStrike">
                    <a:solidFill>
                      <a:srgbClr val="0B1530"/>
                    </a:solidFill>
                    <a:latin typeface="+mn-lt"/>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0-12</c:v>
                </c:pt>
                <c:pt idx="1">
                  <c:v>13-24</c:v>
                </c:pt>
                <c:pt idx="2">
                  <c:v>25-48</c:v>
                </c:pt>
                <c:pt idx="3">
                  <c:v>49-72</c:v>
                </c:pt>
              </c:strCache>
            </c:strRef>
          </c:cat>
          <c:val>
            <c:numRef>
              <c:f>Sheet1!$B$2:$B$5</c:f>
              <c:numCache>
                <c:formatCode>General</c:formatCode>
                <c:ptCount val="4"/>
                <c:pt idx="0">
                  <c:v>47.4</c:v>
                </c:pt>
                <c:pt idx="1">
                  <c:v>28.7</c:v>
                </c:pt>
                <c:pt idx="2">
                  <c:v>20.399999999999999</c:v>
                </c:pt>
                <c:pt idx="3">
                  <c:v>9.5</c:v>
                </c:pt>
              </c:numCache>
            </c:numRef>
          </c:val>
          <c:smooth val="0"/>
          <c:extLst>
            <c:ext xmlns:c16="http://schemas.microsoft.com/office/drawing/2014/chart" uri="{C3380CC4-5D6E-409C-BE32-E72D297353CC}">
              <c16:uniqueId val="{00000000-EA8B-4F2F-95FB-573C0FD7B198}"/>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16264F"/>
                </a:solidFill>
                <a:latin typeface="+mn-lt"/>
              </a:defRPr>
            </a:pPr>
            <a:endParaRPr lang="en-US"/>
          </a:p>
        </c:txPr>
        <c:crossAx val="2094734552"/>
        <c:crosses val="autoZero"/>
        <c:auto val="1"/>
        <c:lblAlgn val="ctr"/>
        <c:lblOffset val="100"/>
        <c:noMultiLvlLbl val="1"/>
      </c:catAx>
      <c:valAx>
        <c:axId val="2094734552"/>
        <c:scaling>
          <c:orientation val="minMax"/>
          <c:max val="6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Customers</c:v>
                </c:pt>
              </c:strCache>
            </c:strRef>
          </c:tx>
          <c:spPr>
            <a:solidFill>
              <a:srgbClr val="2A3B6B"/>
            </a:solidFill>
            <a:effectLst/>
          </c:spPr>
          <c:invertIfNegative val="0"/>
          <c:dLbls>
            <c:numFmt formatCode="#,##0" sourceLinked="0"/>
            <c:spPr>
              <a:noFill/>
              <a:ln>
                <a:noFill/>
              </a:ln>
              <a:effectLst/>
            </c:spPr>
            <c:txPr>
              <a:bodyPr/>
              <a:lstStyle/>
              <a:p>
                <a:pPr>
                  <a:defRPr sz="1400" b="1" i="0" u="none" strike="noStrike">
                    <a:solidFill>
                      <a:srgbClr val="0B15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Two year</c:v>
                </c:pt>
                <c:pt idx="1">
                  <c:v>One year</c:v>
                </c:pt>
                <c:pt idx="2">
                  <c:v>Month-to-month</c:v>
                </c:pt>
              </c:strCache>
            </c:strRef>
          </c:cat>
          <c:val>
            <c:numRef>
              <c:f>Sheet1!$B$2:$B$4</c:f>
              <c:numCache>
                <c:formatCode>General</c:formatCode>
                <c:ptCount val="3"/>
                <c:pt idx="0">
                  <c:v>1695</c:v>
                </c:pt>
                <c:pt idx="1">
                  <c:v>1473</c:v>
                </c:pt>
                <c:pt idx="2">
                  <c:v>3875</c:v>
                </c:pt>
              </c:numCache>
            </c:numRef>
          </c:val>
          <c:extLst>
            <c:ext xmlns:c16="http://schemas.microsoft.com/office/drawing/2014/chart" uri="{C3380CC4-5D6E-409C-BE32-E72D297353CC}">
              <c16:uniqueId val="{00000000-A0D3-4351-A428-F8E12E4AD4B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6264F"/>
                </a:solidFill>
                <a:latin typeface="+mn-lt"/>
              </a:defRPr>
            </a:pPr>
            <a:endParaRPr lang="en-US"/>
          </a:p>
        </c:txPr>
        <c:crossAx val="2094734552"/>
        <c:crosses val="autoZero"/>
        <c:auto val="1"/>
        <c:lblAlgn val="ctr"/>
        <c:lblOffset val="100"/>
        <c:noMultiLvlLbl val="1"/>
      </c:catAx>
      <c:valAx>
        <c:axId val="2094734552"/>
        <c:scaling>
          <c:orientation val="minMax"/>
          <c:max val="4600"/>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9273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customer churn analysis of a telco dataset using PostgreSQL, DBeaver, SQL, Power BI and Databricks.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7,043 customers and 21 columns. The Churn column records whether each customer left. 5,174 stayed and 1,869 churned, an overall churn rate of 26.54 percent. The same data was loaded into PostgreSQL and Databricks.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is to find which customer characteristics are most linked to churn. The main route is CSV to PostgreSQL, DBeaver queries, and Power BI. Databricks ran in parallel as a cloud route, where the dashboard was built. Word and PowerPoint present the results.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stores the data. SQL Shell loaded the CSV after the DBeaver import wizard failed. DBeaver created the database and table and ran the analysis queries.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Databricks hosted the cloud dashboard with KPI counters, a pie chart, bar charts, and a summary table. Power BI built the main interactive dashboard from PostgreSQL. Word holds the report and proposal, and PowerPoint is used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issues came up during loading. Eleven customers had a blank total charges value, so those blanks were stored as NULL. The DBeaver import wizard failed, so the file was loaded with the SQL Shell \copy command instead.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SQL file holds the five analysis queries run in DBeaver. Every query groups the telco table by one column and returns the customer count and the churn percentage, sorted highest first. Shown here are the contract query, which is the template for the internet service, payment method and tech support queries, and the tenure query, which uses a CASE expression to build the four tenure groups. The highest-churn group in each query is listed on the right.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cleans the data with pandas and then repeats the analysis in PySpark. In pandas, TotalCharges is converted to a number and the 11 blank rows are dropped for charge-based analysis only, leaving 7,032 rows. The PySpark query groups by contract and returns the same churn rates as the SQL work: 42.71 percent for month-to-month, 11.27 percent for one year and 2.83 percent for two year.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screenshots of the saved PySpark outputs in the notebook. The first three tables repeat the SQL results: contract, internet service and payment method. The notebook also checks the senior citizen segment, where 41.68 percent of senior citizens churned compared with 23.61 percent of other customers. This segment is not part of the SQL analysis.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X-axis shows the churn rate as a percentage. The Y-axis lists the contract types. Month-to-month customers churn at 42.7 percent, about 15 times the 2.8 percent for two-year customers. This is an association, but it suggests longer contracts help keep customers.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charts use the churn rate on the X-axis and the category on the Y-axis. Fiber optic customers churn at 41.9 percent, compared with 19.0 percent for DSL and 7.4 percent for no internet service. Electronic check payers churn at 45.3 percent, while automatic credit card payers churn at 15.2 percent.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puts tenure groups on the X-axis and churn rate on the Y-axis. Churn falls from 47.4 percent in the first year to 9.5 percent after four years. The bar chart puts churn rate on the X-axis and tech support status on the Y-axis. Customers without tech support churn at 41.6 percent, compared with 15.2 percent for those with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BI report has four pages. Page 1 is a clustered bar chart of churn rate by contract type. Page 2 is a pie chart of the customer churn split, 5,174 No and 1,869 Yes. Page 3 is a donut chart of the share of customers by contract type. Page 4 is a line chart of churn rate by tenure group. These visuals are redrawn here from the report's visual settings and the same data.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Databricks dashboard shows four KPI counters: 7,043 total customers, a 26.54 percent churn rate, an average monthly charge of 64.76 dollars, and an average tenure of 32.4 months. The bar chart shows customer counts by contract: 3,875 month-to-month, 1,695 two-year, and 1,473 one-year. Databricks bar charts show counts, while churn rates by group come from the SQL and Power BI work.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findings: contract length, first-year tenure, fiber optic service, electronic check payments, and tech support are all linked to churn. The recommendations follow: encourage longer contracts, focus on the first year, review fiber optic service, and promote tech support. The main limitation is that these results show associations, not causes.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a:spLocks noGrp="1"/>
          </p:cNvSpPr>
          <p:nvPr>
            <p:ph type="title" idx="101" hasCustomPrompt="1"/>
          </p:nvPr>
        </p:nvSpPr>
        <p:spPr>
          <a:xfrm>
            <a:off x="731520" y="1828800"/>
            <a:ext cx="6309360" cy="173736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4" name="Text 1"/>
          <p:cNvSpPr>
            <a:spLocks noGrp="1"/>
          </p:cNvSpPr>
          <p:nvPr>
            <p:ph type="body" idx="102" hasCustomPrompt="1"/>
          </p:nvPr>
        </p:nvSpPr>
        <p:spPr>
          <a:xfrm>
            <a:off x="731520" y="3749040"/>
            <a:ext cx="5852160" cy="1005840"/>
          </a:xfrm>
          <a:prstGeom prst="rect">
            <a:avLst/>
          </a:prstGeom>
          <a:noFill/>
          <a:ln/>
        </p:spPr>
        <p:txBody>
          <a:bodyPr wrap="square" rtlCol="0"/>
          <a:lstStyle>
            <a:lvl1pPr marL="0" indent="0" algn="l">
              <a:buNone/>
              <a:defRPr lang="en-US" sz="1800" dirty="0">
                <a:solidFill>
                  <a:schemeClr val="accent6"/>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68580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a:spLocks noGrp="1"/>
          </p:cNvSpPr>
          <p:nvPr>
            <p:ph type="body" idx="101" hasCustomPrompt="1"/>
          </p:nvPr>
        </p:nvSpPr>
        <p:spPr>
          <a:xfrm>
            <a:off x="548640" y="1051560"/>
            <a:ext cx="11091672" cy="365760"/>
          </a:xfrm>
          <a:prstGeom prst="rect">
            <a:avLst/>
          </a:prstGeom>
          <a:noFill/>
          <a:ln/>
        </p:spPr>
        <p:txBody>
          <a:bodyPr wrap="square" rtlCol="0"/>
          <a:lstStyle>
            <a:lvl1pPr marL="0" indent="0" algn="l">
              <a:buNone/>
              <a:defRPr lang="en-US" sz="1600" dirty="0">
                <a:solidFill>
                  <a:schemeClr val="accent5"/>
                </a:solidFill>
              </a:defRPr>
            </a:lvl1pPr>
          </a:lstStyle>
          <a:p>
            <a:pPr marL="0" indent="0" algn="l">
              <a:buNone/>
            </a:pPr>
            <a:endParaRPr lang="en-US" sz="1600" dirty="0"/>
          </a:p>
        </p:txBody>
      </p:sp>
      <p:sp>
        <p:nvSpPr>
          <p:cNvPr id="4" name="Text 0"/>
          <p:cNvSpPr/>
          <p:nvPr/>
        </p:nvSpPr>
        <p:spPr>
          <a:xfrm>
            <a:off x="548640" y="6382512"/>
            <a:ext cx="5486400" cy="274320"/>
          </a:xfrm>
          <a:prstGeom prst="rect">
            <a:avLst/>
          </a:prstGeom>
          <a:noFill/>
          <a:ln/>
        </p:spPr>
        <p:txBody>
          <a:bodyPr wrap="square" lIns="0" tIns="0" rIns="0" bIns="0" rtlCol="0" anchor="ctr"/>
          <a:lstStyle/>
          <a:p>
            <a:pPr marL="0" indent="0">
              <a:buNone/>
            </a:pPr>
            <a:r>
              <a:rPr lang="en-US" sz="1000" dirty="0">
                <a:solidFill>
                  <a:schemeClr val="accent5"/>
                </a:solidFill>
              </a:rPr>
              <a:t>Customer Churn Analysis  |  Khush Talera</a:t>
            </a:r>
            <a:endParaRPr lang="en-US" sz="1000" dirty="0"/>
          </a:p>
        </p:txBody>
      </p:sp>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79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a:spLocks noGrp="1"/>
          </p:cNvSpPr>
          <p:nvPr>
            <p:ph type="title" idx="101" hasCustomPrompt="1"/>
          </p:nvPr>
        </p:nvSpPr>
        <p:spPr>
          <a:xfrm>
            <a:off x="548640" y="384048"/>
            <a:ext cx="11091672" cy="68580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4" name="Text 1"/>
          <p:cNvSpPr>
            <a:spLocks noGrp="1"/>
          </p:cNvSpPr>
          <p:nvPr>
            <p:ph type="body" idx="102" hasCustomPrompt="1"/>
          </p:nvPr>
        </p:nvSpPr>
        <p:spPr>
          <a:xfrm>
            <a:off x="548640" y="1051560"/>
            <a:ext cx="11091672" cy="365760"/>
          </a:xfrm>
          <a:prstGeom prst="rect">
            <a:avLst/>
          </a:prstGeom>
          <a:noFill/>
          <a:ln/>
        </p:spPr>
        <p:txBody>
          <a:bodyPr wrap="square" rtlCol="0"/>
          <a:lstStyle>
            <a:lvl1pPr marL="0" indent="0" algn="l">
              <a:buNone/>
              <a:defRPr lang="en-US" sz="1600" dirty="0">
                <a:solidFill>
                  <a:schemeClr val="accent6"/>
                </a:solidFill>
              </a:defRPr>
            </a:lvl1pPr>
          </a:lstStyle>
          <a:p>
            <a:pPr marL="0" indent="0" algn="l">
              <a:buNone/>
            </a:pPr>
            <a:endParaRPr lang="en-US" sz="1600" dirty="0"/>
          </a:p>
        </p:txBody>
      </p:sp>
      <p:sp>
        <p:nvSpPr>
          <p:cNvPr id="5" name="Text 1"/>
          <p:cNvSpPr/>
          <p:nvPr/>
        </p:nvSpPr>
        <p:spPr>
          <a:xfrm>
            <a:off x="548640" y="6382512"/>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Customer Churn Analysis  |  Khush Talera</a:t>
            </a:r>
            <a:endParaRPr lang="en-US" sz="1000" dirty="0"/>
          </a:p>
        </p:txBody>
      </p:sp>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B9C2DD"/>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79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1.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chart" Target="../charts/chart7.xml"/></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chart" Target="../charts/chart11.xml"/><Relationship Id="rId5" Type="http://schemas.openxmlformats.org/officeDocument/2006/relationships/chart" Target="../charts/chart10.xml"/><Relationship Id="rId4" Type="http://schemas.openxmlformats.org/officeDocument/2006/relationships/chart" Target="../charts/chart9.xml"/></Relationships>
</file>

<file path=ppt/slides/_rels/slide14.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8.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731520" y="1828800"/>
            <a:ext cx="6309360" cy="1737360"/>
          </a:xfrm>
          <a:prstGeom prst="rect">
            <a:avLst/>
          </a:prstGeom>
          <a:noFill/>
          <a:ln/>
        </p:spPr>
        <p:txBody>
          <a:bodyPr wrap="square" lIns="0" tIns="0" rIns="0" bIns="0" rtlCol="0" anchor="b"/>
          <a:lstStyle/>
          <a:p>
            <a:pPr marL="0" indent="0" algn="l">
              <a:buNone/>
            </a:pPr>
            <a:r>
              <a:rPr lang="en-US" sz="5400" b="1" dirty="0">
                <a:solidFill>
                  <a:schemeClr val="bg1"/>
                </a:solidFill>
              </a:rPr>
              <a:t>Customer Churn Analysis</a:t>
            </a:r>
            <a:endParaRPr lang="en-US" sz="5400" dirty="0"/>
          </a:p>
        </p:txBody>
      </p:sp>
      <p:sp>
        <p:nvSpPr>
          <p:cNvPr id="3" name="Text 1"/>
          <p:cNvSpPr>
            <a:spLocks noGrp="1"/>
          </p:cNvSpPr>
          <p:nvPr>
            <p:ph type="body" idx="102" hasCustomPrompt="1"/>
          </p:nvPr>
        </p:nvSpPr>
        <p:spPr>
          <a:xfrm>
            <a:off x="731520" y="3749040"/>
            <a:ext cx="5852160" cy="1005840"/>
          </a:xfrm>
          <a:prstGeom prst="rect">
            <a:avLst/>
          </a:prstGeom>
          <a:noFill/>
          <a:ln/>
        </p:spPr>
        <p:txBody>
          <a:bodyPr wrap="square" lIns="0" tIns="0" rIns="0" bIns="0" rtlCol="0" anchor="t"/>
          <a:lstStyle/>
          <a:p>
            <a:pPr marL="0" indent="0" algn="l">
              <a:buNone/>
            </a:pPr>
            <a:r>
              <a:rPr lang="en-US" sz="1800" dirty="0">
                <a:solidFill>
                  <a:schemeClr val="accent6"/>
                </a:solidFill>
              </a:rPr>
              <a:t>Telco customer data analysed with PostgreSQL, DBeaver, SQL, Power BI and Databricks</a:t>
            </a:r>
            <a:endParaRPr lang="en-US" sz="1800" dirty="0"/>
          </a:p>
        </p:txBody>
      </p:sp>
      <p:sp>
        <p:nvSpPr>
          <p:cNvPr id="4" name="Presenter 1"/>
          <p:cNvSpPr txBox="1"/>
          <p:nvPr/>
        </p:nvSpPr>
        <p:spPr>
          <a:xfrm>
            <a:off x="731520" y="5760720"/>
            <a:ext cx="5852160" cy="320040"/>
          </a:xfrm>
          <a:prstGeom prst="rect">
            <a:avLst/>
          </a:prstGeom>
          <a:noFill/>
          <a:ln/>
        </p:spPr>
        <p:txBody>
          <a:bodyPr wrap="square" lIns="0" tIns="0" rIns="0" bIns="0" rtlCol="0" anchor="t"/>
          <a:lstStyle/>
          <a:p>
            <a:pPr marL="0" indent="0">
              <a:buNone/>
            </a:pPr>
            <a:r>
              <a:rPr lang="en-US" sz="1400" dirty="0">
                <a:solidFill>
                  <a:schemeClr val="accent6"/>
                </a:solidFill>
              </a:rPr>
              <a:t>Khush Talera   |   Bigdata Analytics and DBMS</a:t>
            </a:r>
            <a:endParaRPr lang="en-US" sz="1400" dirty="0"/>
          </a:p>
        </p:txBody>
      </p:sp>
      <p:sp>
        <p:nvSpPr>
          <p:cNvPr id="5" name="Hero panel 2"/>
          <p:cNvSpPr/>
          <p:nvPr/>
        </p:nvSpPr>
        <p:spPr>
          <a:xfrm>
            <a:off x="7315200" y="868680"/>
            <a:ext cx="4297680" cy="5120640"/>
          </a:xfrm>
          <a:prstGeom prst="roundRect">
            <a:avLst>
              <a:gd name="adj" fmla="val 6383"/>
            </a:avLst>
          </a:prstGeom>
          <a:solidFill>
            <a:schemeClr val="accent4"/>
          </a:solidFill>
          <a:ln w="12700">
            <a:solidFill>
              <a:schemeClr val="accent4"/>
            </a:solidFill>
            <a:prstDash val="solid"/>
          </a:ln>
        </p:spPr>
      </p:sp>
      <p:graphicFrame>
        <p:nvGraphicFramePr>
          <p:cNvPr id="6" name="Chart 0" descr="Donut chart: 73.46% of customers stayed, 26.54% churned"/>
          <p:cNvGraphicFramePr/>
          <p:nvPr/>
        </p:nvGraphicFramePr>
        <p:xfrm>
          <a:off x="7498080" y="1051560"/>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Donut centre value 3"/>
          <p:cNvSpPr txBox="1"/>
          <p:nvPr/>
        </p:nvSpPr>
        <p:spPr>
          <a:xfrm>
            <a:off x="7498080" y="2468880"/>
            <a:ext cx="3931920" cy="685800"/>
          </a:xfrm>
          <a:prstGeom prst="rect">
            <a:avLst/>
          </a:prstGeom>
          <a:noFill/>
          <a:ln/>
        </p:spPr>
        <p:txBody>
          <a:bodyPr wrap="square" lIns="0" tIns="0" rIns="0" bIns="0" rtlCol="0" anchor="ctr"/>
          <a:lstStyle/>
          <a:p>
            <a:pPr marL="0" indent="0" algn="ctr">
              <a:buNone/>
            </a:pPr>
            <a:r>
              <a:rPr lang="en-US" sz="3400" b="1" dirty="0">
                <a:solidFill>
                  <a:schemeClr val="bg1"/>
                </a:solidFill>
              </a:rPr>
              <a:t>26.54%</a:t>
            </a:r>
            <a:endParaRPr lang="en-US" sz="3400" dirty="0"/>
          </a:p>
        </p:txBody>
      </p:sp>
      <p:sp>
        <p:nvSpPr>
          <p:cNvPr id="8" name="Donut centre label 4"/>
          <p:cNvSpPr txBox="1"/>
          <p:nvPr/>
        </p:nvSpPr>
        <p:spPr>
          <a:xfrm>
            <a:off x="7498080" y="3127248"/>
            <a:ext cx="3931920" cy="320040"/>
          </a:xfrm>
          <a:prstGeom prst="rect">
            <a:avLst/>
          </a:prstGeom>
          <a:noFill/>
          <a:ln/>
        </p:spPr>
        <p:txBody>
          <a:bodyPr wrap="square" lIns="0" tIns="0" rIns="0" bIns="0" rtlCol="0" anchor="t"/>
          <a:lstStyle/>
          <a:p>
            <a:pPr marL="0" indent="0" algn="ctr">
              <a:buNone/>
            </a:pPr>
            <a:r>
              <a:rPr lang="en-US" sz="1400" dirty="0">
                <a:solidFill>
                  <a:schemeClr val="accent6"/>
                </a:solidFill>
              </a:rPr>
              <a:t>churn rate</a:t>
            </a:r>
            <a:endParaRPr lang="en-US" sz="1400" dirty="0"/>
          </a:p>
        </p:txBody>
      </p:sp>
      <p:sp>
        <p:nvSpPr>
          <p:cNvPr id="9" name="Legend dot 5"/>
          <p:cNvSpPr/>
          <p:nvPr/>
        </p:nvSpPr>
        <p:spPr>
          <a:xfrm>
            <a:off x="7863840" y="4956048"/>
            <a:ext cx="182880" cy="182880"/>
          </a:xfrm>
          <a:prstGeom prst="ellipse">
            <a:avLst/>
          </a:prstGeom>
          <a:solidFill>
            <a:schemeClr val="accent1"/>
          </a:solidFill>
          <a:ln w="12700">
            <a:solidFill>
              <a:schemeClr val="accent1"/>
            </a:solidFill>
            <a:prstDash val="solid"/>
          </a:ln>
        </p:spPr>
      </p:sp>
      <p:sp>
        <p:nvSpPr>
          <p:cNvPr id="10" name="Legend churned 6"/>
          <p:cNvSpPr txBox="1"/>
          <p:nvPr/>
        </p:nvSpPr>
        <p:spPr>
          <a:xfrm>
            <a:off x="8138160" y="4910328"/>
            <a:ext cx="1554480" cy="274320"/>
          </a:xfrm>
          <a:prstGeom prst="rect">
            <a:avLst/>
          </a:prstGeom>
          <a:noFill/>
          <a:ln/>
        </p:spPr>
        <p:txBody>
          <a:bodyPr wrap="square" lIns="0" tIns="0" rIns="0" bIns="0" rtlCol="0" anchor="ctr"/>
          <a:lstStyle/>
          <a:p>
            <a:pPr marL="0" indent="0">
              <a:buNone/>
            </a:pPr>
            <a:r>
              <a:rPr lang="en-US" sz="1400" b="1" dirty="0">
                <a:solidFill>
                  <a:schemeClr val="bg1"/>
                </a:solidFill>
              </a:rPr>
              <a:t>1,869 </a:t>
            </a:r>
            <a:r>
              <a:rPr lang="en-US" sz="1400" dirty="0">
                <a:solidFill>
                  <a:schemeClr val="accent6"/>
                </a:solidFill>
              </a:rPr>
              <a:t>churned</a:t>
            </a:r>
            <a:endParaRPr lang="en-US" sz="1400" dirty="0"/>
          </a:p>
        </p:txBody>
      </p:sp>
      <p:sp>
        <p:nvSpPr>
          <p:cNvPr id="11" name="Legend dot 7"/>
          <p:cNvSpPr/>
          <p:nvPr/>
        </p:nvSpPr>
        <p:spPr>
          <a:xfrm>
            <a:off x="9692640" y="4956048"/>
            <a:ext cx="182880" cy="182880"/>
          </a:xfrm>
          <a:prstGeom prst="ellipse">
            <a:avLst/>
          </a:prstGeom>
          <a:solidFill>
            <a:schemeClr val="accent2"/>
          </a:solidFill>
          <a:ln w="12700">
            <a:solidFill>
              <a:schemeClr val="accent2"/>
            </a:solidFill>
            <a:prstDash val="solid"/>
          </a:ln>
        </p:spPr>
      </p:sp>
      <p:sp>
        <p:nvSpPr>
          <p:cNvPr id="12" name="Legend stayed 8"/>
          <p:cNvSpPr txBox="1"/>
          <p:nvPr/>
        </p:nvSpPr>
        <p:spPr>
          <a:xfrm>
            <a:off x="9966960" y="4910328"/>
            <a:ext cx="1554480" cy="274320"/>
          </a:xfrm>
          <a:prstGeom prst="rect">
            <a:avLst/>
          </a:prstGeom>
          <a:noFill/>
          <a:ln/>
        </p:spPr>
        <p:txBody>
          <a:bodyPr wrap="square" lIns="0" tIns="0" rIns="0" bIns="0" rtlCol="0" anchor="ctr"/>
          <a:lstStyle/>
          <a:p>
            <a:pPr marL="0" indent="0">
              <a:buNone/>
            </a:pPr>
            <a:r>
              <a:rPr lang="en-US" sz="1400" b="1" dirty="0">
                <a:solidFill>
                  <a:schemeClr val="bg1"/>
                </a:solidFill>
              </a:rPr>
              <a:t>5,174 </a:t>
            </a:r>
            <a:r>
              <a:rPr lang="en-US" sz="1400" dirty="0">
                <a:solidFill>
                  <a:schemeClr val="accent6"/>
                </a:solidFill>
              </a:rPr>
              <a:t>stayed</a:t>
            </a:r>
            <a:endParaRPr lang="en-US" sz="1400" dirty="0"/>
          </a:p>
        </p:txBody>
      </p:sp>
      <p:sp>
        <p:nvSpPr>
          <p:cNvPr id="13" name="Hero caption 9"/>
          <p:cNvSpPr txBox="1"/>
          <p:nvPr/>
        </p:nvSpPr>
        <p:spPr>
          <a:xfrm>
            <a:off x="7498080" y="5349240"/>
            <a:ext cx="3931920" cy="274320"/>
          </a:xfrm>
          <a:prstGeom prst="rect">
            <a:avLst/>
          </a:prstGeom>
          <a:noFill/>
          <a:ln/>
        </p:spPr>
        <p:txBody>
          <a:bodyPr wrap="square" lIns="0" tIns="0" rIns="0" bIns="0" rtlCol="0" anchor="t"/>
          <a:lstStyle/>
          <a:p>
            <a:pPr marL="0" indent="0" algn="ctr">
              <a:buNone/>
            </a:pPr>
            <a:r>
              <a:rPr lang="en-US" sz="1200" dirty="0">
                <a:solidFill>
                  <a:schemeClr val="accent6"/>
                </a:solidFill>
              </a:rPr>
              <a:t>of 7,043 customers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685800"/>
          </a:xfrm>
          <a:prstGeom prst="rect">
            <a:avLst/>
          </a:prstGeom>
          <a:noFill/>
          <a:ln/>
        </p:spPr>
        <p:txBody>
          <a:bodyPr wrap="square" lIns="0" tIns="0" rIns="0" bIns="0" rtlCol="0" anchor="ctr"/>
          <a:lstStyle/>
          <a:p>
            <a:pPr marL="0" indent="0" algn="l">
              <a:buNone/>
            </a:pPr>
            <a:r>
              <a:rPr lang="en-US" sz="3400" b="1" dirty="0">
                <a:solidFill>
                  <a:schemeClr val="tx2"/>
                </a:solidFill>
              </a:rPr>
              <a:t>The data: 7,043 telco customers</a:t>
            </a:r>
            <a:endParaRPr lang="en-US" sz="3400" dirty="0"/>
          </a:p>
        </p:txBody>
      </p:sp>
      <p:sp>
        <p:nvSpPr>
          <p:cNvPr id="3" name="Text 0"/>
          <p:cNvSpPr>
            <a:spLocks noGrp="1"/>
          </p:cNvSpPr>
          <p:nvPr>
            <p:ph type="body" idx="101" hasCustomPrompt="1"/>
          </p:nvPr>
        </p:nvSpPr>
        <p:spPr>
          <a:xfrm>
            <a:off x="548640" y="1051560"/>
            <a:ext cx="11091672" cy="365760"/>
          </a:xfrm>
          <a:prstGeom prst="rect">
            <a:avLst/>
          </a:prstGeom>
          <a:noFill/>
          <a:ln/>
        </p:spPr>
        <p:txBody>
          <a:bodyPr wrap="square" lIns="0" tIns="0" rIns="0" bIns="0" rtlCol="0" anchor="ctr"/>
          <a:lstStyle/>
          <a:p>
            <a:pPr marL="0" indent="0" algn="l">
              <a:buNone/>
            </a:pPr>
            <a:r>
              <a:rPr lang="en-US" sz="1600" dirty="0">
                <a:solidFill>
                  <a:schemeClr val="accent5"/>
                </a:solidFill>
              </a:rPr>
              <a:t>What the data is and what each part means</a:t>
            </a:r>
            <a:endParaRPr lang="en-US" sz="1600" dirty="0"/>
          </a:p>
        </p:txBody>
      </p:sp>
      <p:sp>
        <p:nvSpPr>
          <p:cNvPr id="4" name="Stat tile 10"/>
          <p:cNvSpPr/>
          <p:nvPr/>
        </p:nvSpPr>
        <p:spPr>
          <a:xfrm>
            <a:off x="548640" y="1691640"/>
            <a:ext cx="3063240" cy="1188720"/>
          </a:xfrm>
          <a:prstGeom prst="roundRect">
            <a:avLst>
              <a:gd name="adj" fmla="val 10769"/>
            </a:avLst>
          </a:prstGeom>
          <a:solidFill>
            <a:srgbClr val="16264F"/>
          </a:solidFill>
          <a:ln w="12700">
            <a:solidFill>
              <a:srgbClr val="16264F"/>
            </a:solidFill>
            <a:prstDash val="solid"/>
          </a:ln>
        </p:spPr>
      </p:sp>
      <p:sp>
        <p:nvSpPr>
          <p:cNvPr id="5" name="Stat value 11"/>
          <p:cNvSpPr txBox="1"/>
          <p:nvPr/>
        </p:nvSpPr>
        <p:spPr>
          <a:xfrm>
            <a:off x="822960" y="1783080"/>
            <a:ext cx="2560320" cy="685800"/>
          </a:xfrm>
          <a:prstGeom prst="rect">
            <a:avLst/>
          </a:prstGeom>
          <a:noFill/>
          <a:ln/>
        </p:spPr>
        <p:txBody>
          <a:bodyPr wrap="square" lIns="0" tIns="0" rIns="0" bIns="0" rtlCol="0" anchor="ctr"/>
          <a:lstStyle/>
          <a:p>
            <a:pPr marL="0" indent="0">
              <a:buNone/>
            </a:pPr>
            <a:r>
              <a:rPr lang="en-US" sz="4800" b="1" dirty="0">
                <a:solidFill>
                  <a:schemeClr val="bg1"/>
                </a:solidFill>
              </a:rPr>
              <a:t>7,043</a:t>
            </a:r>
            <a:endParaRPr lang="en-US" sz="4800" dirty="0"/>
          </a:p>
        </p:txBody>
      </p:sp>
      <p:sp>
        <p:nvSpPr>
          <p:cNvPr id="6" name="Stat label 12"/>
          <p:cNvSpPr txBox="1"/>
          <p:nvPr/>
        </p:nvSpPr>
        <p:spPr>
          <a:xfrm>
            <a:off x="822960" y="2468880"/>
            <a:ext cx="2560320" cy="320040"/>
          </a:xfrm>
          <a:prstGeom prst="rect">
            <a:avLst/>
          </a:prstGeom>
          <a:noFill/>
          <a:ln/>
        </p:spPr>
        <p:txBody>
          <a:bodyPr wrap="square" lIns="0" tIns="0" rIns="0" bIns="0" rtlCol="0" anchor="t"/>
          <a:lstStyle/>
          <a:p>
            <a:pPr marL="0" indent="0">
              <a:buNone/>
            </a:pPr>
            <a:r>
              <a:rPr lang="en-US" sz="1400" dirty="0">
                <a:solidFill>
                  <a:schemeClr val="accent6"/>
                </a:solidFill>
              </a:rPr>
              <a:t>customers, one row each</a:t>
            </a:r>
            <a:endParaRPr lang="en-US" sz="1400" dirty="0"/>
          </a:p>
        </p:txBody>
      </p:sp>
      <p:sp>
        <p:nvSpPr>
          <p:cNvPr id="7" name="Stat tile 13"/>
          <p:cNvSpPr/>
          <p:nvPr/>
        </p:nvSpPr>
        <p:spPr>
          <a:xfrm>
            <a:off x="3794760" y="1691640"/>
            <a:ext cx="3063240" cy="1188720"/>
          </a:xfrm>
          <a:prstGeom prst="roundRect">
            <a:avLst>
              <a:gd name="adj" fmla="val 10769"/>
            </a:avLst>
          </a:prstGeom>
          <a:solidFill>
            <a:srgbClr val="16264F"/>
          </a:solidFill>
          <a:ln w="12700">
            <a:solidFill>
              <a:srgbClr val="16264F"/>
            </a:solidFill>
            <a:prstDash val="solid"/>
          </a:ln>
        </p:spPr>
      </p:sp>
      <p:sp>
        <p:nvSpPr>
          <p:cNvPr id="8" name="Stat value 14"/>
          <p:cNvSpPr txBox="1"/>
          <p:nvPr/>
        </p:nvSpPr>
        <p:spPr>
          <a:xfrm>
            <a:off x="4069080" y="1783080"/>
            <a:ext cx="2560320" cy="685800"/>
          </a:xfrm>
          <a:prstGeom prst="rect">
            <a:avLst/>
          </a:prstGeom>
          <a:noFill/>
          <a:ln/>
        </p:spPr>
        <p:txBody>
          <a:bodyPr wrap="square" lIns="0" tIns="0" rIns="0" bIns="0" rtlCol="0" anchor="ctr"/>
          <a:lstStyle/>
          <a:p>
            <a:pPr marL="0" indent="0">
              <a:buNone/>
            </a:pPr>
            <a:r>
              <a:rPr lang="en-US" sz="4800" b="1" dirty="0">
                <a:solidFill>
                  <a:schemeClr val="bg1"/>
                </a:solidFill>
              </a:rPr>
              <a:t>21</a:t>
            </a:r>
            <a:endParaRPr lang="en-US" sz="4800" dirty="0"/>
          </a:p>
        </p:txBody>
      </p:sp>
      <p:sp>
        <p:nvSpPr>
          <p:cNvPr id="9" name="Stat label 15"/>
          <p:cNvSpPr txBox="1"/>
          <p:nvPr/>
        </p:nvSpPr>
        <p:spPr>
          <a:xfrm>
            <a:off x="4069080" y="2468880"/>
            <a:ext cx="2560320" cy="320040"/>
          </a:xfrm>
          <a:prstGeom prst="rect">
            <a:avLst/>
          </a:prstGeom>
          <a:noFill/>
          <a:ln/>
        </p:spPr>
        <p:txBody>
          <a:bodyPr wrap="square" lIns="0" tIns="0" rIns="0" bIns="0" rtlCol="0" anchor="t"/>
          <a:lstStyle/>
          <a:p>
            <a:pPr marL="0" indent="0">
              <a:buNone/>
            </a:pPr>
            <a:r>
              <a:rPr lang="en-US" sz="1400" dirty="0">
                <a:solidFill>
                  <a:schemeClr val="accent6"/>
                </a:solidFill>
              </a:rPr>
              <a:t>columns describing each customer</a:t>
            </a:r>
            <a:endParaRPr lang="en-US" sz="1400" dirty="0"/>
          </a:p>
        </p:txBody>
      </p:sp>
      <p:sp>
        <p:nvSpPr>
          <p:cNvPr id="10" name="Icon circle 16"/>
          <p:cNvSpPr/>
          <p:nvPr/>
        </p:nvSpPr>
        <p:spPr>
          <a:xfrm>
            <a:off x="548640" y="3200400"/>
            <a:ext cx="594360" cy="594360"/>
          </a:xfrm>
          <a:prstGeom prst="ellipse">
            <a:avLst/>
          </a:prstGeom>
          <a:solidFill>
            <a:srgbClr val="16264F"/>
          </a:solidFill>
          <a:ln w="12700">
            <a:solidFill>
              <a:srgbClr val="16264F"/>
            </a:solidFill>
            <a:prstDash val="solid"/>
          </a:ln>
        </p:spPr>
      </p:sp>
      <p:pic>
        <p:nvPicPr>
          <p:cNvPr id="11" name="Icon 17" descr="icon"/>
          <p:cNvPicPr>
            <a:picLocks noChangeAspect="1"/>
          </p:cNvPicPr>
          <p:nvPr/>
        </p:nvPicPr>
        <p:blipFill>
          <a:blip r:embed="rId3"/>
          <a:stretch>
            <a:fillRect/>
          </a:stretch>
        </p:blipFill>
        <p:spPr>
          <a:xfrm>
            <a:off x="715061" y="3366821"/>
            <a:ext cx="261518" cy="261518"/>
          </a:xfrm>
          <a:prstGeom prst="rect">
            <a:avLst/>
          </a:prstGeom>
        </p:spPr>
      </p:pic>
      <p:sp>
        <p:nvSpPr>
          <p:cNvPr id="12" name="Fact row 18"/>
          <p:cNvSpPr txBox="1"/>
          <p:nvPr/>
        </p:nvSpPr>
        <p:spPr>
          <a:xfrm>
            <a:off x="1371600" y="3154680"/>
            <a:ext cx="5486400" cy="685800"/>
          </a:xfrm>
          <a:prstGeom prst="rect">
            <a:avLst/>
          </a:prstGeom>
          <a:noFill/>
          <a:ln/>
        </p:spPr>
        <p:txBody>
          <a:bodyPr wrap="square" lIns="0" tIns="0" rIns="0" bIns="0" rtlCol="0" anchor="ctr"/>
          <a:lstStyle/>
          <a:p>
            <a:pPr marL="0" indent="0">
              <a:buNone/>
            </a:pPr>
            <a:r>
              <a:rPr lang="en-US" sz="1500" b="1" dirty="0">
                <a:solidFill>
                  <a:schemeClr val="tx2"/>
                </a:solidFill>
              </a:rPr>
              <a:t>Source</a:t>
            </a:r>
            <a:endParaRPr lang="en-US" sz="1400" dirty="0"/>
          </a:p>
          <a:p>
            <a:pPr marL="0" indent="0">
              <a:buNone/>
            </a:pPr>
            <a:r>
              <a:rPr lang="en-US" sz="1400" dirty="0">
                <a:solidFill>
                  <a:schemeClr val="tx1"/>
                </a:solidFill>
              </a:rPr>
              <a:t>Telco customer churn dataset, supplied as telco.csv</a:t>
            </a:r>
            <a:endParaRPr lang="en-US" sz="1400" dirty="0"/>
          </a:p>
        </p:txBody>
      </p:sp>
      <p:sp>
        <p:nvSpPr>
          <p:cNvPr id="13" name="Icon circle 19"/>
          <p:cNvSpPr/>
          <p:nvPr/>
        </p:nvSpPr>
        <p:spPr>
          <a:xfrm>
            <a:off x="548640" y="3977640"/>
            <a:ext cx="594360" cy="594360"/>
          </a:xfrm>
          <a:prstGeom prst="ellipse">
            <a:avLst/>
          </a:prstGeom>
          <a:solidFill>
            <a:srgbClr val="16264F"/>
          </a:solidFill>
          <a:ln w="12700">
            <a:solidFill>
              <a:srgbClr val="16264F"/>
            </a:solidFill>
            <a:prstDash val="solid"/>
          </a:ln>
        </p:spPr>
      </p:sp>
      <p:pic>
        <p:nvPicPr>
          <p:cNvPr id="14" name="Icon 20" descr="icon"/>
          <p:cNvPicPr>
            <a:picLocks noChangeAspect="1"/>
          </p:cNvPicPr>
          <p:nvPr/>
        </p:nvPicPr>
        <p:blipFill>
          <a:blip r:embed="rId4"/>
          <a:stretch>
            <a:fillRect/>
          </a:stretch>
        </p:blipFill>
        <p:spPr>
          <a:xfrm>
            <a:off x="715061" y="4144061"/>
            <a:ext cx="261518" cy="261518"/>
          </a:xfrm>
          <a:prstGeom prst="rect">
            <a:avLst/>
          </a:prstGeom>
        </p:spPr>
      </p:pic>
      <p:sp>
        <p:nvSpPr>
          <p:cNvPr id="15" name="Fact row 21"/>
          <p:cNvSpPr txBox="1"/>
          <p:nvPr/>
        </p:nvSpPr>
        <p:spPr>
          <a:xfrm>
            <a:off x="1371600" y="3931920"/>
            <a:ext cx="5486400" cy="685800"/>
          </a:xfrm>
          <a:prstGeom prst="rect">
            <a:avLst/>
          </a:prstGeom>
          <a:noFill/>
          <a:ln/>
        </p:spPr>
        <p:txBody>
          <a:bodyPr wrap="square" lIns="0" tIns="0" rIns="0" bIns="0" rtlCol="0" anchor="ctr"/>
          <a:lstStyle/>
          <a:p>
            <a:pPr marL="0" indent="0">
              <a:buNone/>
            </a:pPr>
            <a:r>
              <a:rPr lang="en-US" sz="1500" b="1" dirty="0">
                <a:solidFill>
                  <a:schemeClr val="tx2"/>
                </a:solidFill>
              </a:rPr>
              <a:t>Churn column</a:t>
            </a:r>
            <a:endParaRPr lang="en-US" sz="1400" dirty="0"/>
          </a:p>
          <a:p>
            <a:pPr marL="0" indent="0">
              <a:buNone/>
            </a:pPr>
            <a:r>
              <a:rPr lang="en-US" sz="1400" dirty="0">
                <a:solidFill>
                  <a:schemeClr val="tx1"/>
                </a:solidFill>
              </a:rPr>
              <a:t>Yes means the customer left, No means they stayed</a:t>
            </a:r>
            <a:endParaRPr lang="en-US" sz="1400" dirty="0"/>
          </a:p>
        </p:txBody>
      </p:sp>
      <p:sp>
        <p:nvSpPr>
          <p:cNvPr id="16" name="Icon circle 22"/>
          <p:cNvSpPr/>
          <p:nvPr/>
        </p:nvSpPr>
        <p:spPr>
          <a:xfrm>
            <a:off x="548640" y="4754880"/>
            <a:ext cx="594360" cy="594360"/>
          </a:xfrm>
          <a:prstGeom prst="ellipse">
            <a:avLst/>
          </a:prstGeom>
          <a:solidFill>
            <a:srgbClr val="16264F"/>
          </a:solidFill>
          <a:ln w="12700">
            <a:solidFill>
              <a:srgbClr val="16264F"/>
            </a:solidFill>
            <a:prstDash val="solid"/>
          </a:ln>
        </p:spPr>
      </p:sp>
      <p:pic>
        <p:nvPicPr>
          <p:cNvPr id="17" name="Icon 23" descr="icon"/>
          <p:cNvPicPr>
            <a:picLocks noChangeAspect="1"/>
          </p:cNvPicPr>
          <p:nvPr/>
        </p:nvPicPr>
        <p:blipFill>
          <a:blip r:embed="rId5"/>
          <a:stretch>
            <a:fillRect/>
          </a:stretch>
        </p:blipFill>
        <p:spPr>
          <a:xfrm>
            <a:off x="715061" y="4921301"/>
            <a:ext cx="261518" cy="261518"/>
          </a:xfrm>
          <a:prstGeom prst="rect">
            <a:avLst/>
          </a:prstGeom>
        </p:spPr>
      </p:pic>
      <p:sp>
        <p:nvSpPr>
          <p:cNvPr id="18" name="Fact row 24"/>
          <p:cNvSpPr txBox="1"/>
          <p:nvPr/>
        </p:nvSpPr>
        <p:spPr>
          <a:xfrm>
            <a:off x="1371600" y="4709160"/>
            <a:ext cx="5486400" cy="685800"/>
          </a:xfrm>
          <a:prstGeom prst="rect">
            <a:avLst/>
          </a:prstGeom>
          <a:noFill/>
          <a:ln/>
        </p:spPr>
        <p:txBody>
          <a:bodyPr wrap="square" lIns="0" tIns="0" rIns="0" bIns="0" rtlCol="0" anchor="ctr"/>
          <a:lstStyle/>
          <a:p>
            <a:pPr marL="0" indent="0">
              <a:buNone/>
            </a:pPr>
            <a:r>
              <a:rPr lang="en-US" sz="1500" b="1" dirty="0">
                <a:solidFill>
                  <a:schemeClr val="tx2"/>
                </a:solidFill>
              </a:rPr>
              <a:t>Four groups</a:t>
            </a:r>
            <a:endParaRPr lang="en-US" sz="1400" dirty="0"/>
          </a:p>
          <a:p>
            <a:pPr marL="0" indent="0">
              <a:buNone/>
            </a:pPr>
            <a:r>
              <a:rPr lang="en-US" sz="1400" dirty="0">
                <a:solidFill>
                  <a:schemeClr val="tx1"/>
                </a:solidFill>
              </a:rPr>
              <a:t>Customer details, services, account and billing, and churn</a:t>
            </a:r>
            <a:endParaRPr lang="en-US" sz="1400" dirty="0"/>
          </a:p>
        </p:txBody>
      </p:sp>
      <p:sp>
        <p:nvSpPr>
          <p:cNvPr id="19" name="Icon circle 25"/>
          <p:cNvSpPr/>
          <p:nvPr/>
        </p:nvSpPr>
        <p:spPr>
          <a:xfrm>
            <a:off x="548640" y="5532120"/>
            <a:ext cx="594360" cy="594360"/>
          </a:xfrm>
          <a:prstGeom prst="ellipse">
            <a:avLst/>
          </a:prstGeom>
          <a:solidFill>
            <a:srgbClr val="16264F"/>
          </a:solidFill>
          <a:ln w="12700">
            <a:solidFill>
              <a:srgbClr val="16264F"/>
            </a:solidFill>
            <a:prstDash val="solid"/>
          </a:ln>
        </p:spPr>
      </p:sp>
      <p:pic>
        <p:nvPicPr>
          <p:cNvPr id="20" name="Icon 26" descr="icon"/>
          <p:cNvPicPr>
            <a:picLocks noChangeAspect="1"/>
          </p:cNvPicPr>
          <p:nvPr/>
        </p:nvPicPr>
        <p:blipFill>
          <a:blip r:embed="rId6"/>
          <a:stretch>
            <a:fillRect/>
          </a:stretch>
        </p:blipFill>
        <p:spPr>
          <a:xfrm>
            <a:off x="715061" y="5698541"/>
            <a:ext cx="261518" cy="261518"/>
          </a:xfrm>
          <a:prstGeom prst="rect">
            <a:avLst/>
          </a:prstGeom>
        </p:spPr>
      </p:pic>
      <p:sp>
        <p:nvSpPr>
          <p:cNvPr id="21" name="Fact row 27"/>
          <p:cNvSpPr txBox="1"/>
          <p:nvPr/>
        </p:nvSpPr>
        <p:spPr>
          <a:xfrm>
            <a:off x="1371600" y="5486400"/>
            <a:ext cx="5486400" cy="685800"/>
          </a:xfrm>
          <a:prstGeom prst="rect">
            <a:avLst/>
          </a:prstGeom>
          <a:noFill/>
          <a:ln/>
        </p:spPr>
        <p:txBody>
          <a:bodyPr wrap="square" lIns="0" tIns="0" rIns="0" bIns="0" rtlCol="0" anchor="ctr"/>
          <a:lstStyle/>
          <a:p>
            <a:pPr marL="0" indent="0">
              <a:buNone/>
            </a:pPr>
            <a:r>
              <a:rPr lang="en-US" sz="1500" b="1" dirty="0">
                <a:solidFill>
                  <a:schemeClr val="tx2"/>
                </a:solidFill>
              </a:rPr>
              <a:t>Loaded into</a:t>
            </a:r>
            <a:endParaRPr lang="en-US" sz="1400" dirty="0"/>
          </a:p>
          <a:p>
            <a:pPr marL="0" indent="0">
              <a:buNone/>
            </a:pPr>
            <a:r>
              <a:rPr lang="en-US" sz="1400" dirty="0">
                <a:solidFill>
                  <a:schemeClr val="tx1"/>
                </a:solidFill>
              </a:rPr>
              <a:t>PostgreSQL and into Databricks</a:t>
            </a:r>
            <a:endParaRPr lang="en-US" sz="1400" dirty="0"/>
          </a:p>
        </p:txBody>
      </p:sp>
      <p:sp>
        <p:nvSpPr>
          <p:cNvPr id="22" name="Chart card 28"/>
          <p:cNvSpPr/>
          <p:nvPr/>
        </p:nvSpPr>
        <p:spPr>
          <a:xfrm>
            <a:off x="7223760" y="1691640"/>
            <a:ext cx="4416552" cy="4434840"/>
          </a:xfrm>
          <a:prstGeom prst="roundRect">
            <a:avLst>
              <a:gd name="adj" fmla="val 2899"/>
            </a:avLst>
          </a:prstGeom>
          <a:solidFill>
            <a:schemeClr val="bg2"/>
          </a:solidFill>
          <a:ln w="12700">
            <a:solidFill>
              <a:schemeClr val="bg2"/>
            </a:solidFill>
            <a:prstDash val="solid"/>
          </a:ln>
        </p:spPr>
      </p:sp>
      <p:sp>
        <p:nvSpPr>
          <p:cNvPr id="23" name="Card title 29"/>
          <p:cNvSpPr txBox="1"/>
          <p:nvPr/>
        </p:nvSpPr>
        <p:spPr>
          <a:xfrm>
            <a:off x="7498080" y="1828800"/>
            <a:ext cx="3840480" cy="320040"/>
          </a:xfrm>
          <a:prstGeom prst="rect">
            <a:avLst/>
          </a:prstGeom>
          <a:noFill/>
          <a:ln/>
        </p:spPr>
        <p:txBody>
          <a:bodyPr wrap="square" lIns="0" tIns="0" rIns="0" bIns="0" rtlCol="0" anchor="t"/>
          <a:lstStyle/>
          <a:p>
            <a:pPr marL="0" indent="0">
              <a:buNone/>
            </a:pPr>
            <a:r>
              <a:rPr lang="en-US" sz="1600" b="1" dirty="0">
                <a:solidFill>
                  <a:schemeClr val="tx2"/>
                </a:solidFill>
              </a:rPr>
              <a:t>Customer status</a:t>
            </a:r>
            <a:endParaRPr lang="en-US" sz="1600" dirty="0"/>
          </a:p>
        </p:txBody>
      </p:sp>
      <p:graphicFrame>
        <p:nvGraphicFramePr>
          <p:cNvPr id="24" name="Chart 0" descr="Donut chart: 5,174 customers stayed (73.46%) and 1,869 churned (26.54%)"/>
          <p:cNvGraphicFramePr/>
          <p:nvPr/>
        </p:nvGraphicFramePr>
        <p:xfrm>
          <a:off x="7406640" y="2194560"/>
          <a:ext cx="4050792" cy="3017520"/>
        </p:xfrm>
        <a:graphic>
          <a:graphicData uri="http://schemas.openxmlformats.org/drawingml/2006/chart">
            <c:chart xmlns:c="http://schemas.openxmlformats.org/drawingml/2006/chart" xmlns:r="http://schemas.openxmlformats.org/officeDocument/2006/relationships" r:id="rId7"/>
          </a:graphicData>
        </a:graphic>
      </p:graphicFrame>
      <p:sp>
        <p:nvSpPr>
          <p:cNvPr id="25" name="Donut centre value 30"/>
          <p:cNvSpPr txBox="1"/>
          <p:nvPr/>
        </p:nvSpPr>
        <p:spPr>
          <a:xfrm>
            <a:off x="7406640" y="3291840"/>
            <a:ext cx="4050792" cy="548640"/>
          </a:xfrm>
          <a:prstGeom prst="rect">
            <a:avLst/>
          </a:prstGeom>
          <a:noFill/>
          <a:ln/>
        </p:spPr>
        <p:txBody>
          <a:bodyPr wrap="square" lIns="0" tIns="0" rIns="0" bIns="0" rtlCol="0" anchor="ctr"/>
          <a:lstStyle/>
          <a:p>
            <a:pPr marL="0" indent="0" algn="ctr">
              <a:buNone/>
            </a:pPr>
            <a:r>
              <a:rPr lang="en-US" sz="2800" b="1" dirty="0">
                <a:solidFill>
                  <a:schemeClr val="tx2"/>
                </a:solidFill>
              </a:rPr>
              <a:t>26.54%</a:t>
            </a:r>
            <a:endParaRPr lang="en-US" sz="2800" dirty="0"/>
          </a:p>
        </p:txBody>
      </p:sp>
      <p:sp>
        <p:nvSpPr>
          <p:cNvPr id="26" name="Donut centre label 31"/>
          <p:cNvSpPr txBox="1"/>
          <p:nvPr/>
        </p:nvSpPr>
        <p:spPr>
          <a:xfrm>
            <a:off x="7406640" y="3822192"/>
            <a:ext cx="4050792" cy="274320"/>
          </a:xfrm>
          <a:prstGeom prst="rect">
            <a:avLst/>
          </a:prstGeom>
          <a:noFill/>
          <a:ln/>
        </p:spPr>
        <p:txBody>
          <a:bodyPr wrap="square" lIns="0" tIns="0" rIns="0" bIns="0" rtlCol="0" anchor="t"/>
          <a:lstStyle/>
          <a:p>
            <a:pPr marL="0" indent="0" algn="ctr">
              <a:buNone/>
            </a:pPr>
            <a:r>
              <a:rPr lang="en-US" sz="1400" dirty="0">
                <a:solidFill>
                  <a:schemeClr val="accent5"/>
                </a:solidFill>
              </a:rPr>
              <a:t>churned</a:t>
            </a:r>
            <a:endParaRPr lang="en-US" sz="1400" dirty="0"/>
          </a:p>
        </p:txBody>
      </p:sp>
      <p:sp>
        <p:nvSpPr>
          <p:cNvPr id="27" name="Legend dot 32"/>
          <p:cNvSpPr/>
          <p:nvPr/>
        </p:nvSpPr>
        <p:spPr>
          <a:xfrm>
            <a:off x="7589520" y="5376672"/>
            <a:ext cx="164592" cy="164592"/>
          </a:xfrm>
          <a:prstGeom prst="ellipse">
            <a:avLst/>
          </a:prstGeom>
          <a:solidFill>
            <a:schemeClr val="accent2"/>
          </a:solidFill>
          <a:ln w="12700">
            <a:solidFill>
              <a:schemeClr val="accent2"/>
            </a:solidFill>
            <a:prstDash val="solid"/>
          </a:ln>
        </p:spPr>
      </p:sp>
      <p:sp>
        <p:nvSpPr>
          <p:cNvPr id="28" name="Legend Stayed 33"/>
          <p:cNvSpPr txBox="1"/>
          <p:nvPr/>
        </p:nvSpPr>
        <p:spPr>
          <a:xfrm>
            <a:off x="7845552" y="5303520"/>
            <a:ext cx="1737360" cy="548640"/>
          </a:xfrm>
          <a:prstGeom prst="rect">
            <a:avLst/>
          </a:prstGeom>
          <a:noFill/>
          <a:ln/>
        </p:spPr>
        <p:txBody>
          <a:bodyPr wrap="square" lIns="0" tIns="0" rIns="0" bIns="0" rtlCol="0" anchor="t"/>
          <a:lstStyle/>
          <a:p>
            <a:pPr marL="0" indent="0">
              <a:buNone/>
            </a:pPr>
            <a:r>
              <a:rPr lang="en-US" sz="1400" b="1" dirty="0">
                <a:solidFill>
                  <a:schemeClr val="tx2"/>
                </a:solidFill>
              </a:rPr>
              <a:t>Stayed</a:t>
            </a:r>
            <a:endParaRPr lang="en-US" sz="1400" dirty="0"/>
          </a:p>
          <a:p>
            <a:pPr marL="0" indent="0">
              <a:buNone/>
            </a:pPr>
            <a:r>
              <a:rPr lang="en-US" sz="1200" dirty="0">
                <a:solidFill>
                  <a:schemeClr val="accent5"/>
                </a:solidFill>
              </a:rPr>
              <a:t>5,174  (73.46%)</a:t>
            </a:r>
            <a:endParaRPr lang="en-US" sz="1400" dirty="0"/>
          </a:p>
        </p:txBody>
      </p:sp>
      <p:sp>
        <p:nvSpPr>
          <p:cNvPr id="29" name="Legend dot 34"/>
          <p:cNvSpPr/>
          <p:nvPr/>
        </p:nvSpPr>
        <p:spPr>
          <a:xfrm>
            <a:off x="9601200" y="5376672"/>
            <a:ext cx="164592" cy="164592"/>
          </a:xfrm>
          <a:prstGeom prst="ellipse">
            <a:avLst/>
          </a:prstGeom>
          <a:solidFill>
            <a:schemeClr val="accent1"/>
          </a:solidFill>
          <a:ln w="12700">
            <a:solidFill>
              <a:schemeClr val="accent1"/>
            </a:solidFill>
            <a:prstDash val="solid"/>
          </a:ln>
        </p:spPr>
      </p:sp>
      <p:sp>
        <p:nvSpPr>
          <p:cNvPr id="30" name="Legend Churned 35"/>
          <p:cNvSpPr txBox="1"/>
          <p:nvPr/>
        </p:nvSpPr>
        <p:spPr>
          <a:xfrm>
            <a:off x="9857232" y="5303520"/>
            <a:ext cx="1737360" cy="548640"/>
          </a:xfrm>
          <a:prstGeom prst="rect">
            <a:avLst/>
          </a:prstGeom>
          <a:noFill/>
          <a:ln/>
        </p:spPr>
        <p:txBody>
          <a:bodyPr wrap="square" lIns="0" tIns="0" rIns="0" bIns="0" rtlCol="0" anchor="t"/>
          <a:lstStyle/>
          <a:p>
            <a:pPr marL="0" indent="0">
              <a:buNone/>
            </a:pPr>
            <a:r>
              <a:rPr lang="en-US" sz="1400" b="1" dirty="0">
                <a:solidFill>
                  <a:schemeClr val="tx2"/>
                </a:solidFill>
              </a:rPr>
              <a:t>Churned</a:t>
            </a:r>
            <a:endParaRPr lang="en-US" sz="1400" dirty="0"/>
          </a:p>
          <a:p>
            <a:pPr marL="0" indent="0">
              <a:buNone/>
            </a:pPr>
            <a:r>
              <a:rPr lang="en-US" sz="1200" dirty="0">
                <a:solidFill>
                  <a:schemeClr val="accent5"/>
                </a:solidFill>
              </a:rPr>
              <a:t>1,869  (26.54%)</a:t>
            </a:r>
            <a:endParaRPr lang="en-US" sz="1400" dirty="0"/>
          </a:p>
        </p:txBody>
      </p:sp>
      <p:sp>
        <p:nvSpPr>
          <p:cNvPr id="31"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79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685800"/>
          </a:xfrm>
          <a:prstGeom prst="rect">
            <a:avLst/>
          </a:prstGeom>
          <a:noFill/>
          <a:ln/>
        </p:spPr>
        <p:txBody>
          <a:bodyPr wrap="square" lIns="0" tIns="0" rIns="0" bIns="0" rtlCol="0" anchor="ctr"/>
          <a:lstStyle/>
          <a:p>
            <a:pPr marL="0" indent="0" algn="l">
              <a:buNone/>
            </a:pPr>
            <a:r>
              <a:rPr lang="en-US" sz="3400" b="1" dirty="0">
                <a:solidFill>
                  <a:schemeClr val="tx2"/>
                </a:solidFill>
              </a:rPr>
              <a:t>Purpose and workflow</a:t>
            </a:r>
            <a:endParaRPr lang="en-US" sz="3400" dirty="0"/>
          </a:p>
        </p:txBody>
      </p:sp>
      <p:sp>
        <p:nvSpPr>
          <p:cNvPr id="3" name="Text 0"/>
          <p:cNvSpPr>
            <a:spLocks noGrp="1"/>
          </p:cNvSpPr>
          <p:nvPr>
            <p:ph type="body" idx="101" hasCustomPrompt="1"/>
          </p:nvPr>
        </p:nvSpPr>
        <p:spPr>
          <a:xfrm>
            <a:off x="548640" y="1051560"/>
            <a:ext cx="11091672" cy="365760"/>
          </a:xfrm>
          <a:prstGeom prst="rect">
            <a:avLst/>
          </a:prstGeom>
          <a:noFill/>
          <a:ln/>
        </p:spPr>
        <p:txBody>
          <a:bodyPr wrap="square" lIns="0" tIns="0" rIns="0" bIns="0" rtlCol="0" anchor="ctr"/>
          <a:lstStyle/>
          <a:p>
            <a:pPr marL="0" indent="0" algn="l">
              <a:buNone/>
            </a:pPr>
            <a:r>
              <a:rPr lang="en-US" sz="1600" dirty="0">
                <a:solidFill>
                  <a:schemeClr val="accent5"/>
                </a:solidFill>
              </a:rPr>
              <a:t>Why the project was done and how the tools connect</a:t>
            </a:r>
            <a:endParaRPr lang="en-US" sz="1600" dirty="0"/>
          </a:p>
        </p:txBody>
      </p:sp>
      <p:sp>
        <p:nvSpPr>
          <p:cNvPr id="4" name="Purpose banner 36"/>
          <p:cNvSpPr/>
          <p:nvPr/>
        </p:nvSpPr>
        <p:spPr>
          <a:xfrm>
            <a:off x="548640" y="1691640"/>
            <a:ext cx="11091672" cy="960120"/>
          </a:xfrm>
          <a:prstGeom prst="roundRect">
            <a:avLst>
              <a:gd name="adj" fmla="val 13333"/>
            </a:avLst>
          </a:prstGeom>
          <a:solidFill>
            <a:srgbClr val="16264F"/>
          </a:solidFill>
          <a:ln w="12700">
            <a:solidFill>
              <a:srgbClr val="16264F"/>
            </a:solidFill>
            <a:prstDash val="solid"/>
          </a:ln>
        </p:spPr>
      </p:sp>
      <p:sp>
        <p:nvSpPr>
          <p:cNvPr id="5" name="Icon circle 37"/>
          <p:cNvSpPr/>
          <p:nvPr/>
        </p:nvSpPr>
        <p:spPr>
          <a:xfrm>
            <a:off x="822960" y="1828800"/>
            <a:ext cx="685800" cy="685800"/>
          </a:xfrm>
          <a:prstGeom prst="ellipse">
            <a:avLst/>
          </a:prstGeom>
          <a:solidFill>
            <a:srgbClr val="19B3A1"/>
          </a:solidFill>
          <a:ln w="12700">
            <a:solidFill>
              <a:srgbClr val="19B3A1"/>
            </a:solidFill>
            <a:prstDash val="solid"/>
          </a:ln>
        </p:spPr>
      </p:sp>
      <p:pic>
        <p:nvPicPr>
          <p:cNvPr id="6" name="Icon 38" descr="icon"/>
          <p:cNvPicPr>
            <a:picLocks noChangeAspect="1"/>
          </p:cNvPicPr>
          <p:nvPr/>
        </p:nvPicPr>
        <p:blipFill>
          <a:blip r:embed="rId3"/>
          <a:stretch>
            <a:fillRect/>
          </a:stretch>
        </p:blipFill>
        <p:spPr>
          <a:xfrm>
            <a:off x="1014984" y="2020824"/>
            <a:ext cx="301752" cy="301752"/>
          </a:xfrm>
          <a:prstGeom prst="rect">
            <a:avLst/>
          </a:prstGeom>
        </p:spPr>
      </p:pic>
      <p:sp>
        <p:nvSpPr>
          <p:cNvPr id="7" name="Purpose text 39"/>
          <p:cNvSpPr txBox="1"/>
          <p:nvPr/>
        </p:nvSpPr>
        <p:spPr>
          <a:xfrm>
            <a:off x="1828800" y="1691640"/>
            <a:ext cx="9445752" cy="960120"/>
          </a:xfrm>
          <a:prstGeom prst="rect">
            <a:avLst/>
          </a:prstGeom>
          <a:noFill/>
          <a:ln/>
        </p:spPr>
        <p:txBody>
          <a:bodyPr wrap="square" lIns="0" tIns="0" rIns="0" bIns="0" rtlCol="0" anchor="ctr"/>
          <a:lstStyle/>
          <a:p>
            <a:pPr marL="0" indent="0">
              <a:buNone/>
            </a:pPr>
            <a:r>
              <a:rPr lang="en-US" sz="1800" b="1" dirty="0">
                <a:solidFill>
                  <a:schemeClr val="accent2"/>
                </a:solidFill>
              </a:rPr>
              <a:t>Purpose: </a:t>
            </a:r>
            <a:r>
              <a:rPr lang="en-US" sz="1800" dirty="0">
                <a:solidFill>
                  <a:schemeClr val="bg1"/>
                </a:solidFill>
              </a:rPr>
              <a:t>find the customer characteristics most linked to churn, and present them to support retention decisions.</a:t>
            </a:r>
            <a:endParaRPr lang="en-US" sz="1800" dirty="0"/>
          </a:p>
        </p:txBody>
      </p:sp>
      <p:sp>
        <p:nvSpPr>
          <p:cNvPr id="8" name="Step card 40"/>
          <p:cNvSpPr/>
          <p:nvPr/>
        </p:nvSpPr>
        <p:spPr>
          <a:xfrm>
            <a:off x="548640" y="2971800"/>
            <a:ext cx="1889150" cy="2331720"/>
          </a:xfrm>
          <a:prstGeom prst="roundRect">
            <a:avLst>
              <a:gd name="adj" fmla="val 6776"/>
            </a:avLst>
          </a:prstGeom>
          <a:solidFill>
            <a:schemeClr val="bg2"/>
          </a:solidFill>
          <a:ln w="12700">
            <a:solidFill>
              <a:schemeClr val="bg2"/>
            </a:solidFill>
            <a:prstDash val="solid"/>
          </a:ln>
          <a:effectLst>
            <a:outerShdw blurRad="127000" dist="38100" dir="5400000" algn="bl" rotWithShape="0">
              <a:srgbClr val="0B1530">
                <a:alpha val="12000"/>
              </a:srgbClr>
            </a:outerShdw>
          </a:effectLst>
        </p:spPr>
      </p:sp>
      <p:sp>
        <p:nvSpPr>
          <p:cNvPr id="9" name="Icon circle 41"/>
          <p:cNvSpPr/>
          <p:nvPr/>
        </p:nvSpPr>
        <p:spPr>
          <a:xfrm>
            <a:off x="1173175" y="3154680"/>
            <a:ext cx="640080" cy="640080"/>
          </a:xfrm>
          <a:prstGeom prst="ellipse">
            <a:avLst/>
          </a:prstGeom>
          <a:solidFill>
            <a:srgbClr val="16264F"/>
          </a:solidFill>
          <a:ln w="12700">
            <a:solidFill>
              <a:srgbClr val="16264F"/>
            </a:solidFill>
            <a:prstDash val="solid"/>
          </a:ln>
        </p:spPr>
      </p:sp>
      <p:pic>
        <p:nvPicPr>
          <p:cNvPr id="10" name="Icon 42" descr="icon"/>
          <p:cNvPicPr>
            <a:picLocks noChangeAspect="1"/>
          </p:cNvPicPr>
          <p:nvPr/>
        </p:nvPicPr>
        <p:blipFill>
          <a:blip r:embed="rId4"/>
          <a:stretch>
            <a:fillRect/>
          </a:stretch>
        </p:blipFill>
        <p:spPr>
          <a:xfrm>
            <a:off x="1352398" y="3333902"/>
            <a:ext cx="281635" cy="281635"/>
          </a:xfrm>
          <a:prstGeom prst="rect">
            <a:avLst/>
          </a:prstGeom>
        </p:spPr>
      </p:pic>
      <p:sp>
        <p:nvSpPr>
          <p:cNvPr id="11" name="Step name 43"/>
          <p:cNvSpPr txBox="1"/>
          <p:nvPr/>
        </p:nvSpPr>
        <p:spPr>
          <a:xfrm>
            <a:off x="640080" y="3931920"/>
            <a:ext cx="1706270" cy="502920"/>
          </a:xfrm>
          <a:prstGeom prst="rect">
            <a:avLst/>
          </a:prstGeom>
          <a:noFill/>
          <a:ln/>
        </p:spPr>
        <p:txBody>
          <a:bodyPr wrap="square" lIns="0" tIns="0" rIns="0" bIns="0" rtlCol="0" anchor="ctr"/>
          <a:lstStyle/>
          <a:p>
            <a:pPr marL="0" indent="0" algn="ctr">
              <a:buNone/>
            </a:pPr>
            <a:r>
              <a:rPr lang="en-US" sz="1500" b="1" dirty="0">
                <a:solidFill>
                  <a:schemeClr val="tx2"/>
                </a:solidFill>
              </a:rPr>
              <a:t>CSV file</a:t>
            </a:r>
            <a:endParaRPr lang="en-US" sz="1500" dirty="0"/>
          </a:p>
        </p:txBody>
      </p:sp>
      <p:sp>
        <p:nvSpPr>
          <p:cNvPr id="12" name="Step description 44"/>
          <p:cNvSpPr txBox="1"/>
          <p:nvPr/>
        </p:nvSpPr>
        <p:spPr>
          <a:xfrm>
            <a:off x="658368" y="4480560"/>
            <a:ext cx="1669694" cy="731520"/>
          </a:xfrm>
          <a:prstGeom prst="rect">
            <a:avLst/>
          </a:prstGeom>
          <a:noFill/>
          <a:ln/>
        </p:spPr>
        <p:txBody>
          <a:bodyPr wrap="square" lIns="0" tIns="0" rIns="0" bIns="0" rtlCol="0" anchor="t"/>
          <a:lstStyle/>
          <a:p>
            <a:pPr marL="0" indent="0" algn="ctr">
              <a:buNone/>
            </a:pPr>
            <a:r>
              <a:rPr lang="en-US" sz="1400" dirty="0">
                <a:solidFill>
                  <a:schemeClr val="tx1"/>
                </a:solidFill>
              </a:rPr>
              <a:t>Raw customer data</a:t>
            </a:r>
            <a:endParaRPr lang="en-US" sz="1400" dirty="0"/>
          </a:p>
        </p:txBody>
      </p:sp>
      <p:pic>
        <p:nvPicPr>
          <p:cNvPr id="13" name="Arrow 45" descr="leads to"/>
          <p:cNvPicPr>
            <a:picLocks noChangeAspect="1"/>
          </p:cNvPicPr>
          <p:nvPr/>
        </p:nvPicPr>
        <p:blipFill>
          <a:blip r:embed="rId5"/>
          <a:stretch>
            <a:fillRect/>
          </a:stretch>
        </p:blipFill>
        <p:spPr>
          <a:xfrm>
            <a:off x="2546375" y="4005072"/>
            <a:ext cx="201168" cy="201168"/>
          </a:xfrm>
          <a:prstGeom prst="rect">
            <a:avLst/>
          </a:prstGeom>
        </p:spPr>
      </p:pic>
      <p:sp>
        <p:nvSpPr>
          <p:cNvPr id="14" name="Step card 46"/>
          <p:cNvSpPr/>
          <p:nvPr/>
        </p:nvSpPr>
        <p:spPr>
          <a:xfrm>
            <a:off x="2856128" y="2971800"/>
            <a:ext cx="1889150" cy="2331720"/>
          </a:xfrm>
          <a:prstGeom prst="roundRect">
            <a:avLst>
              <a:gd name="adj" fmla="val 6776"/>
            </a:avLst>
          </a:prstGeom>
          <a:solidFill>
            <a:schemeClr val="bg2"/>
          </a:solidFill>
          <a:ln w="12700">
            <a:solidFill>
              <a:schemeClr val="bg2"/>
            </a:solidFill>
            <a:prstDash val="solid"/>
          </a:ln>
          <a:effectLst>
            <a:outerShdw blurRad="127000" dist="38100" dir="5400000" algn="bl" rotWithShape="0">
              <a:srgbClr val="0B1530">
                <a:alpha val="12000"/>
              </a:srgbClr>
            </a:outerShdw>
          </a:effectLst>
        </p:spPr>
      </p:sp>
      <p:sp>
        <p:nvSpPr>
          <p:cNvPr id="15" name="Icon circle 47"/>
          <p:cNvSpPr/>
          <p:nvPr/>
        </p:nvSpPr>
        <p:spPr>
          <a:xfrm>
            <a:off x="3480664" y="3154680"/>
            <a:ext cx="640080" cy="640080"/>
          </a:xfrm>
          <a:prstGeom prst="ellipse">
            <a:avLst/>
          </a:prstGeom>
          <a:solidFill>
            <a:srgbClr val="16264F"/>
          </a:solidFill>
          <a:ln w="12700">
            <a:solidFill>
              <a:srgbClr val="16264F"/>
            </a:solidFill>
            <a:prstDash val="solid"/>
          </a:ln>
        </p:spPr>
      </p:sp>
      <p:pic>
        <p:nvPicPr>
          <p:cNvPr id="16" name="Icon 48" descr="icon"/>
          <p:cNvPicPr>
            <a:picLocks noChangeAspect="1"/>
          </p:cNvPicPr>
          <p:nvPr/>
        </p:nvPicPr>
        <p:blipFill>
          <a:blip r:embed="rId6"/>
          <a:stretch>
            <a:fillRect/>
          </a:stretch>
        </p:blipFill>
        <p:spPr>
          <a:xfrm>
            <a:off x="3659886" y="3333902"/>
            <a:ext cx="281635" cy="281635"/>
          </a:xfrm>
          <a:prstGeom prst="rect">
            <a:avLst/>
          </a:prstGeom>
        </p:spPr>
      </p:pic>
      <p:sp>
        <p:nvSpPr>
          <p:cNvPr id="17" name="Step name 49"/>
          <p:cNvSpPr txBox="1"/>
          <p:nvPr/>
        </p:nvSpPr>
        <p:spPr>
          <a:xfrm>
            <a:off x="2947568" y="3931920"/>
            <a:ext cx="1706270" cy="502920"/>
          </a:xfrm>
          <a:prstGeom prst="rect">
            <a:avLst/>
          </a:prstGeom>
          <a:noFill/>
          <a:ln/>
        </p:spPr>
        <p:txBody>
          <a:bodyPr wrap="square" lIns="0" tIns="0" rIns="0" bIns="0" rtlCol="0" anchor="ctr"/>
          <a:lstStyle/>
          <a:p>
            <a:pPr marL="0" indent="0" algn="ctr">
              <a:buNone/>
            </a:pPr>
            <a:r>
              <a:rPr lang="en-US" sz="1500" b="1" dirty="0">
                <a:solidFill>
                  <a:schemeClr val="tx2"/>
                </a:solidFill>
              </a:rPr>
              <a:t>PostgreSQL</a:t>
            </a:r>
            <a:endParaRPr lang="en-US" sz="1500" dirty="0"/>
          </a:p>
        </p:txBody>
      </p:sp>
      <p:sp>
        <p:nvSpPr>
          <p:cNvPr id="18" name="Step description 50"/>
          <p:cNvSpPr txBox="1"/>
          <p:nvPr/>
        </p:nvSpPr>
        <p:spPr>
          <a:xfrm>
            <a:off x="2965856" y="4480560"/>
            <a:ext cx="1669694" cy="731520"/>
          </a:xfrm>
          <a:prstGeom prst="rect">
            <a:avLst/>
          </a:prstGeom>
          <a:noFill/>
          <a:ln/>
        </p:spPr>
        <p:txBody>
          <a:bodyPr wrap="square" lIns="0" tIns="0" rIns="0" bIns="0" rtlCol="0" anchor="t"/>
          <a:lstStyle/>
          <a:p>
            <a:pPr marL="0" indent="0" algn="ctr">
              <a:buNone/>
            </a:pPr>
            <a:r>
              <a:rPr lang="en-US" sz="1400" dirty="0">
                <a:solidFill>
                  <a:schemeClr val="tx1"/>
                </a:solidFill>
              </a:rPr>
              <a:t>Stores the data (SQL Shell loads it)</a:t>
            </a:r>
            <a:endParaRPr lang="en-US" sz="1400" dirty="0"/>
          </a:p>
        </p:txBody>
      </p:sp>
      <p:pic>
        <p:nvPicPr>
          <p:cNvPr id="19" name="Arrow 51" descr="leads to"/>
          <p:cNvPicPr>
            <a:picLocks noChangeAspect="1"/>
          </p:cNvPicPr>
          <p:nvPr/>
        </p:nvPicPr>
        <p:blipFill>
          <a:blip r:embed="rId5"/>
          <a:stretch>
            <a:fillRect/>
          </a:stretch>
        </p:blipFill>
        <p:spPr>
          <a:xfrm>
            <a:off x="4853864" y="4005072"/>
            <a:ext cx="201168" cy="201168"/>
          </a:xfrm>
          <a:prstGeom prst="rect">
            <a:avLst/>
          </a:prstGeom>
        </p:spPr>
      </p:pic>
      <p:sp>
        <p:nvSpPr>
          <p:cNvPr id="20" name="Step card 52"/>
          <p:cNvSpPr/>
          <p:nvPr/>
        </p:nvSpPr>
        <p:spPr>
          <a:xfrm>
            <a:off x="5163617" y="2971800"/>
            <a:ext cx="1889150" cy="2331720"/>
          </a:xfrm>
          <a:prstGeom prst="roundRect">
            <a:avLst>
              <a:gd name="adj" fmla="val 6776"/>
            </a:avLst>
          </a:prstGeom>
          <a:solidFill>
            <a:schemeClr val="bg2"/>
          </a:solidFill>
          <a:ln w="12700">
            <a:solidFill>
              <a:schemeClr val="bg2"/>
            </a:solidFill>
            <a:prstDash val="solid"/>
          </a:ln>
          <a:effectLst>
            <a:outerShdw blurRad="127000" dist="38100" dir="5400000" algn="bl" rotWithShape="0">
              <a:srgbClr val="0B1530">
                <a:alpha val="12000"/>
              </a:srgbClr>
            </a:outerShdw>
          </a:effectLst>
        </p:spPr>
      </p:sp>
      <p:sp>
        <p:nvSpPr>
          <p:cNvPr id="21" name="Icon circle 53"/>
          <p:cNvSpPr/>
          <p:nvPr/>
        </p:nvSpPr>
        <p:spPr>
          <a:xfrm>
            <a:off x="5788152" y="3154680"/>
            <a:ext cx="640080" cy="640080"/>
          </a:xfrm>
          <a:prstGeom prst="ellipse">
            <a:avLst/>
          </a:prstGeom>
          <a:solidFill>
            <a:srgbClr val="16264F"/>
          </a:solidFill>
          <a:ln w="12700">
            <a:solidFill>
              <a:srgbClr val="16264F"/>
            </a:solidFill>
            <a:prstDash val="solid"/>
          </a:ln>
        </p:spPr>
      </p:sp>
      <p:pic>
        <p:nvPicPr>
          <p:cNvPr id="22" name="Icon 54" descr="icon"/>
          <p:cNvPicPr>
            <a:picLocks noChangeAspect="1"/>
          </p:cNvPicPr>
          <p:nvPr/>
        </p:nvPicPr>
        <p:blipFill>
          <a:blip r:embed="rId7"/>
          <a:stretch>
            <a:fillRect/>
          </a:stretch>
        </p:blipFill>
        <p:spPr>
          <a:xfrm>
            <a:off x="5967374" y="3333902"/>
            <a:ext cx="281635" cy="281635"/>
          </a:xfrm>
          <a:prstGeom prst="rect">
            <a:avLst/>
          </a:prstGeom>
        </p:spPr>
      </p:pic>
      <p:sp>
        <p:nvSpPr>
          <p:cNvPr id="23" name="Step name 55"/>
          <p:cNvSpPr txBox="1"/>
          <p:nvPr/>
        </p:nvSpPr>
        <p:spPr>
          <a:xfrm>
            <a:off x="5255057" y="3931920"/>
            <a:ext cx="1706270" cy="502920"/>
          </a:xfrm>
          <a:prstGeom prst="rect">
            <a:avLst/>
          </a:prstGeom>
          <a:noFill/>
          <a:ln/>
        </p:spPr>
        <p:txBody>
          <a:bodyPr wrap="square" lIns="0" tIns="0" rIns="0" bIns="0" rtlCol="0" anchor="ctr"/>
          <a:lstStyle/>
          <a:p>
            <a:pPr marL="0" indent="0" algn="ctr">
              <a:buNone/>
            </a:pPr>
            <a:r>
              <a:rPr lang="en-US" sz="1500" b="1" dirty="0">
                <a:solidFill>
                  <a:schemeClr val="tx2"/>
                </a:solidFill>
              </a:rPr>
              <a:t>DBeaver</a:t>
            </a:r>
            <a:endParaRPr lang="en-US" sz="1500" dirty="0"/>
          </a:p>
        </p:txBody>
      </p:sp>
      <p:sp>
        <p:nvSpPr>
          <p:cNvPr id="24" name="Step description 56"/>
          <p:cNvSpPr txBox="1"/>
          <p:nvPr/>
        </p:nvSpPr>
        <p:spPr>
          <a:xfrm>
            <a:off x="5273345" y="4480560"/>
            <a:ext cx="1669694" cy="731520"/>
          </a:xfrm>
          <a:prstGeom prst="rect">
            <a:avLst/>
          </a:prstGeom>
          <a:noFill/>
          <a:ln/>
        </p:spPr>
        <p:txBody>
          <a:bodyPr wrap="square" lIns="0" tIns="0" rIns="0" bIns="0" rtlCol="0" anchor="t"/>
          <a:lstStyle/>
          <a:p>
            <a:pPr marL="0" indent="0" algn="ctr">
              <a:buNone/>
            </a:pPr>
            <a:r>
              <a:rPr lang="en-US" sz="1400" dirty="0">
                <a:solidFill>
                  <a:schemeClr val="tx1"/>
                </a:solidFill>
              </a:rPr>
              <a:t>Runs five analysis queries</a:t>
            </a:r>
            <a:endParaRPr lang="en-US" sz="1400" dirty="0"/>
          </a:p>
        </p:txBody>
      </p:sp>
      <p:pic>
        <p:nvPicPr>
          <p:cNvPr id="25" name="Arrow 57" descr="leads to"/>
          <p:cNvPicPr>
            <a:picLocks noChangeAspect="1"/>
          </p:cNvPicPr>
          <p:nvPr/>
        </p:nvPicPr>
        <p:blipFill>
          <a:blip r:embed="rId5"/>
          <a:stretch>
            <a:fillRect/>
          </a:stretch>
        </p:blipFill>
        <p:spPr>
          <a:xfrm>
            <a:off x="7161352" y="4005072"/>
            <a:ext cx="201168" cy="201168"/>
          </a:xfrm>
          <a:prstGeom prst="rect">
            <a:avLst/>
          </a:prstGeom>
        </p:spPr>
      </p:pic>
      <p:sp>
        <p:nvSpPr>
          <p:cNvPr id="26" name="Step card 58"/>
          <p:cNvSpPr/>
          <p:nvPr/>
        </p:nvSpPr>
        <p:spPr>
          <a:xfrm>
            <a:off x="7471105" y="2971800"/>
            <a:ext cx="1889150" cy="2331720"/>
          </a:xfrm>
          <a:prstGeom prst="roundRect">
            <a:avLst>
              <a:gd name="adj" fmla="val 6776"/>
            </a:avLst>
          </a:prstGeom>
          <a:solidFill>
            <a:schemeClr val="bg2"/>
          </a:solidFill>
          <a:ln w="12700">
            <a:solidFill>
              <a:schemeClr val="bg2"/>
            </a:solidFill>
            <a:prstDash val="solid"/>
          </a:ln>
          <a:effectLst>
            <a:outerShdw blurRad="127000" dist="38100" dir="5400000" algn="bl" rotWithShape="0">
              <a:srgbClr val="0B1530">
                <a:alpha val="12000"/>
              </a:srgbClr>
            </a:outerShdw>
          </a:effectLst>
        </p:spPr>
      </p:sp>
      <p:sp>
        <p:nvSpPr>
          <p:cNvPr id="27" name="Icon circle 59"/>
          <p:cNvSpPr/>
          <p:nvPr/>
        </p:nvSpPr>
        <p:spPr>
          <a:xfrm>
            <a:off x="8095640" y="3154680"/>
            <a:ext cx="640080" cy="640080"/>
          </a:xfrm>
          <a:prstGeom prst="ellipse">
            <a:avLst/>
          </a:prstGeom>
          <a:solidFill>
            <a:srgbClr val="16264F"/>
          </a:solidFill>
          <a:ln w="12700">
            <a:solidFill>
              <a:srgbClr val="16264F"/>
            </a:solidFill>
            <a:prstDash val="solid"/>
          </a:ln>
        </p:spPr>
      </p:sp>
      <p:pic>
        <p:nvPicPr>
          <p:cNvPr id="28" name="Icon 60" descr="icon"/>
          <p:cNvPicPr>
            <a:picLocks noChangeAspect="1"/>
          </p:cNvPicPr>
          <p:nvPr/>
        </p:nvPicPr>
        <p:blipFill>
          <a:blip r:embed="rId8"/>
          <a:stretch>
            <a:fillRect/>
          </a:stretch>
        </p:blipFill>
        <p:spPr>
          <a:xfrm>
            <a:off x="8274863" y="3333902"/>
            <a:ext cx="281635" cy="281635"/>
          </a:xfrm>
          <a:prstGeom prst="rect">
            <a:avLst/>
          </a:prstGeom>
        </p:spPr>
      </p:pic>
      <p:sp>
        <p:nvSpPr>
          <p:cNvPr id="29" name="Step name 61"/>
          <p:cNvSpPr txBox="1"/>
          <p:nvPr/>
        </p:nvSpPr>
        <p:spPr>
          <a:xfrm>
            <a:off x="7562545" y="3931920"/>
            <a:ext cx="1706270" cy="502920"/>
          </a:xfrm>
          <a:prstGeom prst="rect">
            <a:avLst/>
          </a:prstGeom>
          <a:noFill/>
          <a:ln/>
        </p:spPr>
        <p:txBody>
          <a:bodyPr wrap="square" lIns="0" tIns="0" rIns="0" bIns="0" rtlCol="0" anchor="ctr"/>
          <a:lstStyle/>
          <a:p>
            <a:pPr marL="0" indent="0" algn="ctr">
              <a:buNone/>
            </a:pPr>
            <a:r>
              <a:rPr lang="en-US" sz="1500" b="1" dirty="0">
                <a:solidFill>
                  <a:schemeClr val="tx2"/>
                </a:solidFill>
              </a:rPr>
              <a:t>Power BI</a:t>
            </a:r>
            <a:endParaRPr lang="en-US" sz="1500" dirty="0"/>
          </a:p>
        </p:txBody>
      </p:sp>
      <p:sp>
        <p:nvSpPr>
          <p:cNvPr id="30" name="Step description 62"/>
          <p:cNvSpPr txBox="1"/>
          <p:nvPr/>
        </p:nvSpPr>
        <p:spPr>
          <a:xfrm>
            <a:off x="7580833" y="4480560"/>
            <a:ext cx="1669694" cy="731520"/>
          </a:xfrm>
          <a:prstGeom prst="rect">
            <a:avLst/>
          </a:prstGeom>
          <a:noFill/>
          <a:ln/>
        </p:spPr>
        <p:txBody>
          <a:bodyPr wrap="square" lIns="0" tIns="0" rIns="0" bIns="0" rtlCol="0" anchor="t"/>
          <a:lstStyle/>
          <a:p>
            <a:pPr marL="0" indent="0" algn="ctr">
              <a:buNone/>
            </a:pPr>
            <a:r>
              <a:rPr lang="en-US" sz="1400" dirty="0">
                <a:solidFill>
                  <a:schemeClr val="tx1"/>
                </a:solidFill>
              </a:rPr>
              <a:t>Interactive charts and measures</a:t>
            </a:r>
            <a:endParaRPr lang="en-US" sz="1400" dirty="0"/>
          </a:p>
        </p:txBody>
      </p:sp>
      <p:pic>
        <p:nvPicPr>
          <p:cNvPr id="31" name="Arrow 63" descr="leads to"/>
          <p:cNvPicPr>
            <a:picLocks noChangeAspect="1"/>
          </p:cNvPicPr>
          <p:nvPr/>
        </p:nvPicPr>
        <p:blipFill>
          <a:blip r:embed="rId5"/>
          <a:stretch>
            <a:fillRect/>
          </a:stretch>
        </p:blipFill>
        <p:spPr>
          <a:xfrm>
            <a:off x="9468841" y="4005072"/>
            <a:ext cx="201168" cy="201168"/>
          </a:xfrm>
          <a:prstGeom prst="rect">
            <a:avLst/>
          </a:prstGeom>
        </p:spPr>
      </p:pic>
      <p:sp>
        <p:nvSpPr>
          <p:cNvPr id="32" name="Step card 64"/>
          <p:cNvSpPr/>
          <p:nvPr/>
        </p:nvSpPr>
        <p:spPr>
          <a:xfrm>
            <a:off x="9778594" y="2971800"/>
            <a:ext cx="1889150" cy="2331720"/>
          </a:xfrm>
          <a:prstGeom prst="roundRect">
            <a:avLst>
              <a:gd name="adj" fmla="val 6776"/>
            </a:avLst>
          </a:prstGeom>
          <a:solidFill>
            <a:schemeClr val="bg2"/>
          </a:solidFill>
          <a:ln w="12700">
            <a:solidFill>
              <a:schemeClr val="bg2"/>
            </a:solidFill>
            <a:prstDash val="solid"/>
          </a:ln>
          <a:effectLst>
            <a:outerShdw blurRad="127000" dist="38100" dir="5400000" algn="bl" rotWithShape="0">
              <a:srgbClr val="0B1530">
                <a:alpha val="12000"/>
              </a:srgbClr>
            </a:outerShdw>
          </a:effectLst>
        </p:spPr>
      </p:sp>
      <p:sp>
        <p:nvSpPr>
          <p:cNvPr id="33" name="Icon circle 65"/>
          <p:cNvSpPr/>
          <p:nvPr/>
        </p:nvSpPr>
        <p:spPr>
          <a:xfrm>
            <a:off x="10403129" y="3154680"/>
            <a:ext cx="640080" cy="640080"/>
          </a:xfrm>
          <a:prstGeom prst="ellipse">
            <a:avLst/>
          </a:prstGeom>
          <a:solidFill>
            <a:srgbClr val="16264F"/>
          </a:solidFill>
          <a:ln w="12700">
            <a:solidFill>
              <a:srgbClr val="16264F"/>
            </a:solidFill>
            <a:prstDash val="solid"/>
          </a:ln>
        </p:spPr>
      </p:sp>
      <p:pic>
        <p:nvPicPr>
          <p:cNvPr id="34" name="Icon 66" descr="icon"/>
          <p:cNvPicPr>
            <a:picLocks noChangeAspect="1"/>
          </p:cNvPicPr>
          <p:nvPr/>
        </p:nvPicPr>
        <p:blipFill>
          <a:blip r:embed="rId9"/>
          <a:stretch>
            <a:fillRect/>
          </a:stretch>
        </p:blipFill>
        <p:spPr>
          <a:xfrm>
            <a:off x="10582351" y="3333902"/>
            <a:ext cx="281635" cy="281635"/>
          </a:xfrm>
          <a:prstGeom prst="rect">
            <a:avLst/>
          </a:prstGeom>
        </p:spPr>
      </p:pic>
      <p:sp>
        <p:nvSpPr>
          <p:cNvPr id="35" name="Step name 67"/>
          <p:cNvSpPr txBox="1"/>
          <p:nvPr/>
        </p:nvSpPr>
        <p:spPr>
          <a:xfrm>
            <a:off x="9870034" y="3931920"/>
            <a:ext cx="1706270" cy="502920"/>
          </a:xfrm>
          <a:prstGeom prst="rect">
            <a:avLst/>
          </a:prstGeom>
          <a:noFill/>
          <a:ln/>
        </p:spPr>
        <p:txBody>
          <a:bodyPr wrap="square" lIns="0" tIns="0" rIns="0" bIns="0" rtlCol="0" anchor="ctr"/>
          <a:lstStyle/>
          <a:p>
            <a:pPr marL="0" indent="0" algn="ctr">
              <a:buNone/>
            </a:pPr>
            <a:r>
              <a:rPr lang="en-US" sz="1500" b="1" dirty="0">
                <a:solidFill>
                  <a:schemeClr val="tx2"/>
                </a:solidFill>
              </a:rPr>
              <a:t>Word and PowerPoint</a:t>
            </a:r>
            <a:endParaRPr lang="en-US" sz="1500" dirty="0"/>
          </a:p>
        </p:txBody>
      </p:sp>
      <p:sp>
        <p:nvSpPr>
          <p:cNvPr id="36" name="Step description 68"/>
          <p:cNvSpPr txBox="1"/>
          <p:nvPr/>
        </p:nvSpPr>
        <p:spPr>
          <a:xfrm>
            <a:off x="9888322" y="4480560"/>
            <a:ext cx="1669694" cy="731520"/>
          </a:xfrm>
          <a:prstGeom prst="rect">
            <a:avLst/>
          </a:prstGeom>
          <a:noFill/>
          <a:ln/>
        </p:spPr>
        <p:txBody>
          <a:bodyPr wrap="square" lIns="0" tIns="0" rIns="0" bIns="0" rtlCol="0" anchor="t"/>
          <a:lstStyle/>
          <a:p>
            <a:pPr marL="0" indent="0" algn="ctr">
              <a:buNone/>
            </a:pPr>
            <a:r>
              <a:rPr lang="en-US" sz="1400" dirty="0">
                <a:solidFill>
                  <a:schemeClr val="tx1"/>
                </a:solidFill>
              </a:rPr>
              <a:t>Report and presentation</a:t>
            </a:r>
            <a:endParaRPr lang="en-US" sz="1400" dirty="0"/>
          </a:p>
        </p:txBody>
      </p:sp>
      <p:sp>
        <p:nvSpPr>
          <p:cNvPr id="37" name="Parallel route 69"/>
          <p:cNvSpPr/>
          <p:nvPr/>
        </p:nvSpPr>
        <p:spPr>
          <a:xfrm>
            <a:off x="548640" y="5532120"/>
            <a:ext cx="11091672" cy="640080"/>
          </a:xfrm>
          <a:prstGeom prst="roundRect">
            <a:avLst>
              <a:gd name="adj" fmla="val 20000"/>
            </a:avLst>
          </a:prstGeom>
          <a:solidFill>
            <a:schemeClr val="bg1"/>
          </a:solidFill>
          <a:ln w="19050">
            <a:solidFill>
              <a:srgbClr val="19B3A1"/>
            </a:solidFill>
            <a:prstDash val="dash"/>
          </a:ln>
        </p:spPr>
      </p:sp>
      <p:sp>
        <p:nvSpPr>
          <p:cNvPr id="38" name="Icon circle 70"/>
          <p:cNvSpPr/>
          <p:nvPr/>
        </p:nvSpPr>
        <p:spPr>
          <a:xfrm>
            <a:off x="777240" y="5596128"/>
            <a:ext cx="512064" cy="512064"/>
          </a:xfrm>
          <a:prstGeom prst="ellipse">
            <a:avLst/>
          </a:prstGeom>
          <a:solidFill>
            <a:srgbClr val="19B3A1"/>
          </a:solidFill>
          <a:ln w="12700">
            <a:solidFill>
              <a:srgbClr val="19B3A1"/>
            </a:solidFill>
            <a:prstDash val="solid"/>
          </a:ln>
        </p:spPr>
      </p:sp>
      <p:pic>
        <p:nvPicPr>
          <p:cNvPr id="39" name="Icon 71" descr="icon"/>
          <p:cNvPicPr>
            <a:picLocks noChangeAspect="1"/>
          </p:cNvPicPr>
          <p:nvPr/>
        </p:nvPicPr>
        <p:blipFill>
          <a:blip r:embed="rId10"/>
          <a:stretch>
            <a:fillRect/>
          </a:stretch>
        </p:blipFill>
        <p:spPr>
          <a:xfrm>
            <a:off x="920618" y="5739506"/>
            <a:ext cx="225308" cy="225308"/>
          </a:xfrm>
          <a:prstGeom prst="rect">
            <a:avLst/>
          </a:prstGeom>
        </p:spPr>
      </p:pic>
      <p:sp>
        <p:nvSpPr>
          <p:cNvPr id="40" name="Parallel route text 72"/>
          <p:cNvSpPr txBox="1"/>
          <p:nvPr/>
        </p:nvSpPr>
        <p:spPr>
          <a:xfrm>
            <a:off x="1508760" y="5532120"/>
            <a:ext cx="9902952" cy="640080"/>
          </a:xfrm>
          <a:prstGeom prst="rect">
            <a:avLst/>
          </a:prstGeom>
          <a:noFill/>
          <a:ln/>
        </p:spPr>
        <p:txBody>
          <a:bodyPr wrap="square" lIns="0" tIns="0" rIns="0" bIns="0" rtlCol="0" anchor="ctr"/>
          <a:lstStyle/>
          <a:p>
            <a:pPr marL="0" indent="0">
              <a:buNone/>
            </a:pPr>
            <a:r>
              <a:rPr lang="en-US" sz="1500" b="1" dirty="0">
                <a:solidFill>
                  <a:schemeClr val="tx2"/>
                </a:solidFill>
              </a:rPr>
              <a:t>Parallel cloud route: </a:t>
            </a:r>
            <a:r>
              <a:rPr lang="en-US" sz="1500" dirty="0">
                <a:solidFill>
                  <a:schemeClr val="tx1"/>
                </a:solidFill>
              </a:rPr>
              <a:t>the same data was also loaded into Databricks, where the churn dashboard was built.</a:t>
            </a:r>
            <a:endParaRPr lang="en-US" sz="1500" dirty="0"/>
          </a:p>
        </p:txBody>
      </p:sp>
      <p:sp>
        <p:nvSpPr>
          <p:cNvPr id="41"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79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685800"/>
          </a:xfrm>
          <a:prstGeom prst="rect">
            <a:avLst/>
          </a:prstGeom>
          <a:noFill/>
          <a:ln/>
        </p:spPr>
        <p:txBody>
          <a:bodyPr wrap="square" lIns="0" tIns="0" rIns="0" bIns="0" rtlCol="0" anchor="ctr"/>
          <a:lstStyle/>
          <a:p>
            <a:pPr marL="0" indent="0" algn="l">
              <a:buNone/>
            </a:pPr>
            <a:r>
              <a:rPr lang="en-US" sz="3400" b="1" dirty="0">
                <a:solidFill>
                  <a:schemeClr val="tx2"/>
                </a:solidFill>
              </a:rPr>
              <a:t>Tools: database and loading</a:t>
            </a:r>
            <a:endParaRPr lang="en-US" sz="3400" dirty="0"/>
          </a:p>
        </p:txBody>
      </p:sp>
      <p:sp>
        <p:nvSpPr>
          <p:cNvPr id="3" name="Text 0"/>
          <p:cNvSpPr>
            <a:spLocks noGrp="1"/>
          </p:cNvSpPr>
          <p:nvPr>
            <p:ph type="body" idx="101" hasCustomPrompt="1"/>
          </p:nvPr>
        </p:nvSpPr>
        <p:spPr>
          <a:xfrm>
            <a:off x="548640" y="1051560"/>
            <a:ext cx="11091672" cy="365760"/>
          </a:xfrm>
          <a:prstGeom prst="rect">
            <a:avLst/>
          </a:prstGeom>
          <a:noFill/>
          <a:ln/>
        </p:spPr>
        <p:txBody>
          <a:bodyPr wrap="square" lIns="0" tIns="0" rIns="0" bIns="0" rtlCol="0" anchor="ctr"/>
          <a:lstStyle/>
          <a:p>
            <a:pPr marL="0" indent="0" algn="l">
              <a:buNone/>
            </a:pPr>
            <a:r>
              <a:rPr lang="en-US" sz="1600" dirty="0">
                <a:solidFill>
                  <a:schemeClr val="accent5"/>
                </a:solidFill>
              </a:rPr>
              <a:t>PostgreSQL, SQL Shell (psql), and DBeaver</a:t>
            </a:r>
            <a:endParaRPr lang="en-US" sz="1600" dirty="0"/>
          </a:p>
        </p:txBody>
      </p:sp>
      <p:sp>
        <p:nvSpPr>
          <p:cNvPr id="4" name="Tool card 73"/>
          <p:cNvSpPr/>
          <p:nvPr/>
        </p:nvSpPr>
        <p:spPr>
          <a:xfrm>
            <a:off x="548640" y="1691640"/>
            <a:ext cx="3453384" cy="4434840"/>
          </a:xfrm>
          <a:prstGeom prst="roundRect">
            <a:avLst>
              <a:gd name="adj" fmla="val 3707"/>
            </a:avLst>
          </a:prstGeom>
          <a:solidFill>
            <a:schemeClr val="bg2"/>
          </a:solidFill>
          <a:ln w="12700">
            <a:solidFill>
              <a:schemeClr val="bg2"/>
            </a:solidFill>
            <a:prstDash val="solid"/>
          </a:ln>
          <a:effectLst>
            <a:outerShdw blurRad="127000" dist="38100" dir="5400000" algn="bl" rotWithShape="0">
              <a:srgbClr val="0B1530">
                <a:alpha val="12000"/>
              </a:srgbClr>
            </a:outerShdw>
          </a:effectLst>
        </p:spPr>
      </p:sp>
      <p:sp>
        <p:nvSpPr>
          <p:cNvPr id="5" name="Icon circle 74"/>
          <p:cNvSpPr/>
          <p:nvPr/>
        </p:nvSpPr>
        <p:spPr>
          <a:xfrm>
            <a:off x="868680" y="2011680"/>
            <a:ext cx="777240" cy="777240"/>
          </a:xfrm>
          <a:prstGeom prst="ellipse">
            <a:avLst/>
          </a:prstGeom>
          <a:solidFill>
            <a:srgbClr val="16264F"/>
          </a:solidFill>
          <a:ln w="12700">
            <a:solidFill>
              <a:srgbClr val="16264F"/>
            </a:solidFill>
            <a:prstDash val="solid"/>
          </a:ln>
        </p:spPr>
      </p:sp>
      <p:pic>
        <p:nvPicPr>
          <p:cNvPr id="6" name="Icon 75" descr="icon"/>
          <p:cNvPicPr>
            <a:picLocks noChangeAspect="1"/>
          </p:cNvPicPr>
          <p:nvPr/>
        </p:nvPicPr>
        <p:blipFill>
          <a:blip r:embed="rId3"/>
          <a:stretch>
            <a:fillRect/>
          </a:stretch>
        </p:blipFill>
        <p:spPr>
          <a:xfrm>
            <a:off x="1086307" y="2229307"/>
            <a:ext cx="341986" cy="341986"/>
          </a:xfrm>
          <a:prstGeom prst="rect">
            <a:avLst/>
          </a:prstGeom>
        </p:spPr>
      </p:pic>
      <p:sp>
        <p:nvSpPr>
          <p:cNvPr id="7" name="Tool name 76"/>
          <p:cNvSpPr txBox="1"/>
          <p:nvPr/>
        </p:nvSpPr>
        <p:spPr>
          <a:xfrm>
            <a:off x="868680" y="2953512"/>
            <a:ext cx="2813304" cy="457200"/>
          </a:xfrm>
          <a:prstGeom prst="rect">
            <a:avLst/>
          </a:prstGeom>
          <a:noFill/>
          <a:ln/>
        </p:spPr>
        <p:txBody>
          <a:bodyPr wrap="square" lIns="0" tIns="0" rIns="0" bIns="0" rtlCol="0" anchor="ctr"/>
          <a:lstStyle/>
          <a:p>
            <a:pPr marL="0" indent="0">
              <a:buNone/>
            </a:pPr>
            <a:r>
              <a:rPr lang="en-US" sz="2200" b="1" dirty="0">
                <a:solidFill>
                  <a:schemeClr val="tx2"/>
                </a:solidFill>
              </a:rPr>
              <a:t>PostgreSQL</a:t>
            </a:r>
            <a:endParaRPr lang="en-US" sz="2200" dirty="0"/>
          </a:p>
        </p:txBody>
      </p:sp>
      <p:sp>
        <p:nvSpPr>
          <p:cNvPr id="8" name="Label 77"/>
          <p:cNvSpPr txBox="1"/>
          <p:nvPr/>
        </p:nvSpPr>
        <p:spPr>
          <a:xfrm>
            <a:off x="868680" y="3520440"/>
            <a:ext cx="2813304" cy="228600"/>
          </a:xfrm>
          <a:prstGeom prst="rect">
            <a:avLst/>
          </a:prstGeom>
          <a:noFill/>
          <a:ln/>
        </p:spPr>
        <p:txBody>
          <a:bodyPr wrap="square" lIns="0" tIns="0" rIns="0" bIns="0" rtlCol="0" anchor="t"/>
          <a:lstStyle/>
          <a:p>
            <a:pPr marL="0" indent="0">
              <a:buNone/>
            </a:pPr>
            <a:r>
              <a:rPr lang="en-US" sz="1100" b="1" kern="0" spc="200" dirty="0">
                <a:solidFill>
                  <a:schemeClr val="accent2"/>
                </a:solidFill>
              </a:rPr>
              <a:t>WHERE WE USED IT</a:t>
            </a:r>
            <a:endParaRPr lang="en-US" sz="1100" dirty="0"/>
          </a:p>
        </p:txBody>
      </p:sp>
      <p:sp>
        <p:nvSpPr>
          <p:cNvPr id="9" name="Where text 78"/>
          <p:cNvSpPr txBox="1"/>
          <p:nvPr/>
        </p:nvSpPr>
        <p:spPr>
          <a:xfrm>
            <a:off x="868680" y="3776472"/>
            <a:ext cx="2813304" cy="868680"/>
          </a:xfrm>
          <a:prstGeom prst="rect">
            <a:avLst/>
          </a:prstGeom>
          <a:noFill/>
          <a:ln/>
        </p:spPr>
        <p:txBody>
          <a:bodyPr wrap="square" lIns="0" tIns="0" rIns="0" bIns="0" rtlCol="0" anchor="t"/>
          <a:lstStyle/>
          <a:p>
            <a:pPr marL="0" indent="0">
              <a:buNone/>
            </a:pPr>
            <a:r>
              <a:rPr lang="en-US" sz="1400" dirty="0">
                <a:solidFill>
                  <a:schemeClr val="tx1"/>
                </a:solidFill>
              </a:rPr>
              <a:t>Stored the churn_db database and the telco table (7,043 rows)</a:t>
            </a:r>
            <a:endParaRPr lang="en-US" sz="1400" dirty="0"/>
          </a:p>
        </p:txBody>
      </p:sp>
      <p:sp>
        <p:nvSpPr>
          <p:cNvPr id="10" name="Label 79"/>
          <p:cNvSpPr txBox="1"/>
          <p:nvPr/>
        </p:nvSpPr>
        <p:spPr>
          <a:xfrm>
            <a:off x="868680" y="4754880"/>
            <a:ext cx="2813304"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WHY WE USED IT</a:t>
            </a:r>
            <a:endParaRPr lang="en-US" sz="1100" dirty="0"/>
          </a:p>
        </p:txBody>
      </p:sp>
      <p:sp>
        <p:nvSpPr>
          <p:cNvPr id="11" name="Why text 80"/>
          <p:cNvSpPr txBox="1"/>
          <p:nvPr/>
        </p:nvSpPr>
        <p:spPr>
          <a:xfrm>
            <a:off x="868680" y="5010912"/>
            <a:ext cx="2813304" cy="868680"/>
          </a:xfrm>
          <a:prstGeom prst="rect">
            <a:avLst/>
          </a:prstGeom>
          <a:noFill/>
          <a:ln/>
        </p:spPr>
        <p:txBody>
          <a:bodyPr wrap="square" lIns="0" tIns="0" rIns="0" bIns="0" rtlCol="0" anchor="t"/>
          <a:lstStyle/>
          <a:p>
            <a:pPr marL="0" indent="0">
              <a:buNone/>
            </a:pPr>
            <a:r>
              <a:rPr lang="en-US" sz="1400" dirty="0">
                <a:solidFill>
                  <a:schemeClr val="tx1"/>
                </a:solidFill>
              </a:rPr>
              <a:t>Reliable database server that runs SQL and connects to Power BI</a:t>
            </a:r>
            <a:endParaRPr lang="en-US" sz="1400" dirty="0"/>
          </a:p>
        </p:txBody>
      </p:sp>
      <p:sp>
        <p:nvSpPr>
          <p:cNvPr id="12" name="Tool card 81"/>
          <p:cNvSpPr/>
          <p:nvPr/>
        </p:nvSpPr>
        <p:spPr>
          <a:xfrm>
            <a:off x="4367784" y="1691640"/>
            <a:ext cx="3453384" cy="4434840"/>
          </a:xfrm>
          <a:prstGeom prst="roundRect">
            <a:avLst>
              <a:gd name="adj" fmla="val 3707"/>
            </a:avLst>
          </a:prstGeom>
          <a:solidFill>
            <a:schemeClr val="bg2"/>
          </a:solidFill>
          <a:ln w="12700">
            <a:solidFill>
              <a:schemeClr val="bg2"/>
            </a:solidFill>
            <a:prstDash val="solid"/>
          </a:ln>
          <a:effectLst>
            <a:outerShdw blurRad="127000" dist="38100" dir="5400000" algn="bl" rotWithShape="0">
              <a:srgbClr val="0B1530">
                <a:alpha val="12000"/>
              </a:srgbClr>
            </a:outerShdw>
          </a:effectLst>
        </p:spPr>
      </p:sp>
      <p:sp>
        <p:nvSpPr>
          <p:cNvPr id="13" name="Icon circle 82"/>
          <p:cNvSpPr/>
          <p:nvPr/>
        </p:nvSpPr>
        <p:spPr>
          <a:xfrm>
            <a:off x="4687824" y="2011680"/>
            <a:ext cx="777240" cy="777240"/>
          </a:xfrm>
          <a:prstGeom prst="ellipse">
            <a:avLst/>
          </a:prstGeom>
          <a:solidFill>
            <a:srgbClr val="16264F"/>
          </a:solidFill>
          <a:ln w="12700">
            <a:solidFill>
              <a:srgbClr val="16264F"/>
            </a:solidFill>
            <a:prstDash val="solid"/>
          </a:ln>
        </p:spPr>
      </p:sp>
      <p:pic>
        <p:nvPicPr>
          <p:cNvPr id="14" name="Icon 83" descr="icon"/>
          <p:cNvPicPr>
            <a:picLocks noChangeAspect="1"/>
          </p:cNvPicPr>
          <p:nvPr/>
        </p:nvPicPr>
        <p:blipFill>
          <a:blip r:embed="rId4"/>
          <a:stretch>
            <a:fillRect/>
          </a:stretch>
        </p:blipFill>
        <p:spPr>
          <a:xfrm>
            <a:off x="4905451" y="2229307"/>
            <a:ext cx="341986" cy="341986"/>
          </a:xfrm>
          <a:prstGeom prst="rect">
            <a:avLst/>
          </a:prstGeom>
        </p:spPr>
      </p:pic>
      <p:sp>
        <p:nvSpPr>
          <p:cNvPr id="15" name="Tool name 84"/>
          <p:cNvSpPr txBox="1"/>
          <p:nvPr/>
        </p:nvSpPr>
        <p:spPr>
          <a:xfrm>
            <a:off x="4687824" y="2953512"/>
            <a:ext cx="2813304" cy="457200"/>
          </a:xfrm>
          <a:prstGeom prst="rect">
            <a:avLst/>
          </a:prstGeom>
          <a:noFill/>
          <a:ln/>
        </p:spPr>
        <p:txBody>
          <a:bodyPr wrap="square" lIns="0" tIns="0" rIns="0" bIns="0" rtlCol="0" anchor="ctr"/>
          <a:lstStyle/>
          <a:p>
            <a:pPr marL="0" indent="0">
              <a:buNone/>
            </a:pPr>
            <a:r>
              <a:rPr lang="en-US" sz="2200" b="1" dirty="0">
                <a:solidFill>
                  <a:schemeClr val="tx2"/>
                </a:solidFill>
              </a:rPr>
              <a:t>SQL Shell (psql)</a:t>
            </a:r>
            <a:endParaRPr lang="en-US" sz="2200" dirty="0"/>
          </a:p>
        </p:txBody>
      </p:sp>
      <p:sp>
        <p:nvSpPr>
          <p:cNvPr id="16" name="Label 85"/>
          <p:cNvSpPr txBox="1"/>
          <p:nvPr/>
        </p:nvSpPr>
        <p:spPr>
          <a:xfrm>
            <a:off x="4687824" y="3520440"/>
            <a:ext cx="2813304" cy="228600"/>
          </a:xfrm>
          <a:prstGeom prst="rect">
            <a:avLst/>
          </a:prstGeom>
          <a:noFill/>
          <a:ln/>
        </p:spPr>
        <p:txBody>
          <a:bodyPr wrap="square" lIns="0" tIns="0" rIns="0" bIns="0" rtlCol="0" anchor="t"/>
          <a:lstStyle/>
          <a:p>
            <a:pPr marL="0" indent="0">
              <a:buNone/>
            </a:pPr>
            <a:r>
              <a:rPr lang="en-US" sz="1100" b="1" kern="0" spc="200" dirty="0">
                <a:solidFill>
                  <a:schemeClr val="accent2"/>
                </a:solidFill>
              </a:rPr>
              <a:t>WHERE WE USED IT</a:t>
            </a:r>
            <a:endParaRPr lang="en-US" sz="1100" dirty="0"/>
          </a:p>
        </p:txBody>
      </p:sp>
      <p:sp>
        <p:nvSpPr>
          <p:cNvPr id="17" name="Where text 86"/>
          <p:cNvSpPr txBox="1"/>
          <p:nvPr/>
        </p:nvSpPr>
        <p:spPr>
          <a:xfrm>
            <a:off x="4687824" y="3776472"/>
            <a:ext cx="2813304" cy="868680"/>
          </a:xfrm>
          <a:prstGeom prst="rect">
            <a:avLst/>
          </a:prstGeom>
          <a:noFill/>
          <a:ln/>
        </p:spPr>
        <p:txBody>
          <a:bodyPr wrap="square" lIns="0" tIns="0" rIns="0" bIns="0" rtlCol="0" anchor="t"/>
          <a:lstStyle/>
          <a:p>
            <a:pPr marL="0" indent="0">
              <a:buNone/>
            </a:pPr>
            <a:r>
              <a:rPr lang="en-US" sz="1400" dirty="0">
                <a:solidFill>
                  <a:schemeClr val="tx1"/>
                </a:solidFill>
              </a:rPr>
              <a:t>Loaded the CSV with \copy, changed a column type, checked row counts</a:t>
            </a:r>
            <a:endParaRPr lang="en-US" sz="1400" dirty="0"/>
          </a:p>
        </p:txBody>
      </p:sp>
      <p:sp>
        <p:nvSpPr>
          <p:cNvPr id="18" name="Label 87"/>
          <p:cNvSpPr txBox="1"/>
          <p:nvPr/>
        </p:nvSpPr>
        <p:spPr>
          <a:xfrm>
            <a:off x="4687824" y="4754880"/>
            <a:ext cx="2813304"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WHY WE USED IT</a:t>
            </a:r>
            <a:endParaRPr lang="en-US" sz="1100" dirty="0"/>
          </a:p>
        </p:txBody>
      </p:sp>
      <p:sp>
        <p:nvSpPr>
          <p:cNvPr id="19" name="Why text 88"/>
          <p:cNvSpPr txBox="1"/>
          <p:nvPr/>
        </p:nvSpPr>
        <p:spPr>
          <a:xfrm>
            <a:off x="4687824" y="5010912"/>
            <a:ext cx="2813304" cy="868680"/>
          </a:xfrm>
          <a:prstGeom prst="rect">
            <a:avLst/>
          </a:prstGeom>
          <a:noFill/>
          <a:ln/>
        </p:spPr>
        <p:txBody>
          <a:bodyPr wrap="square" lIns="0" tIns="0" rIns="0" bIns="0" rtlCol="0" anchor="t"/>
          <a:lstStyle/>
          <a:p>
            <a:pPr marL="0" indent="0">
              <a:buNone/>
            </a:pPr>
            <a:r>
              <a:rPr lang="en-US" sz="1400" dirty="0">
                <a:solidFill>
                  <a:schemeClr val="tx1"/>
                </a:solidFill>
              </a:rPr>
              <a:t>Loads files reliably and shows the exact line of any error</a:t>
            </a:r>
            <a:endParaRPr lang="en-US" sz="1400" dirty="0"/>
          </a:p>
        </p:txBody>
      </p:sp>
      <p:sp>
        <p:nvSpPr>
          <p:cNvPr id="20" name="Tool card 89"/>
          <p:cNvSpPr/>
          <p:nvPr/>
        </p:nvSpPr>
        <p:spPr>
          <a:xfrm>
            <a:off x="8186928" y="1691640"/>
            <a:ext cx="3453384" cy="4434840"/>
          </a:xfrm>
          <a:prstGeom prst="roundRect">
            <a:avLst>
              <a:gd name="adj" fmla="val 3707"/>
            </a:avLst>
          </a:prstGeom>
          <a:solidFill>
            <a:schemeClr val="bg2"/>
          </a:solidFill>
          <a:ln w="12700">
            <a:solidFill>
              <a:schemeClr val="bg2"/>
            </a:solidFill>
            <a:prstDash val="solid"/>
          </a:ln>
          <a:effectLst>
            <a:outerShdw blurRad="127000" dist="38100" dir="5400000" algn="bl" rotWithShape="0">
              <a:srgbClr val="0B1530">
                <a:alpha val="12000"/>
              </a:srgbClr>
            </a:outerShdw>
          </a:effectLst>
        </p:spPr>
      </p:sp>
      <p:sp>
        <p:nvSpPr>
          <p:cNvPr id="21" name="Icon circle 90"/>
          <p:cNvSpPr/>
          <p:nvPr/>
        </p:nvSpPr>
        <p:spPr>
          <a:xfrm>
            <a:off x="8506968" y="2011680"/>
            <a:ext cx="777240" cy="777240"/>
          </a:xfrm>
          <a:prstGeom prst="ellipse">
            <a:avLst/>
          </a:prstGeom>
          <a:solidFill>
            <a:srgbClr val="16264F"/>
          </a:solidFill>
          <a:ln w="12700">
            <a:solidFill>
              <a:srgbClr val="16264F"/>
            </a:solidFill>
            <a:prstDash val="solid"/>
          </a:ln>
        </p:spPr>
      </p:sp>
      <p:pic>
        <p:nvPicPr>
          <p:cNvPr id="22" name="Icon 91" descr="icon"/>
          <p:cNvPicPr>
            <a:picLocks noChangeAspect="1"/>
          </p:cNvPicPr>
          <p:nvPr/>
        </p:nvPicPr>
        <p:blipFill>
          <a:blip r:embed="rId5"/>
          <a:stretch>
            <a:fillRect/>
          </a:stretch>
        </p:blipFill>
        <p:spPr>
          <a:xfrm>
            <a:off x="8724595" y="2229307"/>
            <a:ext cx="341986" cy="341986"/>
          </a:xfrm>
          <a:prstGeom prst="rect">
            <a:avLst/>
          </a:prstGeom>
        </p:spPr>
      </p:pic>
      <p:sp>
        <p:nvSpPr>
          <p:cNvPr id="23" name="Tool name 92"/>
          <p:cNvSpPr txBox="1"/>
          <p:nvPr/>
        </p:nvSpPr>
        <p:spPr>
          <a:xfrm>
            <a:off x="8506968" y="2953512"/>
            <a:ext cx="2813304" cy="457200"/>
          </a:xfrm>
          <a:prstGeom prst="rect">
            <a:avLst/>
          </a:prstGeom>
          <a:noFill/>
          <a:ln/>
        </p:spPr>
        <p:txBody>
          <a:bodyPr wrap="square" lIns="0" tIns="0" rIns="0" bIns="0" rtlCol="0" anchor="ctr"/>
          <a:lstStyle/>
          <a:p>
            <a:pPr marL="0" indent="0">
              <a:buNone/>
            </a:pPr>
            <a:r>
              <a:rPr lang="en-US" sz="2200" b="1" dirty="0">
                <a:solidFill>
                  <a:schemeClr val="tx2"/>
                </a:solidFill>
              </a:rPr>
              <a:t>DBeaver</a:t>
            </a:r>
            <a:endParaRPr lang="en-US" sz="2200" dirty="0"/>
          </a:p>
        </p:txBody>
      </p:sp>
      <p:sp>
        <p:nvSpPr>
          <p:cNvPr id="24" name="Label 93"/>
          <p:cNvSpPr txBox="1"/>
          <p:nvPr/>
        </p:nvSpPr>
        <p:spPr>
          <a:xfrm>
            <a:off x="8506968" y="3520440"/>
            <a:ext cx="2813304" cy="228600"/>
          </a:xfrm>
          <a:prstGeom prst="rect">
            <a:avLst/>
          </a:prstGeom>
          <a:noFill/>
          <a:ln/>
        </p:spPr>
        <p:txBody>
          <a:bodyPr wrap="square" lIns="0" tIns="0" rIns="0" bIns="0" rtlCol="0" anchor="t"/>
          <a:lstStyle/>
          <a:p>
            <a:pPr marL="0" indent="0">
              <a:buNone/>
            </a:pPr>
            <a:r>
              <a:rPr lang="en-US" sz="1100" b="1" kern="0" spc="200" dirty="0">
                <a:solidFill>
                  <a:schemeClr val="accent2"/>
                </a:solidFill>
              </a:rPr>
              <a:t>WHERE WE USED IT</a:t>
            </a:r>
            <a:endParaRPr lang="en-US" sz="1100" dirty="0"/>
          </a:p>
        </p:txBody>
      </p:sp>
      <p:sp>
        <p:nvSpPr>
          <p:cNvPr id="25" name="Where text 94"/>
          <p:cNvSpPr txBox="1"/>
          <p:nvPr/>
        </p:nvSpPr>
        <p:spPr>
          <a:xfrm>
            <a:off x="8506968" y="3776472"/>
            <a:ext cx="2813304" cy="868680"/>
          </a:xfrm>
          <a:prstGeom prst="rect">
            <a:avLst/>
          </a:prstGeom>
          <a:noFill/>
          <a:ln/>
        </p:spPr>
        <p:txBody>
          <a:bodyPr wrap="square" lIns="0" tIns="0" rIns="0" bIns="0" rtlCol="0" anchor="t"/>
          <a:lstStyle/>
          <a:p>
            <a:pPr marL="0" indent="0">
              <a:buNone/>
            </a:pPr>
            <a:r>
              <a:rPr lang="en-US" sz="1400" dirty="0">
                <a:solidFill>
                  <a:schemeClr val="tx1"/>
                </a:solidFill>
              </a:rPr>
              <a:t>Created the database and table, ran the five analysis queries</a:t>
            </a:r>
            <a:endParaRPr lang="en-US" sz="1400" dirty="0"/>
          </a:p>
        </p:txBody>
      </p:sp>
      <p:sp>
        <p:nvSpPr>
          <p:cNvPr id="26" name="Label 95"/>
          <p:cNvSpPr txBox="1"/>
          <p:nvPr/>
        </p:nvSpPr>
        <p:spPr>
          <a:xfrm>
            <a:off x="8506968" y="4754880"/>
            <a:ext cx="2813304"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WHY WE USED IT</a:t>
            </a:r>
            <a:endParaRPr lang="en-US" sz="1100" dirty="0"/>
          </a:p>
        </p:txBody>
      </p:sp>
      <p:sp>
        <p:nvSpPr>
          <p:cNvPr id="27" name="Why text 96"/>
          <p:cNvSpPr txBox="1"/>
          <p:nvPr/>
        </p:nvSpPr>
        <p:spPr>
          <a:xfrm>
            <a:off x="8506968" y="5010912"/>
            <a:ext cx="2813304" cy="868680"/>
          </a:xfrm>
          <a:prstGeom prst="rect">
            <a:avLst/>
          </a:prstGeom>
          <a:noFill/>
          <a:ln/>
        </p:spPr>
        <p:txBody>
          <a:bodyPr wrap="square" lIns="0" tIns="0" rIns="0" bIns="0" rtlCol="0" anchor="t"/>
          <a:lstStyle/>
          <a:p>
            <a:pPr marL="0" indent="0">
              <a:buNone/>
            </a:pPr>
            <a:r>
              <a:rPr lang="en-US" sz="1400" dirty="0">
                <a:solidFill>
                  <a:schemeClr val="tx1"/>
                </a:solidFill>
              </a:rPr>
              <a:t>Visual SQL editor with a table browser and results grid</a:t>
            </a:r>
            <a:endParaRPr lang="en-US" sz="1400" dirty="0"/>
          </a:p>
        </p:txBody>
      </p:sp>
      <p:sp>
        <p:nvSpPr>
          <p:cNvPr id="28"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79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685800"/>
          </a:xfrm>
          <a:prstGeom prst="rect">
            <a:avLst/>
          </a:prstGeom>
          <a:noFill/>
          <a:ln/>
        </p:spPr>
        <p:txBody>
          <a:bodyPr wrap="square" lIns="0" tIns="0" rIns="0" bIns="0" rtlCol="0" anchor="ctr"/>
          <a:lstStyle/>
          <a:p>
            <a:pPr marL="0" indent="0" algn="l">
              <a:buNone/>
            </a:pPr>
            <a:r>
              <a:rPr lang="en-US" sz="3400" b="1" dirty="0">
                <a:solidFill>
                  <a:schemeClr val="tx2"/>
                </a:solidFill>
              </a:rPr>
              <a:t>Tools: dashboards and reporting</a:t>
            </a:r>
            <a:endParaRPr lang="en-US" sz="3400" dirty="0"/>
          </a:p>
        </p:txBody>
      </p:sp>
      <p:sp>
        <p:nvSpPr>
          <p:cNvPr id="3" name="Text 0"/>
          <p:cNvSpPr>
            <a:spLocks noGrp="1"/>
          </p:cNvSpPr>
          <p:nvPr>
            <p:ph type="body" idx="101" hasCustomPrompt="1"/>
          </p:nvPr>
        </p:nvSpPr>
        <p:spPr>
          <a:xfrm>
            <a:off x="548640" y="1051560"/>
            <a:ext cx="11091672" cy="365760"/>
          </a:xfrm>
          <a:prstGeom prst="rect">
            <a:avLst/>
          </a:prstGeom>
          <a:noFill/>
          <a:ln/>
        </p:spPr>
        <p:txBody>
          <a:bodyPr wrap="square" lIns="0" tIns="0" rIns="0" bIns="0" rtlCol="0" anchor="ctr"/>
          <a:lstStyle/>
          <a:p>
            <a:pPr marL="0" indent="0" algn="l">
              <a:buNone/>
            </a:pPr>
            <a:r>
              <a:rPr lang="en-US" sz="1600" dirty="0">
                <a:solidFill>
                  <a:schemeClr val="accent5"/>
                </a:solidFill>
              </a:rPr>
              <a:t>Databricks, Power BI, Microsoft Word, and Microsoft PowerPoint</a:t>
            </a:r>
            <a:endParaRPr lang="en-US" sz="1600" dirty="0"/>
          </a:p>
        </p:txBody>
      </p:sp>
      <p:sp>
        <p:nvSpPr>
          <p:cNvPr id="4" name="Tool card 97"/>
          <p:cNvSpPr/>
          <p:nvPr/>
        </p:nvSpPr>
        <p:spPr>
          <a:xfrm>
            <a:off x="548640" y="1691640"/>
            <a:ext cx="5362956" cy="2103120"/>
          </a:xfrm>
          <a:prstGeom prst="roundRect">
            <a:avLst>
              <a:gd name="adj" fmla="val 6087"/>
            </a:avLst>
          </a:prstGeom>
          <a:solidFill>
            <a:schemeClr val="bg2"/>
          </a:solidFill>
          <a:ln w="12700">
            <a:solidFill>
              <a:schemeClr val="bg2"/>
            </a:solidFill>
            <a:prstDash val="solid"/>
          </a:ln>
          <a:effectLst>
            <a:outerShdw blurRad="127000" dist="38100" dir="5400000" algn="bl" rotWithShape="0">
              <a:srgbClr val="0B1530">
                <a:alpha val="12000"/>
              </a:srgbClr>
            </a:outerShdw>
          </a:effectLst>
        </p:spPr>
      </p:sp>
      <p:sp>
        <p:nvSpPr>
          <p:cNvPr id="5" name="Icon circle 98"/>
          <p:cNvSpPr/>
          <p:nvPr/>
        </p:nvSpPr>
        <p:spPr>
          <a:xfrm>
            <a:off x="868680" y="2331720"/>
            <a:ext cx="822960" cy="822960"/>
          </a:xfrm>
          <a:prstGeom prst="ellipse">
            <a:avLst/>
          </a:prstGeom>
          <a:solidFill>
            <a:srgbClr val="16264F"/>
          </a:solidFill>
          <a:ln w="12700">
            <a:solidFill>
              <a:srgbClr val="16264F"/>
            </a:solidFill>
            <a:prstDash val="solid"/>
          </a:ln>
        </p:spPr>
      </p:sp>
      <p:pic>
        <p:nvPicPr>
          <p:cNvPr id="6" name="Icon 99" descr="icon"/>
          <p:cNvPicPr>
            <a:picLocks noChangeAspect="1"/>
          </p:cNvPicPr>
          <p:nvPr/>
        </p:nvPicPr>
        <p:blipFill>
          <a:blip r:embed="rId3"/>
          <a:stretch>
            <a:fillRect/>
          </a:stretch>
        </p:blipFill>
        <p:spPr>
          <a:xfrm>
            <a:off x="1099109" y="2562149"/>
            <a:ext cx="362102" cy="362102"/>
          </a:xfrm>
          <a:prstGeom prst="rect">
            <a:avLst/>
          </a:prstGeom>
        </p:spPr>
      </p:pic>
      <p:sp>
        <p:nvSpPr>
          <p:cNvPr id="7" name="Tool text 100"/>
          <p:cNvSpPr txBox="1"/>
          <p:nvPr/>
        </p:nvSpPr>
        <p:spPr>
          <a:xfrm>
            <a:off x="1920240" y="1783080"/>
            <a:ext cx="3762756" cy="1920240"/>
          </a:xfrm>
          <a:prstGeom prst="rect">
            <a:avLst/>
          </a:prstGeom>
          <a:noFill/>
          <a:ln/>
        </p:spPr>
        <p:txBody>
          <a:bodyPr wrap="square" lIns="0" tIns="0" rIns="0" bIns="0" rtlCol="0" anchor="ctr"/>
          <a:lstStyle/>
          <a:p>
            <a:pPr marL="0" indent="0">
              <a:spcAft>
                <a:spcPts val="600"/>
              </a:spcAft>
              <a:buNone/>
            </a:pPr>
            <a:r>
              <a:rPr lang="en-US" sz="2000" b="1" dirty="0">
                <a:solidFill>
                  <a:schemeClr val="tx2"/>
                </a:solidFill>
              </a:rPr>
              <a:t>Databricks</a:t>
            </a:r>
            <a:endParaRPr lang="en-US" sz="1400" dirty="0"/>
          </a:p>
          <a:p>
            <a:pPr marL="0" indent="0">
              <a:buNone/>
            </a:pPr>
            <a:r>
              <a:rPr lang="en-US" sz="1400" b="1" dirty="0">
                <a:solidFill>
                  <a:schemeClr val="accent2"/>
                </a:solidFill>
              </a:rPr>
              <a:t>Where  </a:t>
            </a:r>
            <a:r>
              <a:rPr lang="en-US" sz="1400" dirty="0">
                <a:solidFill>
                  <a:schemeClr val="tx1"/>
                </a:solidFill>
              </a:rPr>
              <a:t>Loaded the data as a table and built the churn dashboard</a:t>
            </a:r>
            <a:endParaRPr lang="en-US" sz="1400" dirty="0"/>
          </a:p>
          <a:p>
            <a:pPr marL="0" indent="0">
              <a:buNone/>
            </a:pPr>
            <a:r>
              <a:rPr lang="en-US" sz="1400" b="1" dirty="0">
                <a:solidFill>
                  <a:schemeClr val="accent1"/>
                </a:solidFill>
              </a:rPr>
              <a:t>Why  </a:t>
            </a:r>
            <a:r>
              <a:rPr lang="en-US" sz="1400" dirty="0">
                <a:solidFill>
                  <a:schemeClr val="tx1"/>
                </a:solidFill>
              </a:rPr>
              <a:t>Cloud platform for shared dashboards, no local server needed</a:t>
            </a:r>
            <a:endParaRPr lang="en-US" sz="1400" dirty="0"/>
          </a:p>
        </p:txBody>
      </p:sp>
      <p:sp>
        <p:nvSpPr>
          <p:cNvPr id="8" name="Tool card 101"/>
          <p:cNvSpPr/>
          <p:nvPr/>
        </p:nvSpPr>
        <p:spPr>
          <a:xfrm>
            <a:off x="6277356" y="1691640"/>
            <a:ext cx="5362956" cy="2103120"/>
          </a:xfrm>
          <a:prstGeom prst="roundRect">
            <a:avLst>
              <a:gd name="adj" fmla="val 6087"/>
            </a:avLst>
          </a:prstGeom>
          <a:solidFill>
            <a:schemeClr val="bg2"/>
          </a:solidFill>
          <a:ln w="12700">
            <a:solidFill>
              <a:schemeClr val="bg2"/>
            </a:solidFill>
            <a:prstDash val="solid"/>
          </a:ln>
          <a:effectLst>
            <a:outerShdw blurRad="127000" dist="38100" dir="5400000" algn="bl" rotWithShape="0">
              <a:srgbClr val="0B1530">
                <a:alpha val="12000"/>
              </a:srgbClr>
            </a:outerShdw>
          </a:effectLst>
        </p:spPr>
      </p:sp>
      <p:sp>
        <p:nvSpPr>
          <p:cNvPr id="9" name="Icon circle 102"/>
          <p:cNvSpPr/>
          <p:nvPr/>
        </p:nvSpPr>
        <p:spPr>
          <a:xfrm>
            <a:off x="6597396" y="2331720"/>
            <a:ext cx="822960" cy="822960"/>
          </a:xfrm>
          <a:prstGeom prst="ellipse">
            <a:avLst/>
          </a:prstGeom>
          <a:solidFill>
            <a:srgbClr val="16264F"/>
          </a:solidFill>
          <a:ln w="12700">
            <a:solidFill>
              <a:srgbClr val="16264F"/>
            </a:solidFill>
            <a:prstDash val="solid"/>
          </a:ln>
        </p:spPr>
      </p:sp>
      <p:pic>
        <p:nvPicPr>
          <p:cNvPr id="10" name="Icon 103" descr="icon"/>
          <p:cNvPicPr>
            <a:picLocks noChangeAspect="1"/>
          </p:cNvPicPr>
          <p:nvPr/>
        </p:nvPicPr>
        <p:blipFill>
          <a:blip r:embed="rId4"/>
          <a:stretch>
            <a:fillRect/>
          </a:stretch>
        </p:blipFill>
        <p:spPr>
          <a:xfrm>
            <a:off x="6827825" y="2562149"/>
            <a:ext cx="362102" cy="362102"/>
          </a:xfrm>
          <a:prstGeom prst="rect">
            <a:avLst/>
          </a:prstGeom>
        </p:spPr>
      </p:pic>
      <p:sp>
        <p:nvSpPr>
          <p:cNvPr id="11" name="Tool text 104"/>
          <p:cNvSpPr txBox="1"/>
          <p:nvPr/>
        </p:nvSpPr>
        <p:spPr>
          <a:xfrm>
            <a:off x="7648956" y="1783080"/>
            <a:ext cx="3762756" cy="1920240"/>
          </a:xfrm>
          <a:prstGeom prst="rect">
            <a:avLst/>
          </a:prstGeom>
          <a:noFill/>
          <a:ln/>
        </p:spPr>
        <p:txBody>
          <a:bodyPr wrap="square" lIns="0" tIns="0" rIns="0" bIns="0" rtlCol="0" anchor="ctr"/>
          <a:lstStyle/>
          <a:p>
            <a:pPr marL="0" indent="0">
              <a:spcAft>
                <a:spcPts val="600"/>
              </a:spcAft>
              <a:buNone/>
            </a:pPr>
            <a:r>
              <a:rPr lang="en-US" sz="2000" b="1" dirty="0">
                <a:solidFill>
                  <a:schemeClr val="tx2"/>
                </a:solidFill>
              </a:rPr>
              <a:t>Power BI Desktop</a:t>
            </a:r>
            <a:endParaRPr lang="en-US" sz="1400" dirty="0"/>
          </a:p>
          <a:p>
            <a:pPr marL="0" indent="0">
              <a:buNone/>
            </a:pPr>
            <a:r>
              <a:rPr lang="en-US" sz="1400" b="1" dirty="0">
                <a:solidFill>
                  <a:schemeClr val="accent2"/>
                </a:solidFill>
              </a:rPr>
              <a:t>Where  </a:t>
            </a:r>
            <a:r>
              <a:rPr lang="en-US" sz="1400" dirty="0">
                <a:solidFill>
                  <a:schemeClr val="tx1"/>
                </a:solidFill>
              </a:rPr>
              <a:t>Connected to PostgreSQL; built the churn measure, card, and charts</a:t>
            </a:r>
            <a:endParaRPr lang="en-US" sz="1400" dirty="0"/>
          </a:p>
          <a:p>
            <a:pPr marL="0" indent="0">
              <a:buNone/>
            </a:pPr>
            <a:r>
              <a:rPr lang="en-US" sz="1400" b="1" dirty="0">
                <a:solidFill>
                  <a:schemeClr val="accent1"/>
                </a:solidFill>
              </a:rPr>
              <a:t>Why  </a:t>
            </a:r>
            <a:r>
              <a:rPr lang="en-US" sz="1400" dirty="0">
                <a:solidFill>
                  <a:schemeClr val="tx1"/>
                </a:solidFill>
              </a:rPr>
              <a:t>Interactive dashboards with filters and calculated measures</a:t>
            </a:r>
            <a:endParaRPr lang="en-US" sz="1400" dirty="0"/>
          </a:p>
        </p:txBody>
      </p:sp>
      <p:sp>
        <p:nvSpPr>
          <p:cNvPr id="12" name="Tool card 105"/>
          <p:cNvSpPr/>
          <p:nvPr/>
        </p:nvSpPr>
        <p:spPr>
          <a:xfrm>
            <a:off x="548640" y="3977640"/>
            <a:ext cx="5362956" cy="2103120"/>
          </a:xfrm>
          <a:prstGeom prst="roundRect">
            <a:avLst>
              <a:gd name="adj" fmla="val 6087"/>
            </a:avLst>
          </a:prstGeom>
          <a:solidFill>
            <a:schemeClr val="bg2"/>
          </a:solidFill>
          <a:ln w="12700">
            <a:solidFill>
              <a:schemeClr val="bg2"/>
            </a:solidFill>
            <a:prstDash val="solid"/>
          </a:ln>
          <a:effectLst>
            <a:outerShdw blurRad="127000" dist="38100" dir="5400000" algn="bl" rotWithShape="0">
              <a:srgbClr val="0B1530">
                <a:alpha val="12000"/>
              </a:srgbClr>
            </a:outerShdw>
          </a:effectLst>
        </p:spPr>
      </p:sp>
      <p:sp>
        <p:nvSpPr>
          <p:cNvPr id="13" name="Icon circle 106"/>
          <p:cNvSpPr/>
          <p:nvPr/>
        </p:nvSpPr>
        <p:spPr>
          <a:xfrm>
            <a:off x="868680" y="4617720"/>
            <a:ext cx="822960" cy="822960"/>
          </a:xfrm>
          <a:prstGeom prst="ellipse">
            <a:avLst/>
          </a:prstGeom>
          <a:solidFill>
            <a:srgbClr val="16264F"/>
          </a:solidFill>
          <a:ln w="12700">
            <a:solidFill>
              <a:srgbClr val="16264F"/>
            </a:solidFill>
            <a:prstDash val="solid"/>
          </a:ln>
        </p:spPr>
      </p:sp>
      <p:pic>
        <p:nvPicPr>
          <p:cNvPr id="14" name="Icon 107" descr="icon"/>
          <p:cNvPicPr>
            <a:picLocks noChangeAspect="1"/>
          </p:cNvPicPr>
          <p:nvPr/>
        </p:nvPicPr>
        <p:blipFill>
          <a:blip r:embed="rId5"/>
          <a:stretch>
            <a:fillRect/>
          </a:stretch>
        </p:blipFill>
        <p:spPr>
          <a:xfrm>
            <a:off x="1099109" y="4848149"/>
            <a:ext cx="362102" cy="362102"/>
          </a:xfrm>
          <a:prstGeom prst="rect">
            <a:avLst/>
          </a:prstGeom>
        </p:spPr>
      </p:pic>
      <p:sp>
        <p:nvSpPr>
          <p:cNvPr id="15" name="Tool text 108"/>
          <p:cNvSpPr txBox="1"/>
          <p:nvPr/>
        </p:nvSpPr>
        <p:spPr>
          <a:xfrm>
            <a:off x="1920240" y="4069080"/>
            <a:ext cx="3762756" cy="1920240"/>
          </a:xfrm>
          <a:prstGeom prst="rect">
            <a:avLst/>
          </a:prstGeom>
          <a:noFill/>
          <a:ln/>
        </p:spPr>
        <p:txBody>
          <a:bodyPr wrap="square" lIns="0" tIns="0" rIns="0" bIns="0" rtlCol="0" anchor="ctr"/>
          <a:lstStyle/>
          <a:p>
            <a:pPr marL="0" indent="0">
              <a:spcAft>
                <a:spcPts val="600"/>
              </a:spcAft>
              <a:buNone/>
            </a:pPr>
            <a:r>
              <a:rPr lang="en-US" sz="2000" b="1" dirty="0">
                <a:solidFill>
                  <a:schemeClr val="tx2"/>
                </a:solidFill>
              </a:rPr>
              <a:t>Microsoft Word</a:t>
            </a:r>
            <a:endParaRPr lang="en-US" sz="1400" dirty="0"/>
          </a:p>
          <a:p>
            <a:pPr marL="0" indent="0">
              <a:buNone/>
            </a:pPr>
            <a:r>
              <a:rPr lang="en-US" sz="1400" b="1" dirty="0">
                <a:solidFill>
                  <a:schemeClr val="accent2"/>
                </a:solidFill>
              </a:rPr>
              <a:t>Where  </a:t>
            </a:r>
            <a:r>
              <a:rPr lang="en-US" sz="1400" dirty="0">
                <a:solidFill>
                  <a:schemeClr val="tx1"/>
                </a:solidFill>
              </a:rPr>
              <a:t>Analysis report, project proposal, and work log</a:t>
            </a:r>
            <a:endParaRPr lang="en-US" sz="1400" dirty="0"/>
          </a:p>
          <a:p>
            <a:pPr marL="0" indent="0">
              <a:buNone/>
            </a:pPr>
            <a:r>
              <a:rPr lang="en-US" sz="1400" b="1" dirty="0">
                <a:solidFill>
                  <a:schemeClr val="accent1"/>
                </a:solidFill>
              </a:rPr>
              <a:t>Why  </a:t>
            </a:r>
            <a:r>
              <a:rPr lang="en-US" sz="1400" dirty="0">
                <a:solidFill>
                  <a:schemeClr val="tx1"/>
                </a:solidFill>
              </a:rPr>
              <a:t>Standard academic format the professor can read and mark</a:t>
            </a:r>
            <a:endParaRPr lang="en-US" sz="1400" dirty="0"/>
          </a:p>
        </p:txBody>
      </p:sp>
      <p:sp>
        <p:nvSpPr>
          <p:cNvPr id="16" name="Tool card 109"/>
          <p:cNvSpPr/>
          <p:nvPr/>
        </p:nvSpPr>
        <p:spPr>
          <a:xfrm>
            <a:off x="6277356" y="3977640"/>
            <a:ext cx="5362956" cy="2103120"/>
          </a:xfrm>
          <a:prstGeom prst="roundRect">
            <a:avLst>
              <a:gd name="adj" fmla="val 6087"/>
            </a:avLst>
          </a:prstGeom>
          <a:solidFill>
            <a:schemeClr val="bg2"/>
          </a:solidFill>
          <a:ln w="12700">
            <a:solidFill>
              <a:schemeClr val="bg2"/>
            </a:solidFill>
            <a:prstDash val="solid"/>
          </a:ln>
          <a:effectLst>
            <a:outerShdw blurRad="127000" dist="38100" dir="5400000" algn="bl" rotWithShape="0">
              <a:srgbClr val="0B1530">
                <a:alpha val="12000"/>
              </a:srgbClr>
            </a:outerShdw>
          </a:effectLst>
        </p:spPr>
      </p:sp>
      <p:sp>
        <p:nvSpPr>
          <p:cNvPr id="17" name="Icon circle 110"/>
          <p:cNvSpPr/>
          <p:nvPr/>
        </p:nvSpPr>
        <p:spPr>
          <a:xfrm>
            <a:off x="6597396" y="4617720"/>
            <a:ext cx="822960" cy="822960"/>
          </a:xfrm>
          <a:prstGeom prst="ellipse">
            <a:avLst/>
          </a:prstGeom>
          <a:solidFill>
            <a:srgbClr val="16264F"/>
          </a:solidFill>
          <a:ln w="12700">
            <a:solidFill>
              <a:srgbClr val="16264F"/>
            </a:solidFill>
            <a:prstDash val="solid"/>
          </a:ln>
        </p:spPr>
      </p:sp>
      <p:pic>
        <p:nvPicPr>
          <p:cNvPr id="18" name="Icon 111" descr="icon"/>
          <p:cNvPicPr>
            <a:picLocks noChangeAspect="1"/>
          </p:cNvPicPr>
          <p:nvPr/>
        </p:nvPicPr>
        <p:blipFill>
          <a:blip r:embed="rId6"/>
          <a:stretch>
            <a:fillRect/>
          </a:stretch>
        </p:blipFill>
        <p:spPr>
          <a:xfrm>
            <a:off x="6827825" y="4848149"/>
            <a:ext cx="362102" cy="362102"/>
          </a:xfrm>
          <a:prstGeom prst="rect">
            <a:avLst/>
          </a:prstGeom>
        </p:spPr>
      </p:pic>
      <p:sp>
        <p:nvSpPr>
          <p:cNvPr id="19" name="Tool text 112"/>
          <p:cNvSpPr txBox="1"/>
          <p:nvPr/>
        </p:nvSpPr>
        <p:spPr>
          <a:xfrm>
            <a:off x="7648956" y="4069080"/>
            <a:ext cx="3762756" cy="1920240"/>
          </a:xfrm>
          <a:prstGeom prst="rect">
            <a:avLst/>
          </a:prstGeom>
          <a:noFill/>
          <a:ln/>
        </p:spPr>
        <p:txBody>
          <a:bodyPr wrap="square" lIns="0" tIns="0" rIns="0" bIns="0" rtlCol="0" anchor="ctr"/>
          <a:lstStyle/>
          <a:p>
            <a:pPr marL="0" indent="0">
              <a:spcAft>
                <a:spcPts val="600"/>
              </a:spcAft>
              <a:buNone/>
            </a:pPr>
            <a:r>
              <a:rPr lang="en-US" sz="2000" b="1" dirty="0">
                <a:solidFill>
                  <a:schemeClr val="tx2"/>
                </a:solidFill>
              </a:rPr>
              <a:t>Microsoft PowerPoint</a:t>
            </a:r>
            <a:endParaRPr lang="en-US" sz="1400" dirty="0"/>
          </a:p>
          <a:p>
            <a:pPr marL="0" indent="0">
              <a:buNone/>
            </a:pPr>
            <a:r>
              <a:rPr lang="en-US" sz="1400" b="1" dirty="0">
                <a:solidFill>
                  <a:schemeClr val="accent2"/>
                </a:solidFill>
              </a:rPr>
              <a:t>Where  </a:t>
            </a:r>
            <a:r>
              <a:rPr lang="en-US" sz="1400" dirty="0">
                <a:solidFill>
                  <a:schemeClr val="tx1"/>
                </a:solidFill>
              </a:rPr>
              <a:t>This presentation, with editable charts and speaker notes</a:t>
            </a:r>
            <a:endParaRPr lang="en-US" sz="1400" dirty="0"/>
          </a:p>
          <a:p>
            <a:pPr marL="0" indent="0">
              <a:buNone/>
            </a:pPr>
            <a:r>
              <a:rPr lang="en-US" sz="1400" b="1" dirty="0">
                <a:solidFill>
                  <a:schemeClr val="accent1"/>
                </a:solidFill>
              </a:rPr>
              <a:t>Why  </a:t>
            </a:r>
            <a:r>
              <a:rPr lang="en-US" sz="1400" dirty="0">
                <a:solidFill>
                  <a:schemeClr val="tx1"/>
                </a:solidFill>
              </a:rPr>
              <a:t>Clear format for presenting findings to the class</a:t>
            </a:r>
            <a:endParaRPr lang="en-US" sz="1400" dirty="0"/>
          </a:p>
        </p:txBody>
      </p:sp>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79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685800"/>
          </a:xfrm>
          <a:prstGeom prst="rect">
            <a:avLst/>
          </a:prstGeom>
          <a:noFill/>
          <a:ln/>
        </p:spPr>
        <p:txBody>
          <a:bodyPr wrap="square" lIns="0" tIns="0" rIns="0" bIns="0" rtlCol="0" anchor="ctr"/>
          <a:lstStyle/>
          <a:p>
            <a:pPr marL="0" indent="0" algn="l">
              <a:buNone/>
            </a:pPr>
            <a:r>
              <a:rPr lang="en-US" sz="3400" b="1" dirty="0">
                <a:solidFill>
                  <a:schemeClr val="tx2"/>
                </a:solidFill>
              </a:rPr>
              <a:t>Data preparation: three issues fixed</a:t>
            </a:r>
            <a:endParaRPr lang="en-US" sz="3400" dirty="0"/>
          </a:p>
        </p:txBody>
      </p:sp>
      <p:sp>
        <p:nvSpPr>
          <p:cNvPr id="3" name="Text 0"/>
          <p:cNvSpPr>
            <a:spLocks noGrp="1"/>
          </p:cNvSpPr>
          <p:nvPr>
            <p:ph type="body" idx="101" hasCustomPrompt="1"/>
          </p:nvPr>
        </p:nvSpPr>
        <p:spPr>
          <a:xfrm>
            <a:off x="548640" y="1051560"/>
            <a:ext cx="11091672" cy="365760"/>
          </a:xfrm>
          <a:prstGeom prst="rect">
            <a:avLst/>
          </a:prstGeom>
          <a:noFill/>
          <a:ln/>
        </p:spPr>
        <p:txBody>
          <a:bodyPr wrap="square" lIns="0" tIns="0" rIns="0" bIns="0" rtlCol="0" anchor="ctr"/>
          <a:lstStyle/>
          <a:p>
            <a:pPr marL="0" indent="0" algn="l">
              <a:buNone/>
            </a:pPr>
            <a:r>
              <a:rPr lang="en-US" sz="1600" dirty="0">
                <a:solidFill>
                  <a:schemeClr val="accent5"/>
                </a:solidFill>
              </a:rPr>
              <a:t>Problems found while loading the data and how each was solved</a:t>
            </a:r>
            <a:endParaRPr lang="en-US" sz="1600" dirty="0"/>
          </a:p>
        </p:txBody>
      </p:sp>
      <p:sp>
        <p:nvSpPr>
          <p:cNvPr id="4" name="Issue card 113"/>
          <p:cNvSpPr/>
          <p:nvPr/>
        </p:nvSpPr>
        <p:spPr>
          <a:xfrm>
            <a:off x="548640" y="1691640"/>
            <a:ext cx="3453384" cy="4434840"/>
          </a:xfrm>
          <a:prstGeom prst="roundRect">
            <a:avLst>
              <a:gd name="adj" fmla="val 3707"/>
            </a:avLst>
          </a:prstGeom>
          <a:solidFill>
            <a:schemeClr val="bg2"/>
          </a:solidFill>
          <a:ln w="12700">
            <a:solidFill>
              <a:schemeClr val="bg2"/>
            </a:solidFill>
            <a:prstDash val="solid"/>
          </a:ln>
          <a:effectLst>
            <a:outerShdw blurRad="127000" dist="38100" dir="5400000" algn="bl" rotWithShape="0">
              <a:srgbClr val="0B1530">
                <a:alpha val="12000"/>
              </a:srgbClr>
            </a:outerShdw>
          </a:effectLst>
        </p:spPr>
      </p:sp>
      <p:pic>
        <p:nvPicPr>
          <p:cNvPr id="5" name="Status icon 114" descr="status"/>
          <p:cNvPicPr>
            <a:picLocks noChangeAspect="1"/>
          </p:cNvPicPr>
          <p:nvPr/>
        </p:nvPicPr>
        <p:blipFill>
          <a:blip r:embed="rId3"/>
          <a:stretch>
            <a:fillRect/>
          </a:stretch>
        </p:blipFill>
        <p:spPr>
          <a:xfrm>
            <a:off x="3224784" y="2011680"/>
            <a:ext cx="457200" cy="457200"/>
          </a:xfrm>
          <a:prstGeom prst="rect">
            <a:avLst/>
          </a:prstGeom>
        </p:spPr>
      </p:pic>
      <p:sp>
        <p:nvSpPr>
          <p:cNvPr id="6" name="Issue number 115"/>
          <p:cNvSpPr txBox="1"/>
          <p:nvPr/>
        </p:nvSpPr>
        <p:spPr>
          <a:xfrm>
            <a:off x="868680" y="1965960"/>
            <a:ext cx="2264664" cy="868680"/>
          </a:xfrm>
          <a:prstGeom prst="rect">
            <a:avLst/>
          </a:prstGeom>
          <a:noFill/>
          <a:ln/>
        </p:spPr>
        <p:txBody>
          <a:bodyPr wrap="square" lIns="0" tIns="0" rIns="0" bIns="0" rtlCol="0" anchor="ctr"/>
          <a:lstStyle/>
          <a:p>
            <a:pPr marL="0" indent="0">
              <a:buNone/>
            </a:pPr>
            <a:r>
              <a:rPr lang="en-US" sz="5400" b="1" dirty="0">
                <a:solidFill>
                  <a:schemeClr val="accent1"/>
                </a:solidFill>
              </a:rPr>
              <a:t>11</a:t>
            </a:r>
            <a:endParaRPr lang="en-US" sz="5400" dirty="0"/>
          </a:p>
        </p:txBody>
      </p:sp>
      <p:sp>
        <p:nvSpPr>
          <p:cNvPr id="7" name="Issue number label 116"/>
          <p:cNvSpPr txBox="1"/>
          <p:nvPr/>
        </p:nvSpPr>
        <p:spPr>
          <a:xfrm>
            <a:off x="868680" y="2880360"/>
            <a:ext cx="2813304" cy="502920"/>
          </a:xfrm>
          <a:prstGeom prst="rect">
            <a:avLst/>
          </a:prstGeom>
          <a:noFill/>
          <a:ln/>
        </p:spPr>
        <p:txBody>
          <a:bodyPr wrap="square" lIns="0" tIns="0" rIns="0" bIns="0" rtlCol="0" anchor="t"/>
          <a:lstStyle/>
          <a:p>
            <a:pPr marL="0" indent="0">
              <a:buNone/>
            </a:pPr>
            <a:r>
              <a:rPr lang="en-US" sz="1400" dirty="0">
                <a:solidFill>
                  <a:schemeClr val="accent5"/>
                </a:solidFill>
              </a:rPr>
              <a:t>customers with a blank TotalCharges value</a:t>
            </a:r>
            <a:endParaRPr lang="en-US" sz="1400" dirty="0"/>
          </a:p>
        </p:txBody>
      </p:sp>
      <p:sp>
        <p:nvSpPr>
          <p:cNvPr id="8" name="Issue title 117"/>
          <p:cNvSpPr txBox="1"/>
          <p:nvPr/>
        </p:nvSpPr>
        <p:spPr>
          <a:xfrm>
            <a:off x="868680" y="3520440"/>
            <a:ext cx="2813304" cy="411480"/>
          </a:xfrm>
          <a:prstGeom prst="rect">
            <a:avLst/>
          </a:prstGeom>
          <a:noFill/>
          <a:ln/>
        </p:spPr>
        <p:txBody>
          <a:bodyPr wrap="square" lIns="0" tIns="0" rIns="0" bIns="0" rtlCol="0" anchor="ctr"/>
          <a:lstStyle/>
          <a:p>
            <a:pPr marL="0" indent="0">
              <a:buNone/>
            </a:pPr>
            <a:r>
              <a:rPr lang="en-US" sz="2200" b="1" dirty="0">
                <a:solidFill>
                  <a:schemeClr val="tx2"/>
                </a:solidFill>
              </a:rPr>
              <a:t>Blank values</a:t>
            </a:r>
            <a:endParaRPr lang="en-US" sz="2200" dirty="0"/>
          </a:p>
        </p:txBody>
      </p:sp>
      <p:sp>
        <p:nvSpPr>
          <p:cNvPr id="9" name="Tool chip 118"/>
          <p:cNvSpPr/>
          <p:nvPr/>
        </p:nvSpPr>
        <p:spPr>
          <a:xfrm>
            <a:off x="868680" y="4050792"/>
            <a:ext cx="2813304" cy="365760"/>
          </a:xfrm>
          <a:prstGeom prst="roundRect">
            <a:avLst>
              <a:gd name="adj" fmla="val 50000"/>
            </a:avLst>
          </a:prstGeom>
          <a:solidFill>
            <a:srgbClr val="16264F"/>
          </a:solidFill>
          <a:ln w="12700">
            <a:solidFill>
              <a:srgbClr val="16264F"/>
            </a:solidFill>
            <a:prstDash val="solid"/>
          </a:ln>
        </p:spPr>
      </p:sp>
      <p:sp>
        <p:nvSpPr>
          <p:cNvPr id="10" name="Tool chip text 119"/>
          <p:cNvSpPr txBox="1"/>
          <p:nvPr/>
        </p:nvSpPr>
        <p:spPr>
          <a:xfrm>
            <a:off x="868680" y="4050792"/>
            <a:ext cx="2813304" cy="365760"/>
          </a:xfrm>
          <a:prstGeom prst="rect">
            <a:avLst/>
          </a:prstGeom>
          <a:noFill/>
          <a:ln/>
        </p:spPr>
        <p:txBody>
          <a:bodyPr wrap="square" lIns="0" tIns="0" rIns="0" bIns="0" rtlCol="0" anchor="ctr"/>
          <a:lstStyle/>
          <a:p>
            <a:pPr marL="0" indent="0" algn="ctr">
              <a:buNone/>
            </a:pPr>
            <a:r>
              <a:rPr lang="en-US" sz="1200" b="1" dirty="0">
                <a:solidFill>
                  <a:schemeClr val="bg1"/>
                </a:solidFill>
              </a:rPr>
              <a:t>Tool: SQL Shell</a:t>
            </a:r>
            <a:endParaRPr lang="en-US" sz="1200" dirty="0"/>
          </a:p>
        </p:txBody>
      </p:sp>
      <p:sp>
        <p:nvSpPr>
          <p:cNvPr id="11" name="Issue description 120"/>
          <p:cNvSpPr txBox="1"/>
          <p:nvPr/>
        </p:nvSpPr>
        <p:spPr>
          <a:xfrm>
            <a:off x="868680" y="4617720"/>
            <a:ext cx="2813304" cy="1371600"/>
          </a:xfrm>
          <a:prstGeom prst="rect">
            <a:avLst/>
          </a:prstGeom>
          <a:noFill/>
          <a:ln/>
        </p:spPr>
        <p:txBody>
          <a:bodyPr wrap="square" lIns="0" tIns="0" rIns="0" bIns="0" rtlCol="0" anchor="t"/>
          <a:lstStyle/>
          <a:p>
            <a:pPr marL="0" indent="0">
              <a:buNone/>
            </a:pPr>
            <a:r>
              <a:rPr lang="en-US" sz="1400" dirty="0">
                <a:solidFill>
                  <a:schemeClr val="tx1"/>
                </a:solidFill>
              </a:rPr>
              <a:t>11 customers had a blank TotalCharges value. It was stored as NULL after a temporary text conversion.</a:t>
            </a:r>
            <a:endParaRPr lang="en-US" sz="1400" dirty="0"/>
          </a:p>
        </p:txBody>
      </p:sp>
      <p:sp>
        <p:nvSpPr>
          <p:cNvPr id="12" name="Issue card 121"/>
          <p:cNvSpPr/>
          <p:nvPr/>
        </p:nvSpPr>
        <p:spPr>
          <a:xfrm>
            <a:off x="4367784" y="1691640"/>
            <a:ext cx="3453384" cy="4434840"/>
          </a:xfrm>
          <a:prstGeom prst="roundRect">
            <a:avLst>
              <a:gd name="adj" fmla="val 3707"/>
            </a:avLst>
          </a:prstGeom>
          <a:solidFill>
            <a:schemeClr val="bg2"/>
          </a:solidFill>
          <a:ln w="12700">
            <a:solidFill>
              <a:schemeClr val="bg2"/>
            </a:solidFill>
            <a:prstDash val="solid"/>
          </a:ln>
          <a:effectLst>
            <a:outerShdw blurRad="127000" dist="38100" dir="5400000" algn="bl" rotWithShape="0">
              <a:srgbClr val="0B1530">
                <a:alpha val="12000"/>
              </a:srgbClr>
            </a:outerShdw>
          </a:effectLst>
        </p:spPr>
      </p:sp>
      <p:pic>
        <p:nvPicPr>
          <p:cNvPr id="13" name="Status icon 122" descr="status"/>
          <p:cNvPicPr>
            <a:picLocks noChangeAspect="1"/>
          </p:cNvPicPr>
          <p:nvPr/>
        </p:nvPicPr>
        <p:blipFill>
          <a:blip r:embed="rId4"/>
          <a:stretch>
            <a:fillRect/>
          </a:stretch>
        </p:blipFill>
        <p:spPr>
          <a:xfrm>
            <a:off x="7043928" y="2011680"/>
            <a:ext cx="457200" cy="457200"/>
          </a:xfrm>
          <a:prstGeom prst="rect">
            <a:avLst/>
          </a:prstGeom>
        </p:spPr>
      </p:pic>
      <p:sp>
        <p:nvSpPr>
          <p:cNvPr id="14" name="Issue number 123"/>
          <p:cNvSpPr txBox="1"/>
          <p:nvPr/>
        </p:nvSpPr>
        <p:spPr>
          <a:xfrm>
            <a:off x="4687824" y="1965960"/>
            <a:ext cx="2264664" cy="868680"/>
          </a:xfrm>
          <a:prstGeom prst="rect">
            <a:avLst/>
          </a:prstGeom>
          <a:noFill/>
          <a:ln/>
        </p:spPr>
        <p:txBody>
          <a:bodyPr wrap="square" lIns="0" tIns="0" rIns="0" bIns="0" rtlCol="0" anchor="ctr"/>
          <a:lstStyle/>
          <a:p>
            <a:pPr marL="0" indent="0">
              <a:buNone/>
            </a:pPr>
            <a:r>
              <a:rPr lang="en-US" sz="5400" b="1" dirty="0">
                <a:solidFill>
                  <a:schemeClr val="accent1"/>
                </a:solidFill>
              </a:rPr>
              <a:t>~7,000</a:t>
            </a:r>
            <a:endParaRPr lang="en-US" sz="5400" dirty="0"/>
          </a:p>
        </p:txBody>
      </p:sp>
      <p:sp>
        <p:nvSpPr>
          <p:cNvPr id="15" name="Issue number label 124"/>
          <p:cNvSpPr txBox="1"/>
          <p:nvPr/>
        </p:nvSpPr>
        <p:spPr>
          <a:xfrm>
            <a:off x="4687824" y="2880360"/>
            <a:ext cx="2813304" cy="502920"/>
          </a:xfrm>
          <a:prstGeom prst="rect">
            <a:avLst/>
          </a:prstGeom>
          <a:noFill/>
          <a:ln/>
        </p:spPr>
        <p:txBody>
          <a:bodyPr wrap="square" lIns="0" tIns="0" rIns="0" bIns="0" rtlCol="0" anchor="t"/>
          <a:lstStyle/>
          <a:p>
            <a:pPr marL="0" indent="0">
              <a:buNone/>
            </a:pPr>
            <a:r>
              <a:rPr lang="en-US" sz="1400" dirty="0">
                <a:solidFill>
                  <a:schemeClr val="accent5"/>
                </a:solidFill>
              </a:rPr>
              <a:t>rows loaded before the import wizard stopped</a:t>
            </a:r>
            <a:endParaRPr lang="en-US" sz="1400" dirty="0"/>
          </a:p>
        </p:txBody>
      </p:sp>
      <p:sp>
        <p:nvSpPr>
          <p:cNvPr id="16" name="Issue title 125"/>
          <p:cNvSpPr txBox="1"/>
          <p:nvPr/>
        </p:nvSpPr>
        <p:spPr>
          <a:xfrm>
            <a:off x="4687824" y="3520440"/>
            <a:ext cx="2813304" cy="411480"/>
          </a:xfrm>
          <a:prstGeom prst="rect">
            <a:avLst/>
          </a:prstGeom>
          <a:noFill/>
          <a:ln/>
        </p:spPr>
        <p:txBody>
          <a:bodyPr wrap="square" lIns="0" tIns="0" rIns="0" bIns="0" rtlCol="0" anchor="ctr"/>
          <a:lstStyle/>
          <a:p>
            <a:pPr marL="0" indent="0">
              <a:buNone/>
            </a:pPr>
            <a:r>
              <a:rPr lang="en-US" sz="2200" b="1" dirty="0">
                <a:solidFill>
                  <a:schemeClr val="tx2"/>
                </a:solidFill>
              </a:rPr>
              <a:t>Failed import</a:t>
            </a:r>
            <a:endParaRPr lang="en-US" sz="2200" dirty="0"/>
          </a:p>
        </p:txBody>
      </p:sp>
      <p:sp>
        <p:nvSpPr>
          <p:cNvPr id="17" name="Tool chip 126"/>
          <p:cNvSpPr/>
          <p:nvPr/>
        </p:nvSpPr>
        <p:spPr>
          <a:xfrm>
            <a:off x="4687824" y="4050792"/>
            <a:ext cx="2813304" cy="365760"/>
          </a:xfrm>
          <a:prstGeom prst="roundRect">
            <a:avLst>
              <a:gd name="adj" fmla="val 50000"/>
            </a:avLst>
          </a:prstGeom>
          <a:solidFill>
            <a:srgbClr val="16264F"/>
          </a:solidFill>
          <a:ln w="12700">
            <a:solidFill>
              <a:srgbClr val="16264F"/>
            </a:solidFill>
            <a:prstDash val="solid"/>
          </a:ln>
        </p:spPr>
      </p:sp>
      <p:sp>
        <p:nvSpPr>
          <p:cNvPr id="18" name="Tool chip text 127"/>
          <p:cNvSpPr txBox="1"/>
          <p:nvPr/>
        </p:nvSpPr>
        <p:spPr>
          <a:xfrm>
            <a:off x="4687824" y="4050792"/>
            <a:ext cx="2813304" cy="365760"/>
          </a:xfrm>
          <a:prstGeom prst="rect">
            <a:avLst/>
          </a:prstGeom>
          <a:noFill/>
          <a:ln/>
        </p:spPr>
        <p:txBody>
          <a:bodyPr wrap="square" lIns="0" tIns="0" rIns="0" bIns="0" rtlCol="0" anchor="ctr"/>
          <a:lstStyle/>
          <a:p>
            <a:pPr marL="0" indent="0" algn="ctr">
              <a:buNone/>
            </a:pPr>
            <a:r>
              <a:rPr lang="en-US" sz="1200" b="1" dirty="0">
                <a:solidFill>
                  <a:schemeClr val="bg1"/>
                </a:solidFill>
              </a:rPr>
              <a:t>Tool: DBeaver, then SQL Shell</a:t>
            </a:r>
            <a:endParaRPr lang="en-US" sz="1200" dirty="0"/>
          </a:p>
        </p:txBody>
      </p:sp>
      <p:sp>
        <p:nvSpPr>
          <p:cNvPr id="19" name="Issue description 128"/>
          <p:cNvSpPr txBox="1"/>
          <p:nvPr/>
        </p:nvSpPr>
        <p:spPr>
          <a:xfrm>
            <a:off x="4687824" y="4617720"/>
            <a:ext cx="2813304" cy="1371600"/>
          </a:xfrm>
          <a:prstGeom prst="rect">
            <a:avLst/>
          </a:prstGeom>
          <a:noFill/>
          <a:ln/>
        </p:spPr>
        <p:txBody>
          <a:bodyPr wrap="square" lIns="0" tIns="0" rIns="0" bIns="0" rtlCol="0" anchor="t"/>
          <a:lstStyle/>
          <a:p>
            <a:pPr marL="0" indent="0">
              <a:buNone/>
            </a:pPr>
            <a:r>
              <a:rPr lang="en-US" sz="1400" dirty="0">
                <a:solidFill>
                  <a:schemeClr val="tx1"/>
                </a:solidFill>
              </a:rPr>
              <a:t>The import wizard stopped at about 7,000 rows. The file was reloaded with \copy, which loaded all rows.</a:t>
            </a:r>
            <a:endParaRPr lang="en-US" sz="1400" dirty="0"/>
          </a:p>
        </p:txBody>
      </p:sp>
      <p:sp>
        <p:nvSpPr>
          <p:cNvPr id="20" name="Issue card 129"/>
          <p:cNvSpPr/>
          <p:nvPr/>
        </p:nvSpPr>
        <p:spPr>
          <a:xfrm>
            <a:off x="8186928" y="1691640"/>
            <a:ext cx="3453384" cy="4434840"/>
          </a:xfrm>
          <a:prstGeom prst="roundRect">
            <a:avLst>
              <a:gd name="adj" fmla="val 3707"/>
            </a:avLst>
          </a:prstGeom>
          <a:solidFill>
            <a:schemeClr val="bg2"/>
          </a:solidFill>
          <a:ln w="12700">
            <a:solidFill>
              <a:schemeClr val="bg2"/>
            </a:solidFill>
            <a:prstDash val="solid"/>
          </a:ln>
          <a:effectLst>
            <a:outerShdw blurRad="127000" dist="38100" dir="5400000" algn="bl" rotWithShape="0">
              <a:srgbClr val="0B1530">
                <a:alpha val="12000"/>
              </a:srgbClr>
            </a:outerShdw>
          </a:effectLst>
        </p:spPr>
      </p:sp>
      <p:pic>
        <p:nvPicPr>
          <p:cNvPr id="21" name="Status icon 130" descr="status"/>
          <p:cNvPicPr>
            <a:picLocks noChangeAspect="1"/>
          </p:cNvPicPr>
          <p:nvPr/>
        </p:nvPicPr>
        <p:blipFill>
          <a:blip r:embed="rId5"/>
          <a:stretch>
            <a:fillRect/>
          </a:stretch>
        </p:blipFill>
        <p:spPr>
          <a:xfrm>
            <a:off x="10863072" y="2011680"/>
            <a:ext cx="457200" cy="457200"/>
          </a:xfrm>
          <a:prstGeom prst="rect">
            <a:avLst/>
          </a:prstGeom>
        </p:spPr>
      </p:pic>
      <p:sp>
        <p:nvSpPr>
          <p:cNvPr id="22" name="Issue number 131"/>
          <p:cNvSpPr txBox="1"/>
          <p:nvPr/>
        </p:nvSpPr>
        <p:spPr>
          <a:xfrm>
            <a:off x="8506968" y="1965960"/>
            <a:ext cx="2264664" cy="868680"/>
          </a:xfrm>
          <a:prstGeom prst="rect">
            <a:avLst/>
          </a:prstGeom>
          <a:noFill/>
          <a:ln/>
        </p:spPr>
        <p:txBody>
          <a:bodyPr wrap="square" lIns="0" tIns="0" rIns="0" bIns="0" rtlCol="0" anchor="ctr"/>
          <a:lstStyle/>
          <a:p>
            <a:pPr marL="0" indent="0">
              <a:buNone/>
            </a:pPr>
            <a:r>
              <a:rPr lang="en-US" sz="5400" b="1" dirty="0">
                <a:solidFill>
                  <a:schemeClr val="accent2"/>
                </a:solidFill>
              </a:rPr>
              <a:t>7,043</a:t>
            </a:r>
            <a:endParaRPr lang="en-US" sz="5400" dirty="0"/>
          </a:p>
        </p:txBody>
      </p:sp>
      <p:sp>
        <p:nvSpPr>
          <p:cNvPr id="23" name="Issue number label 132"/>
          <p:cNvSpPr txBox="1"/>
          <p:nvPr/>
        </p:nvSpPr>
        <p:spPr>
          <a:xfrm>
            <a:off x="8506968" y="2880360"/>
            <a:ext cx="2813304" cy="502920"/>
          </a:xfrm>
          <a:prstGeom prst="rect">
            <a:avLst/>
          </a:prstGeom>
          <a:noFill/>
          <a:ln/>
        </p:spPr>
        <p:txBody>
          <a:bodyPr wrap="square" lIns="0" tIns="0" rIns="0" bIns="0" rtlCol="0" anchor="t"/>
          <a:lstStyle/>
          <a:p>
            <a:pPr marL="0" indent="0">
              <a:buNone/>
            </a:pPr>
            <a:r>
              <a:rPr lang="en-US" sz="1400" dirty="0">
                <a:solidFill>
                  <a:schemeClr val="accent5"/>
                </a:solidFill>
              </a:rPr>
              <a:t>rows loaded and verified</a:t>
            </a:r>
            <a:endParaRPr lang="en-US" sz="1400" dirty="0"/>
          </a:p>
        </p:txBody>
      </p:sp>
      <p:sp>
        <p:nvSpPr>
          <p:cNvPr id="24" name="Issue title 133"/>
          <p:cNvSpPr txBox="1"/>
          <p:nvPr/>
        </p:nvSpPr>
        <p:spPr>
          <a:xfrm>
            <a:off x="8506968" y="3520440"/>
            <a:ext cx="2813304" cy="411480"/>
          </a:xfrm>
          <a:prstGeom prst="rect">
            <a:avLst/>
          </a:prstGeom>
          <a:noFill/>
          <a:ln/>
        </p:spPr>
        <p:txBody>
          <a:bodyPr wrap="square" lIns="0" tIns="0" rIns="0" bIns="0" rtlCol="0" anchor="ctr"/>
          <a:lstStyle/>
          <a:p>
            <a:pPr marL="0" indent="0">
              <a:buNone/>
            </a:pPr>
            <a:r>
              <a:rPr lang="en-US" sz="2200" b="1" dirty="0">
                <a:solidFill>
                  <a:schemeClr val="tx2"/>
                </a:solidFill>
              </a:rPr>
              <a:t>Verified load</a:t>
            </a:r>
            <a:endParaRPr lang="en-US" sz="2200" dirty="0"/>
          </a:p>
        </p:txBody>
      </p:sp>
      <p:sp>
        <p:nvSpPr>
          <p:cNvPr id="25" name="Tool chip 134"/>
          <p:cNvSpPr/>
          <p:nvPr/>
        </p:nvSpPr>
        <p:spPr>
          <a:xfrm>
            <a:off x="8506968" y="4050792"/>
            <a:ext cx="2813304" cy="365760"/>
          </a:xfrm>
          <a:prstGeom prst="roundRect">
            <a:avLst>
              <a:gd name="adj" fmla="val 50000"/>
            </a:avLst>
          </a:prstGeom>
          <a:solidFill>
            <a:srgbClr val="16264F"/>
          </a:solidFill>
          <a:ln w="12700">
            <a:solidFill>
              <a:srgbClr val="16264F"/>
            </a:solidFill>
            <a:prstDash val="solid"/>
          </a:ln>
        </p:spPr>
      </p:sp>
      <p:sp>
        <p:nvSpPr>
          <p:cNvPr id="26" name="Tool chip text 135"/>
          <p:cNvSpPr txBox="1"/>
          <p:nvPr/>
        </p:nvSpPr>
        <p:spPr>
          <a:xfrm>
            <a:off x="8506968" y="4050792"/>
            <a:ext cx="2813304" cy="365760"/>
          </a:xfrm>
          <a:prstGeom prst="rect">
            <a:avLst/>
          </a:prstGeom>
          <a:noFill/>
          <a:ln/>
        </p:spPr>
        <p:txBody>
          <a:bodyPr wrap="square" lIns="0" tIns="0" rIns="0" bIns="0" rtlCol="0" anchor="ctr"/>
          <a:lstStyle/>
          <a:p>
            <a:pPr marL="0" indent="0" algn="ctr">
              <a:buNone/>
            </a:pPr>
            <a:r>
              <a:rPr lang="en-US" sz="1200" b="1" dirty="0">
                <a:solidFill>
                  <a:schemeClr val="bg1"/>
                </a:solidFill>
              </a:rPr>
              <a:t>Tool: SQL Shell and DBeaver</a:t>
            </a:r>
            <a:endParaRPr lang="en-US" sz="1200" dirty="0"/>
          </a:p>
        </p:txBody>
      </p:sp>
      <p:sp>
        <p:nvSpPr>
          <p:cNvPr id="27" name="Issue description 136"/>
          <p:cNvSpPr txBox="1"/>
          <p:nvPr/>
        </p:nvSpPr>
        <p:spPr>
          <a:xfrm>
            <a:off x="8506968" y="4617720"/>
            <a:ext cx="2813304" cy="1371600"/>
          </a:xfrm>
          <a:prstGeom prst="rect">
            <a:avLst/>
          </a:prstGeom>
          <a:noFill/>
          <a:ln/>
        </p:spPr>
        <p:txBody>
          <a:bodyPr wrap="square" lIns="0" tIns="0" rIns="0" bIns="0" rtlCol="0" anchor="t"/>
          <a:lstStyle/>
          <a:p>
            <a:pPr marL="0" indent="0">
              <a:buNone/>
            </a:pPr>
            <a:r>
              <a:rPr lang="en-US" sz="1400" dirty="0">
                <a:solidFill>
                  <a:schemeClr val="tx1"/>
                </a:solidFill>
              </a:rPr>
              <a:t>7,043 rows loaded. The churn split of 5,174 No and 1,869 Yes matches the source file.</a:t>
            </a:r>
            <a:endParaRPr lang="en-US" sz="1400" dirty="0"/>
          </a:p>
        </p:txBody>
      </p:sp>
      <p:sp>
        <p:nvSpPr>
          <p:cNvPr id="28"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79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685800"/>
          </a:xfrm>
          <a:prstGeom prst="rect">
            <a:avLst/>
          </a:prstGeom>
          <a:noFill/>
          <a:ln/>
        </p:spPr>
        <p:txBody>
          <a:bodyPr wrap="square" lIns="0" tIns="0" rIns="0" bIns="0" rtlCol="0" anchor="ctr"/>
          <a:lstStyle/>
          <a:p>
            <a:pPr marL="0" indent="0" algn="l">
              <a:buNone/>
            </a:pPr>
            <a:r>
              <a:rPr lang="en-US" sz="3400" b="1" dirty="0">
                <a:solidFill>
                  <a:schemeClr val="tx2"/>
                </a:solidFill>
              </a:rPr>
              <a:t>SQL: five analysis queries</a:t>
            </a:r>
            <a:endParaRPr lang="en-US" sz="3400" dirty="0"/>
          </a:p>
        </p:txBody>
      </p:sp>
      <p:sp>
        <p:nvSpPr>
          <p:cNvPr id="3" name="Text 0"/>
          <p:cNvSpPr>
            <a:spLocks noGrp="1"/>
          </p:cNvSpPr>
          <p:nvPr>
            <p:ph type="body" idx="101" hasCustomPrompt="1"/>
          </p:nvPr>
        </p:nvSpPr>
        <p:spPr>
          <a:xfrm>
            <a:off x="548640" y="1051560"/>
            <a:ext cx="11091672" cy="365760"/>
          </a:xfrm>
          <a:prstGeom prst="rect">
            <a:avLst/>
          </a:prstGeom>
          <a:noFill/>
          <a:ln/>
        </p:spPr>
        <p:txBody>
          <a:bodyPr wrap="square" lIns="0" tIns="0" rIns="0" bIns="0" rtlCol="0" anchor="ctr"/>
          <a:lstStyle/>
          <a:p>
            <a:pPr marL="0" indent="0" algn="l">
              <a:buNone/>
            </a:pPr>
            <a:r>
              <a:rPr lang="en-US" sz="1600" dirty="0">
                <a:solidFill>
                  <a:schemeClr val="accent5"/>
                </a:solidFill>
              </a:rPr>
              <a:t>Run in DBeaver on the telco table in PostgreSQL (customer_churn_rate_by_khush.sql)</a:t>
            </a:r>
            <a:endParaRPr lang="en-US" sz="1600" dirty="0"/>
          </a:p>
        </p:txBody>
      </p:sp>
      <p:sp>
        <p:nvSpPr>
          <p:cNvPr id="4" name="Code card 137"/>
          <p:cNvSpPr/>
          <p:nvPr/>
        </p:nvSpPr>
        <p:spPr>
          <a:xfrm>
            <a:off x="548640" y="1691640"/>
            <a:ext cx="6949440" cy="4434840"/>
          </a:xfrm>
          <a:prstGeom prst="roundRect">
            <a:avLst>
              <a:gd name="adj" fmla="val 2887"/>
            </a:avLst>
          </a:prstGeom>
          <a:solidFill>
            <a:schemeClr val="tx1"/>
          </a:solidFill>
          <a:ln w="12700">
            <a:solidFill>
              <a:schemeClr val="tx1"/>
            </a:solidFill>
            <a:prstDash val="solid"/>
          </a:ln>
          <a:effectLst>
            <a:outerShdw blurRad="127000" dist="38100" dir="5400000" algn="bl" rotWithShape="0">
              <a:srgbClr val="0B1530">
                <a:alpha val="12000"/>
              </a:srgbClr>
            </a:outerShdw>
          </a:effectLst>
        </p:spPr>
      </p:sp>
      <p:sp>
        <p:nvSpPr>
          <p:cNvPr id="5" name="Window dot 138"/>
          <p:cNvSpPr/>
          <p:nvPr/>
        </p:nvSpPr>
        <p:spPr>
          <a:xfrm>
            <a:off x="777240" y="1874520"/>
            <a:ext cx="118872" cy="118872"/>
          </a:xfrm>
          <a:prstGeom prst="ellipse">
            <a:avLst/>
          </a:prstGeom>
          <a:solidFill>
            <a:schemeClr val="accent1"/>
          </a:solidFill>
          <a:ln w="12700">
            <a:solidFill>
              <a:schemeClr val="accent1"/>
            </a:solidFill>
            <a:prstDash val="solid"/>
          </a:ln>
        </p:spPr>
      </p:sp>
      <p:sp>
        <p:nvSpPr>
          <p:cNvPr id="6" name="Window dot 139"/>
          <p:cNvSpPr/>
          <p:nvPr/>
        </p:nvSpPr>
        <p:spPr>
          <a:xfrm>
            <a:off x="978408" y="1874520"/>
            <a:ext cx="118872" cy="118872"/>
          </a:xfrm>
          <a:prstGeom prst="ellipse">
            <a:avLst/>
          </a:prstGeom>
          <a:solidFill>
            <a:schemeClr val="accent3"/>
          </a:solidFill>
          <a:ln w="12700">
            <a:solidFill>
              <a:schemeClr val="accent3"/>
            </a:solidFill>
            <a:prstDash val="solid"/>
          </a:ln>
        </p:spPr>
      </p:sp>
      <p:sp>
        <p:nvSpPr>
          <p:cNvPr id="7" name="Window dot 140"/>
          <p:cNvSpPr/>
          <p:nvPr/>
        </p:nvSpPr>
        <p:spPr>
          <a:xfrm>
            <a:off x="1179576" y="1874520"/>
            <a:ext cx="118872" cy="118872"/>
          </a:xfrm>
          <a:prstGeom prst="ellipse">
            <a:avLst/>
          </a:prstGeom>
          <a:solidFill>
            <a:schemeClr val="accent2"/>
          </a:solidFill>
          <a:ln w="12700">
            <a:solidFill>
              <a:schemeClr val="accent2"/>
            </a:solidFill>
            <a:prstDash val="solid"/>
          </a:ln>
        </p:spPr>
      </p:sp>
      <p:sp>
        <p:nvSpPr>
          <p:cNvPr id="8" name="Code file name 141"/>
          <p:cNvSpPr txBox="1"/>
          <p:nvPr/>
        </p:nvSpPr>
        <p:spPr>
          <a:xfrm>
            <a:off x="1508760" y="1819656"/>
            <a:ext cx="5760720" cy="228600"/>
          </a:xfrm>
          <a:prstGeom prst="rect">
            <a:avLst/>
          </a:prstGeom>
          <a:noFill/>
          <a:ln/>
        </p:spPr>
        <p:txBody>
          <a:bodyPr wrap="square" lIns="0" tIns="0" rIns="0" bIns="0" rtlCol="0" anchor="ctr"/>
          <a:lstStyle/>
          <a:p>
            <a:pPr marL="0" indent="0">
              <a:buNone/>
            </a:pPr>
            <a:r>
              <a:rPr lang="en-US" sz="1100" dirty="0">
                <a:solidFill>
                  <a:schemeClr val="accent6"/>
                </a:solidFill>
              </a:rPr>
              <a:t>customer_churn_rate_by_khush.sql  (queries 1 and 4, lines wrapped for the slide)</a:t>
            </a:r>
            <a:endParaRPr lang="en-US" sz="1100" dirty="0"/>
          </a:p>
        </p:txBody>
      </p:sp>
      <p:sp>
        <p:nvSpPr>
          <p:cNvPr id="9" name="Code 142"/>
          <p:cNvSpPr txBox="1"/>
          <p:nvPr/>
        </p:nvSpPr>
        <p:spPr>
          <a:xfrm>
            <a:off x="822960" y="2194560"/>
            <a:ext cx="6492240" cy="3794760"/>
          </a:xfrm>
          <a:prstGeom prst="rect">
            <a:avLst/>
          </a:prstGeom>
          <a:noFill/>
          <a:ln/>
        </p:spPr>
        <p:txBody>
          <a:bodyPr wrap="square" lIns="0" tIns="0" rIns="0" bIns="0" rtlCol="0" anchor="t"/>
          <a:lstStyle/>
          <a:p>
            <a:pPr marL="0" indent="0">
              <a:buNone/>
            </a:pPr>
            <a:r>
              <a:rPr lang="en-US" sz="1100" b="1" dirty="0">
                <a:solidFill>
                  <a:schemeClr val="accent2"/>
                </a:solidFill>
                <a:latin typeface="Courier New" pitchFamily="34" charset="0"/>
                <a:ea typeface="Courier New" pitchFamily="34" charset="-122"/>
                <a:cs typeface="Courier New" pitchFamily="34" charset="-120"/>
              </a:rPr>
              <a:t>SELECT</a:t>
            </a:r>
            <a:r>
              <a:rPr lang="en-US" sz="1100" dirty="0">
                <a:solidFill>
                  <a:schemeClr val="bg2"/>
                </a:solidFill>
                <a:latin typeface="Courier New" pitchFamily="34" charset="0"/>
                <a:ea typeface="Courier New" pitchFamily="34" charset="-122"/>
                <a:cs typeface="Courier New" pitchFamily="34" charset="-120"/>
              </a:rPr>
              <a:t> contract, </a:t>
            </a:r>
            <a:r>
              <a:rPr lang="en-US" sz="1100" dirty="0">
                <a:solidFill>
                  <a:schemeClr val="accent3"/>
                </a:solidFill>
                <a:latin typeface="Courier New" pitchFamily="34" charset="0"/>
                <a:ea typeface="Courier New" pitchFamily="34" charset="-122"/>
                <a:cs typeface="Courier New" pitchFamily="34" charset="-120"/>
              </a:rPr>
              <a:t>COUNT</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AS</a:t>
            </a:r>
            <a:r>
              <a:rPr lang="en-US" sz="1100" dirty="0">
                <a:solidFill>
                  <a:schemeClr val="bg2"/>
                </a:solidFill>
                <a:latin typeface="Courier New" pitchFamily="34" charset="0"/>
                <a:ea typeface="Courier New" pitchFamily="34" charset="-122"/>
                <a:cs typeface="Courier New" pitchFamily="34" charset="-120"/>
              </a:rPr>
              <a:t> customers,</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t>
            </a:r>
            <a:r>
              <a:rPr lang="en-US" sz="1100" dirty="0">
                <a:solidFill>
                  <a:schemeClr val="accent3"/>
                </a:solidFill>
                <a:latin typeface="Courier New" pitchFamily="34" charset="0"/>
                <a:ea typeface="Courier New" pitchFamily="34" charset="-122"/>
                <a:cs typeface="Courier New" pitchFamily="34" charset="-120"/>
              </a:rPr>
              <a:t>ROUND</a:t>
            </a:r>
            <a:r>
              <a:rPr lang="en-US" sz="1100" dirty="0">
                <a:solidFill>
                  <a:schemeClr val="bg2"/>
                </a:solidFill>
                <a:latin typeface="Courier New" pitchFamily="34" charset="0"/>
                <a:ea typeface="Courier New" pitchFamily="34" charset="-122"/>
                <a:cs typeface="Courier New" pitchFamily="34" charset="-120"/>
              </a:rPr>
              <a:t>(</a:t>
            </a:r>
            <a:r>
              <a:rPr lang="en-US" sz="1100" dirty="0">
                <a:solidFill>
                  <a:schemeClr val="accent3"/>
                </a:solidFill>
                <a:latin typeface="Courier New" pitchFamily="34" charset="0"/>
                <a:ea typeface="Courier New" pitchFamily="34" charset="-122"/>
                <a:cs typeface="Courier New" pitchFamily="34" charset="-120"/>
              </a:rPr>
              <a:t>100</a:t>
            </a:r>
            <a:r>
              <a:rPr lang="en-US" sz="1100" dirty="0">
                <a:solidFill>
                  <a:schemeClr val="bg2"/>
                </a:solidFill>
                <a:latin typeface="Courier New" pitchFamily="34" charset="0"/>
                <a:ea typeface="Courier New" pitchFamily="34" charset="-122"/>
                <a:cs typeface="Courier New" pitchFamily="34" charset="-120"/>
              </a:rPr>
              <a:t>.</a:t>
            </a:r>
            <a:r>
              <a:rPr lang="en-US" sz="1100" dirty="0">
                <a:solidFill>
                  <a:schemeClr val="accent3"/>
                </a:solidFill>
                <a:latin typeface="Courier New" pitchFamily="34" charset="0"/>
                <a:ea typeface="Courier New" pitchFamily="34" charset="-122"/>
                <a:cs typeface="Courier New" pitchFamily="34" charset="-120"/>
              </a:rPr>
              <a:t>0</a:t>
            </a:r>
            <a:r>
              <a:rPr lang="en-US" sz="1100" dirty="0">
                <a:solidFill>
                  <a:schemeClr val="bg2"/>
                </a:solidFill>
                <a:latin typeface="Courier New" pitchFamily="34" charset="0"/>
                <a:ea typeface="Courier New" pitchFamily="34" charset="-122"/>
                <a:cs typeface="Courier New" pitchFamily="34" charset="-120"/>
              </a:rPr>
              <a:t> * </a:t>
            </a:r>
            <a:r>
              <a:rPr lang="en-US" sz="1100" dirty="0">
                <a:solidFill>
                  <a:schemeClr val="accent3"/>
                </a:solidFill>
                <a:latin typeface="Courier New" pitchFamily="34" charset="0"/>
                <a:ea typeface="Courier New" pitchFamily="34" charset="-122"/>
                <a:cs typeface="Courier New" pitchFamily="34" charset="-120"/>
              </a:rPr>
              <a:t>SUM</a:t>
            </a:r>
            <a:r>
              <a:rPr lang="en-US" sz="1100" dirty="0">
                <a:solidFill>
                  <a:schemeClr val="bg2"/>
                </a:solidFill>
                <a:latin typeface="Courier New" pitchFamily="34" charset="0"/>
                <a:ea typeface="Courier New" pitchFamily="34" charset="-122"/>
                <a:cs typeface="Courier New" pitchFamily="34" charset="-120"/>
              </a:rPr>
              <a:t>(</a:t>
            </a:r>
            <a:r>
              <a:rPr lang="en-US" sz="1100" b="1" dirty="0">
                <a:solidFill>
                  <a:schemeClr val="accent2"/>
                </a:solidFill>
                <a:latin typeface="Courier New" pitchFamily="34" charset="0"/>
                <a:ea typeface="Courier New" pitchFamily="34" charset="-122"/>
                <a:cs typeface="Courier New" pitchFamily="34" charset="-120"/>
              </a:rPr>
              <a:t>CASE</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WHEN</a:t>
            </a:r>
            <a:r>
              <a:rPr lang="en-US" sz="1100" dirty="0">
                <a:solidFill>
                  <a:schemeClr val="bg2"/>
                </a:solidFill>
                <a:latin typeface="Courier New" pitchFamily="34" charset="0"/>
                <a:ea typeface="Courier New" pitchFamily="34" charset="-122"/>
                <a:cs typeface="Courier New" pitchFamily="34" charset="-120"/>
              </a:rPr>
              <a:t> churn = </a:t>
            </a:r>
            <a:r>
              <a:rPr lang="en-US" sz="1100" dirty="0">
                <a:solidFill>
                  <a:schemeClr val="accent1"/>
                </a:solidFill>
                <a:latin typeface="Courier New" pitchFamily="34" charset="0"/>
                <a:ea typeface="Courier New" pitchFamily="34" charset="-122"/>
                <a:cs typeface="Courier New" pitchFamily="34" charset="-120"/>
              </a:rPr>
              <a:t>'Yes'</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THEN</a:t>
            </a:r>
            <a:r>
              <a:rPr lang="en-US" sz="1100" dirty="0">
                <a:solidFill>
                  <a:schemeClr val="bg2"/>
                </a:solidFill>
                <a:latin typeface="Courier New" pitchFamily="34" charset="0"/>
                <a:ea typeface="Courier New" pitchFamily="34" charset="-122"/>
                <a:cs typeface="Courier New" pitchFamily="34" charset="-120"/>
              </a:rPr>
              <a:t> </a:t>
            </a:r>
            <a:r>
              <a:rPr lang="en-US" sz="1100" dirty="0">
                <a:solidFill>
                  <a:schemeClr val="accent3"/>
                </a:solidFill>
                <a:latin typeface="Courier New" pitchFamily="34" charset="0"/>
                <a:ea typeface="Courier New" pitchFamily="34" charset="-122"/>
                <a:cs typeface="Courier New" pitchFamily="34" charset="-120"/>
              </a:rPr>
              <a:t>1</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ELSE</a:t>
            </a:r>
            <a:r>
              <a:rPr lang="en-US" sz="1100" dirty="0">
                <a:solidFill>
                  <a:schemeClr val="bg2"/>
                </a:solidFill>
                <a:latin typeface="Courier New" pitchFamily="34" charset="0"/>
                <a:ea typeface="Courier New" pitchFamily="34" charset="-122"/>
                <a:cs typeface="Courier New" pitchFamily="34" charset="-120"/>
              </a:rPr>
              <a:t> </a:t>
            </a:r>
            <a:r>
              <a:rPr lang="en-US" sz="1100" dirty="0">
                <a:solidFill>
                  <a:schemeClr val="accent3"/>
                </a:solidFill>
                <a:latin typeface="Courier New" pitchFamily="34" charset="0"/>
                <a:ea typeface="Courier New" pitchFamily="34" charset="-122"/>
                <a:cs typeface="Courier New" pitchFamily="34" charset="-120"/>
              </a:rPr>
              <a:t>0</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END</a:t>
            </a:r>
            <a:r>
              <a:rPr lang="en-US" sz="1100" dirty="0">
                <a:solidFill>
                  <a:schemeClr val="bg2"/>
                </a:solidFill>
                <a:latin typeface="Courier New" pitchFamily="34" charset="0"/>
                <a:ea typeface="Courier New" pitchFamily="34" charset="-122"/>
                <a:cs typeface="Courier New" pitchFamily="34" charset="-120"/>
              </a:rPr>
              <a:t>) / </a:t>
            </a:r>
            <a:r>
              <a:rPr lang="en-US" sz="1100" dirty="0">
                <a:solidFill>
                  <a:schemeClr val="accent3"/>
                </a:solidFill>
                <a:latin typeface="Courier New" pitchFamily="34" charset="0"/>
                <a:ea typeface="Courier New" pitchFamily="34" charset="-122"/>
                <a:cs typeface="Courier New" pitchFamily="34" charset="-120"/>
              </a:rPr>
              <a:t>COUNT</a:t>
            </a:r>
            <a:r>
              <a:rPr lang="en-US" sz="1100" dirty="0">
                <a:solidFill>
                  <a:schemeClr val="bg2"/>
                </a:solidFill>
                <a:latin typeface="Courier New" pitchFamily="34" charset="0"/>
                <a:ea typeface="Courier New" pitchFamily="34" charset="-122"/>
                <a:cs typeface="Courier New" pitchFamily="34" charset="-120"/>
              </a:rPr>
              <a:t>(*), </a:t>
            </a:r>
            <a:r>
              <a:rPr lang="en-US" sz="1100" dirty="0">
                <a:solidFill>
                  <a:schemeClr val="accent3"/>
                </a:solidFill>
                <a:latin typeface="Courier New" pitchFamily="34" charset="0"/>
                <a:ea typeface="Courier New" pitchFamily="34" charset="-122"/>
                <a:cs typeface="Courier New" pitchFamily="34" charset="-120"/>
              </a:rPr>
              <a:t>1</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AS</a:t>
            </a:r>
            <a:r>
              <a:rPr lang="en-US" sz="1100" dirty="0">
                <a:solidFill>
                  <a:schemeClr val="bg2"/>
                </a:solidFill>
                <a:latin typeface="Courier New" pitchFamily="34" charset="0"/>
                <a:ea typeface="Courier New" pitchFamily="34" charset="-122"/>
                <a:cs typeface="Courier New" pitchFamily="34" charset="-120"/>
              </a:rPr>
              <a:t> churn_pct</a:t>
            </a:r>
            <a:endParaRPr lang="en-US" sz="1400" dirty="0"/>
          </a:p>
          <a:p>
            <a:pPr marL="0" indent="0">
              <a:buNone/>
            </a:pPr>
            <a:r>
              <a:rPr lang="en-US" sz="1100" b="1" dirty="0">
                <a:solidFill>
                  <a:schemeClr val="accent2"/>
                </a:solidFill>
                <a:latin typeface="Courier New" pitchFamily="34" charset="0"/>
                <a:ea typeface="Courier New" pitchFamily="34" charset="-122"/>
                <a:cs typeface="Courier New" pitchFamily="34" charset="-120"/>
              </a:rPr>
              <a:t>FROM</a:t>
            </a:r>
            <a:r>
              <a:rPr lang="en-US" sz="1100" dirty="0">
                <a:solidFill>
                  <a:schemeClr val="bg2"/>
                </a:solidFill>
                <a:latin typeface="Courier New" pitchFamily="34" charset="0"/>
                <a:ea typeface="Courier New" pitchFamily="34" charset="-122"/>
                <a:cs typeface="Courier New" pitchFamily="34" charset="-120"/>
              </a:rPr>
              <a:t> telco</a:t>
            </a:r>
            <a:endParaRPr lang="en-US" sz="1400" dirty="0"/>
          </a:p>
          <a:p>
            <a:pPr marL="0" indent="0">
              <a:buNone/>
            </a:pPr>
            <a:r>
              <a:rPr lang="en-US" sz="1100" b="1" dirty="0">
                <a:solidFill>
                  <a:schemeClr val="accent2"/>
                </a:solidFill>
                <a:latin typeface="Courier New" pitchFamily="34" charset="0"/>
                <a:ea typeface="Courier New" pitchFamily="34" charset="-122"/>
                <a:cs typeface="Courier New" pitchFamily="34" charset="-120"/>
              </a:rPr>
              <a:t>GROUP</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BY</a:t>
            </a:r>
            <a:r>
              <a:rPr lang="en-US" sz="1100" dirty="0">
                <a:solidFill>
                  <a:schemeClr val="bg2"/>
                </a:solidFill>
                <a:latin typeface="Courier New" pitchFamily="34" charset="0"/>
                <a:ea typeface="Courier New" pitchFamily="34" charset="-122"/>
                <a:cs typeface="Courier New" pitchFamily="34" charset="-120"/>
              </a:rPr>
              <a:t> contract</a:t>
            </a:r>
            <a:endParaRPr lang="en-US" sz="1400" dirty="0"/>
          </a:p>
          <a:p>
            <a:pPr marL="0" indent="0">
              <a:buNone/>
            </a:pPr>
            <a:r>
              <a:rPr lang="en-US" sz="1100" b="1" dirty="0">
                <a:solidFill>
                  <a:schemeClr val="accent2"/>
                </a:solidFill>
                <a:latin typeface="Courier New" pitchFamily="34" charset="0"/>
                <a:ea typeface="Courier New" pitchFamily="34" charset="-122"/>
                <a:cs typeface="Courier New" pitchFamily="34" charset="-120"/>
              </a:rPr>
              <a:t>ORDER</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BY</a:t>
            </a:r>
            <a:r>
              <a:rPr lang="en-US" sz="1100" dirty="0">
                <a:solidFill>
                  <a:schemeClr val="bg2"/>
                </a:solidFill>
                <a:latin typeface="Courier New" pitchFamily="34" charset="0"/>
                <a:ea typeface="Courier New" pitchFamily="34" charset="-122"/>
                <a:cs typeface="Courier New" pitchFamily="34" charset="-120"/>
              </a:rPr>
              <a:t> churn_pct </a:t>
            </a:r>
            <a:r>
              <a:rPr lang="en-US" sz="1100" b="1" dirty="0">
                <a:solidFill>
                  <a:schemeClr val="accent2"/>
                </a:solidFill>
                <a:latin typeface="Courier New" pitchFamily="34" charset="0"/>
                <a:ea typeface="Courier New" pitchFamily="34" charset="-122"/>
                <a:cs typeface="Courier New" pitchFamily="34" charset="-120"/>
              </a:rPr>
              <a:t>DESC</a:t>
            </a:r>
            <a:r>
              <a:rPr lang="en-US" sz="1100" dirty="0">
                <a:solidFill>
                  <a:schemeClr val="bg2"/>
                </a:solidFill>
                <a:latin typeface="Courier New" pitchFamily="34" charset="0"/>
                <a:ea typeface="Courier New" pitchFamily="34" charset="-122"/>
                <a:cs typeface="Courier New" pitchFamily="34" charset="-120"/>
              </a:rPr>
              <a:t>;</a:t>
            </a:r>
            <a:endParaRPr lang="en-US" sz="1400" dirty="0"/>
          </a:p>
          <a:p>
            <a:pPr marL="0" indent="0">
              <a:buNone/>
            </a:pPr>
            <a:r>
              <a:rPr lang="en-US" sz="1100" dirty="0">
                <a:solidFill>
                  <a:schemeClr val="tx1"/>
                </a:solidFill>
                <a:latin typeface="Courier New" pitchFamily="34" charset="0"/>
                <a:ea typeface="Courier New" pitchFamily="34" charset="-122"/>
                <a:cs typeface="Courier New" pitchFamily="34" charset="-120"/>
              </a:rPr>
              <a:t> </a:t>
            </a:r>
            <a:endParaRPr lang="en-US" sz="1400" dirty="0"/>
          </a:p>
          <a:p>
            <a:pPr marL="0" indent="0">
              <a:buNone/>
            </a:pPr>
            <a:r>
              <a:rPr lang="en-US" sz="1100" b="1" dirty="0">
                <a:solidFill>
                  <a:schemeClr val="accent2"/>
                </a:solidFill>
                <a:latin typeface="Courier New" pitchFamily="34" charset="0"/>
                <a:ea typeface="Courier New" pitchFamily="34" charset="-122"/>
                <a:cs typeface="Courier New" pitchFamily="34" charset="-120"/>
              </a:rPr>
              <a:t>SELECT</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CASE</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WHEN</a:t>
            </a:r>
            <a:r>
              <a:rPr lang="en-US" sz="1100" dirty="0">
                <a:solidFill>
                  <a:schemeClr val="bg2"/>
                </a:solidFill>
                <a:latin typeface="Courier New" pitchFamily="34" charset="0"/>
                <a:ea typeface="Courier New" pitchFamily="34" charset="-122"/>
                <a:cs typeface="Courier New" pitchFamily="34" charset="-120"/>
              </a:rPr>
              <a:t> tenure &lt;= </a:t>
            </a:r>
            <a:r>
              <a:rPr lang="en-US" sz="1100" dirty="0">
                <a:solidFill>
                  <a:schemeClr val="accent3"/>
                </a:solidFill>
                <a:latin typeface="Courier New" pitchFamily="34" charset="0"/>
                <a:ea typeface="Courier New" pitchFamily="34" charset="-122"/>
                <a:cs typeface="Courier New" pitchFamily="34" charset="-120"/>
              </a:rPr>
              <a:t>12</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THEN</a:t>
            </a:r>
            <a:r>
              <a:rPr lang="en-US" sz="1100" dirty="0">
                <a:solidFill>
                  <a:schemeClr val="bg2"/>
                </a:solidFill>
                <a:latin typeface="Courier New" pitchFamily="34" charset="0"/>
                <a:ea typeface="Courier New" pitchFamily="34" charset="-122"/>
                <a:cs typeface="Courier New" pitchFamily="34" charset="-120"/>
              </a:rPr>
              <a:t> </a:t>
            </a:r>
            <a:r>
              <a:rPr lang="en-US" sz="1100" dirty="0">
                <a:solidFill>
                  <a:schemeClr val="accent1"/>
                </a:solidFill>
                <a:latin typeface="Courier New" pitchFamily="34" charset="0"/>
                <a:ea typeface="Courier New" pitchFamily="34" charset="-122"/>
                <a:cs typeface="Courier New" pitchFamily="34" charset="-120"/>
              </a:rPr>
              <a:t>'0-12 months'</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WHEN</a:t>
            </a:r>
            <a:r>
              <a:rPr lang="en-US" sz="1100" dirty="0">
                <a:solidFill>
                  <a:schemeClr val="bg2"/>
                </a:solidFill>
                <a:latin typeface="Courier New" pitchFamily="34" charset="0"/>
                <a:ea typeface="Courier New" pitchFamily="34" charset="-122"/>
                <a:cs typeface="Courier New" pitchFamily="34" charset="-120"/>
              </a:rPr>
              <a:t> tenure &lt;= </a:t>
            </a:r>
            <a:r>
              <a:rPr lang="en-US" sz="1100" dirty="0">
                <a:solidFill>
                  <a:schemeClr val="accent3"/>
                </a:solidFill>
                <a:latin typeface="Courier New" pitchFamily="34" charset="0"/>
                <a:ea typeface="Courier New" pitchFamily="34" charset="-122"/>
                <a:cs typeface="Courier New" pitchFamily="34" charset="-120"/>
              </a:rPr>
              <a:t>24</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THEN</a:t>
            </a:r>
            <a:r>
              <a:rPr lang="en-US" sz="1100" dirty="0">
                <a:solidFill>
                  <a:schemeClr val="bg2"/>
                </a:solidFill>
                <a:latin typeface="Courier New" pitchFamily="34" charset="0"/>
                <a:ea typeface="Courier New" pitchFamily="34" charset="-122"/>
                <a:cs typeface="Courier New" pitchFamily="34" charset="-120"/>
              </a:rPr>
              <a:t> </a:t>
            </a:r>
            <a:r>
              <a:rPr lang="en-US" sz="1100" dirty="0">
                <a:solidFill>
                  <a:schemeClr val="accent1"/>
                </a:solidFill>
                <a:latin typeface="Courier New" pitchFamily="34" charset="0"/>
                <a:ea typeface="Courier New" pitchFamily="34" charset="-122"/>
                <a:cs typeface="Courier New" pitchFamily="34" charset="-120"/>
              </a:rPr>
              <a:t>'13-24 months'</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WHEN</a:t>
            </a:r>
            <a:r>
              <a:rPr lang="en-US" sz="1100" dirty="0">
                <a:solidFill>
                  <a:schemeClr val="bg2"/>
                </a:solidFill>
                <a:latin typeface="Courier New" pitchFamily="34" charset="0"/>
                <a:ea typeface="Courier New" pitchFamily="34" charset="-122"/>
                <a:cs typeface="Courier New" pitchFamily="34" charset="-120"/>
              </a:rPr>
              <a:t> tenure &lt;= </a:t>
            </a:r>
            <a:r>
              <a:rPr lang="en-US" sz="1100" dirty="0">
                <a:solidFill>
                  <a:schemeClr val="accent3"/>
                </a:solidFill>
                <a:latin typeface="Courier New" pitchFamily="34" charset="0"/>
                <a:ea typeface="Courier New" pitchFamily="34" charset="-122"/>
                <a:cs typeface="Courier New" pitchFamily="34" charset="-120"/>
              </a:rPr>
              <a:t>48</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THEN</a:t>
            </a:r>
            <a:r>
              <a:rPr lang="en-US" sz="1100" dirty="0">
                <a:solidFill>
                  <a:schemeClr val="bg2"/>
                </a:solidFill>
                <a:latin typeface="Courier New" pitchFamily="34" charset="0"/>
                <a:ea typeface="Courier New" pitchFamily="34" charset="-122"/>
                <a:cs typeface="Courier New" pitchFamily="34" charset="-120"/>
              </a:rPr>
              <a:t> </a:t>
            </a:r>
            <a:r>
              <a:rPr lang="en-US" sz="1100" dirty="0">
                <a:solidFill>
                  <a:schemeClr val="accent1"/>
                </a:solidFill>
                <a:latin typeface="Courier New" pitchFamily="34" charset="0"/>
                <a:ea typeface="Courier New" pitchFamily="34" charset="-122"/>
                <a:cs typeface="Courier New" pitchFamily="34" charset="-120"/>
              </a:rPr>
              <a:t>'25-48 months'</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ELSE</a:t>
            </a:r>
            <a:r>
              <a:rPr lang="en-US" sz="1100" dirty="0">
                <a:solidFill>
                  <a:schemeClr val="bg2"/>
                </a:solidFill>
                <a:latin typeface="Courier New" pitchFamily="34" charset="0"/>
                <a:ea typeface="Courier New" pitchFamily="34" charset="-122"/>
                <a:cs typeface="Courier New" pitchFamily="34" charset="-120"/>
              </a:rPr>
              <a:t> </a:t>
            </a:r>
            <a:r>
              <a:rPr lang="en-US" sz="1100" dirty="0">
                <a:solidFill>
                  <a:schemeClr val="accent1"/>
                </a:solidFill>
                <a:latin typeface="Courier New" pitchFamily="34" charset="0"/>
                <a:ea typeface="Courier New" pitchFamily="34" charset="-122"/>
                <a:cs typeface="Courier New" pitchFamily="34" charset="-120"/>
              </a:rPr>
              <a:t>'49-72 months'</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END</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AS</a:t>
            </a:r>
            <a:r>
              <a:rPr lang="en-US" sz="1100" dirty="0">
                <a:solidFill>
                  <a:schemeClr val="bg2"/>
                </a:solidFill>
                <a:latin typeface="Courier New" pitchFamily="34" charset="0"/>
                <a:ea typeface="Courier New" pitchFamily="34" charset="-122"/>
                <a:cs typeface="Courier New" pitchFamily="34" charset="-120"/>
              </a:rPr>
              <a:t> tenure_group,</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t>
            </a:r>
            <a:r>
              <a:rPr lang="en-US" sz="1100" dirty="0">
                <a:solidFill>
                  <a:schemeClr val="accent3"/>
                </a:solidFill>
                <a:latin typeface="Courier New" pitchFamily="34" charset="0"/>
                <a:ea typeface="Courier New" pitchFamily="34" charset="-122"/>
                <a:cs typeface="Courier New" pitchFamily="34" charset="-120"/>
              </a:rPr>
              <a:t>COUNT</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AS</a:t>
            </a:r>
            <a:r>
              <a:rPr lang="en-US" sz="1100" dirty="0">
                <a:solidFill>
                  <a:schemeClr val="bg2"/>
                </a:solidFill>
                <a:latin typeface="Courier New" pitchFamily="34" charset="0"/>
                <a:ea typeface="Courier New" pitchFamily="34" charset="-122"/>
                <a:cs typeface="Courier New" pitchFamily="34" charset="-120"/>
              </a:rPr>
              <a:t> customers,</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t>
            </a:r>
            <a:r>
              <a:rPr lang="en-US" sz="1100" dirty="0">
                <a:solidFill>
                  <a:schemeClr val="accent3"/>
                </a:solidFill>
                <a:latin typeface="Courier New" pitchFamily="34" charset="0"/>
                <a:ea typeface="Courier New" pitchFamily="34" charset="-122"/>
                <a:cs typeface="Courier New" pitchFamily="34" charset="-120"/>
              </a:rPr>
              <a:t>ROUND</a:t>
            </a:r>
            <a:r>
              <a:rPr lang="en-US" sz="1100" dirty="0">
                <a:solidFill>
                  <a:schemeClr val="bg2"/>
                </a:solidFill>
                <a:latin typeface="Courier New" pitchFamily="34" charset="0"/>
                <a:ea typeface="Courier New" pitchFamily="34" charset="-122"/>
                <a:cs typeface="Courier New" pitchFamily="34" charset="-120"/>
              </a:rPr>
              <a:t>(</a:t>
            </a:r>
            <a:r>
              <a:rPr lang="en-US" sz="1100" dirty="0">
                <a:solidFill>
                  <a:schemeClr val="accent3"/>
                </a:solidFill>
                <a:latin typeface="Courier New" pitchFamily="34" charset="0"/>
                <a:ea typeface="Courier New" pitchFamily="34" charset="-122"/>
                <a:cs typeface="Courier New" pitchFamily="34" charset="-120"/>
              </a:rPr>
              <a:t>100</a:t>
            </a:r>
            <a:r>
              <a:rPr lang="en-US" sz="1100" dirty="0">
                <a:solidFill>
                  <a:schemeClr val="bg2"/>
                </a:solidFill>
                <a:latin typeface="Courier New" pitchFamily="34" charset="0"/>
                <a:ea typeface="Courier New" pitchFamily="34" charset="-122"/>
                <a:cs typeface="Courier New" pitchFamily="34" charset="-120"/>
              </a:rPr>
              <a:t>.</a:t>
            </a:r>
            <a:r>
              <a:rPr lang="en-US" sz="1100" dirty="0">
                <a:solidFill>
                  <a:schemeClr val="accent3"/>
                </a:solidFill>
                <a:latin typeface="Courier New" pitchFamily="34" charset="0"/>
                <a:ea typeface="Courier New" pitchFamily="34" charset="-122"/>
                <a:cs typeface="Courier New" pitchFamily="34" charset="-120"/>
              </a:rPr>
              <a:t>0</a:t>
            </a:r>
            <a:r>
              <a:rPr lang="en-US" sz="1100" dirty="0">
                <a:solidFill>
                  <a:schemeClr val="bg2"/>
                </a:solidFill>
                <a:latin typeface="Courier New" pitchFamily="34" charset="0"/>
                <a:ea typeface="Courier New" pitchFamily="34" charset="-122"/>
                <a:cs typeface="Courier New" pitchFamily="34" charset="-120"/>
              </a:rPr>
              <a:t> * </a:t>
            </a:r>
            <a:r>
              <a:rPr lang="en-US" sz="1100" dirty="0">
                <a:solidFill>
                  <a:schemeClr val="accent3"/>
                </a:solidFill>
                <a:latin typeface="Courier New" pitchFamily="34" charset="0"/>
                <a:ea typeface="Courier New" pitchFamily="34" charset="-122"/>
                <a:cs typeface="Courier New" pitchFamily="34" charset="-120"/>
              </a:rPr>
              <a:t>SUM</a:t>
            </a:r>
            <a:r>
              <a:rPr lang="en-US" sz="1100" dirty="0">
                <a:solidFill>
                  <a:schemeClr val="bg2"/>
                </a:solidFill>
                <a:latin typeface="Courier New" pitchFamily="34" charset="0"/>
                <a:ea typeface="Courier New" pitchFamily="34" charset="-122"/>
                <a:cs typeface="Courier New" pitchFamily="34" charset="-120"/>
              </a:rPr>
              <a:t>(</a:t>
            </a:r>
            <a:r>
              <a:rPr lang="en-US" sz="1100" b="1" dirty="0">
                <a:solidFill>
                  <a:schemeClr val="accent2"/>
                </a:solidFill>
                <a:latin typeface="Courier New" pitchFamily="34" charset="0"/>
                <a:ea typeface="Courier New" pitchFamily="34" charset="-122"/>
                <a:cs typeface="Courier New" pitchFamily="34" charset="-120"/>
              </a:rPr>
              <a:t>CASE</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WHEN</a:t>
            </a:r>
            <a:r>
              <a:rPr lang="en-US" sz="1100" dirty="0">
                <a:solidFill>
                  <a:schemeClr val="bg2"/>
                </a:solidFill>
                <a:latin typeface="Courier New" pitchFamily="34" charset="0"/>
                <a:ea typeface="Courier New" pitchFamily="34" charset="-122"/>
                <a:cs typeface="Courier New" pitchFamily="34" charset="-120"/>
              </a:rPr>
              <a:t> churn = </a:t>
            </a:r>
            <a:r>
              <a:rPr lang="en-US" sz="1100" dirty="0">
                <a:solidFill>
                  <a:schemeClr val="accent1"/>
                </a:solidFill>
                <a:latin typeface="Courier New" pitchFamily="34" charset="0"/>
                <a:ea typeface="Courier New" pitchFamily="34" charset="-122"/>
                <a:cs typeface="Courier New" pitchFamily="34" charset="-120"/>
              </a:rPr>
              <a:t>'Yes'</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THEN</a:t>
            </a:r>
            <a:r>
              <a:rPr lang="en-US" sz="1100" dirty="0">
                <a:solidFill>
                  <a:schemeClr val="bg2"/>
                </a:solidFill>
                <a:latin typeface="Courier New" pitchFamily="34" charset="0"/>
                <a:ea typeface="Courier New" pitchFamily="34" charset="-122"/>
                <a:cs typeface="Courier New" pitchFamily="34" charset="-120"/>
              </a:rPr>
              <a:t> </a:t>
            </a:r>
            <a:r>
              <a:rPr lang="en-US" sz="1100" dirty="0">
                <a:solidFill>
                  <a:schemeClr val="accent3"/>
                </a:solidFill>
                <a:latin typeface="Courier New" pitchFamily="34" charset="0"/>
                <a:ea typeface="Courier New" pitchFamily="34" charset="-122"/>
                <a:cs typeface="Courier New" pitchFamily="34" charset="-120"/>
              </a:rPr>
              <a:t>1</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ELSE</a:t>
            </a:r>
            <a:r>
              <a:rPr lang="en-US" sz="1100" dirty="0">
                <a:solidFill>
                  <a:schemeClr val="bg2"/>
                </a:solidFill>
                <a:latin typeface="Courier New" pitchFamily="34" charset="0"/>
                <a:ea typeface="Courier New" pitchFamily="34" charset="-122"/>
                <a:cs typeface="Courier New" pitchFamily="34" charset="-120"/>
              </a:rPr>
              <a:t> </a:t>
            </a:r>
            <a:r>
              <a:rPr lang="en-US" sz="1100" dirty="0">
                <a:solidFill>
                  <a:schemeClr val="accent3"/>
                </a:solidFill>
                <a:latin typeface="Courier New" pitchFamily="34" charset="0"/>
                <a:ea typeface="Courier New" pitchFamily="34" charset="-122"/>
                <a:cs typeface="Courier New" pitchFamily="34" charset="-120"/>
              </a:rPr>
              <a:t>0</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END</a:t>
            </a:r>
            <a:r>
              <a:rPr lang="en-US" sz="1100" dirty="0">
                <a:solidFill>
                  <a:schemeClr val="bg2"/>
                </a:solidFill>
                <a:latin typeface="Courier New" pitchFamily="34" charset="0"/>
                <a:ea typeface="Courier New" pitchFamily="34" charset="-122"/>
                <a:cs typeface="Courier New" pitchFamily="34" charset="-120"/>
              </a:rPr>
              <a:t>) / </a:t>
            </a:r>
            <a:r>
              <a:rPr lang="en-US" sz="1100" dirty="0">
                <a:solidFill>
                  <a:schemeClr val="accent3"/>
                </a:solidFill>
                <a:latin typeface="Courier New" pitchFamily="34" charset="0"/>
                <a:ea typeface="Courier New" pitchFamily="34" charset="-122"/>
                <a:cs typeface="Courier New" pitchFamily="34" charset="-120"/>
              </a:rPr>
              <a:t>COUNT</a:t>
            </a:r>
            <a:r>
              <a:rPr lang="en-US" sz="1100" dirty="0">
                <a:solidFill>
                  <a:schemeClr val="bg2"/>
                </a:solidFill>
                <a:latin typeface="Courier New" pitchFamily="34" charset="0"/>
                <a:ea typeface="Courier New" pitchFamily="34" charset="-122"/>
                <a:cs typeface="Courier New" pitchFamily="34" charset="-120"/>
              </a:rPr>
              <a:t>(*), </a:t>
            </a:r>
            <a:r>
              <a:rPr lang="en-US" sz="1100" dirty="0">
                <a:solidFill>
                  <a:schemeClr val="accent3"/>
                </a:solidFill>
                <a:latin typeface="Courier New" pitchFamily="34" charset="0"/>
                <a:ea typeface="Courier New" pitchFamily="34" charset="-122"/>
                <a:cs typeface="Courier New" pitchFamily="34" charset="-120"/>
              </a:rPr>
              <a:t>1</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AS</a:t>
            </a:r>
            <a:r>
              <a:rPr lang="en-US" sz="1100" dirty="0">
                <a:solidFill>
                  <a:schemeClr val="bg2"/>
                </a:solidFill>
                <a:latin typeface="Courier New" pitchFamily="34" charset="0"/>
                <a:ea typeface="Courier New" pitchFamily="34" charset="-122"/>
                <a:cs typeface="Courier New" pitchFamily="34" charset="-120"/>
              </a:rPr>
              <a:t> churn_pct</a:t>
            </a:r>
            <a:endParaRPr lang="en-US" sz="1400" dirty="0"/>
          </a:p>
          <a:p>
            <a:pPr marL="0" indent="0">
              <a:buNone/>
            </a:pPr>
            <a:r>
              <a:rPr lang="en-US" sz="1100" b="1" dirty="0">
                <a:solidFill>
                  <a:schemeClr val="accent2"/>
                </a:solidFill>
                <a:latin typeface="Courier New" pitchFamily="34" charset="0"/>
                <a:ea typeface="Courier New" pitchFamily="34" charset="-122"/>
                <a:cs typeface="Courier New" pitchFamily="34" charset="-120"/>
              </a:rPr>
              <a:t>FROM</a:t>
            </a:r>
            <a:r>
              <a:rPr lang="en-US" sz="1100" dirty="0">
                <a:solidFill>
                  <a:schemeClr val="bg2"/>
                </a:solidFill>
                <a:latin typeface="Courier New" pitchFamily="34" charset="0"/>
                <a:ea typeface="Courier New" pitchFamily="34" charset="-122"/>
                <a:cs typeface="Courier New" pitchFamily="34" charset="-120"/>
              </a:rPr>
              <a:t> telco</a:t>
            </a:r>
            <a:endParaRPr lang="en-US" sz="1400" dirty="0"/>
          </a:p>
          <a:p>
            <a:pPr marL="0" indent="0">
              <a:buNone/>
            </a:pPr>
            <a:r>
              <a:rPr lang="en-US" sz="1100" b="1" dirty="0">
                <a:solidFill>
                  <a:schemeClr val="accent2"/>
                </a:solidFill>
                <a:latin typeface="Courier New" pitchFamily="34" charset="0"/>
                <a:ea typeface="Courier New" pitchFamily="34" charset="-122"/>
                <a:cs typeface="Courier New" pitchFamily="34" charset="-120"/>
              </a:rPr>
              <a:t>GROUP</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BY</a:t>
            </a:r>
            <a:r>
              <a:rPr lang="en-US" sz="1100" dirty="0">
                <a:solidFill>
                  <a:schemeClr val="bg2"/>
                </a:solidFill>
                <a:latin typeface="Courier New" pitchFamily="34" charset="0"/>
                <a:ea typeface="Courier New" pitchFamily="34" charset="-122"/>
                <a:cs typeface="Courier New" pitchFamily="34" charset="-120"/>
              </a:rPr>
              <a:t> tenure_group</a:t>
            </a:r>
            <a:endParaRPr lang="en-US" sz="1400" dirty="0"/>
          </a:p>
          <a:p>
            <a:pPr marL="0" indent="0">
              <a:buNone/>
            </a:pPr>
            <a:r>
              <a:rPr lang="en-US" sz="1100" b="1" dirty="0">
                <a:solidFill>
                  <a:schemeClr val="accent2"/>
                </a:solidFill>
                <a:latin typeface="Courier New" pitchFamily="34" charset="0"/>
                <a:ea typeface="Courier New" pitchFamily="34" charset="-122"/>
                <a:cs typeface="Courier New" pitchFamily="34" charset="-120"/>
              </a:rPr>
              <a:t>ORDER</a:t>
            </a:r>
            <a:r>
              <a:rPr lang="en-US" sz="1100" dirty="0">
                <a:solidFill>
                  <a:schemeClr val="bg2"/>
                </a:solidFill>
                <a:latin typeface="Courier New" pitchFamily="34" charset="0"/>
                <a:ea typeface="Courier New" pitchFamily="34" charset="-122"/>
                <a:cs typeface="Courier New" pitchFamily="34" charset="-120"/>
              </a:rPr>
              <a:t> </a:t>
            </a:r>
            <a:r>
              <a:rPr lang="en-US" sz="1100" b="1" dirty="0">
                <a:solidFill>
                  <a:schemeClr val="accent2"/>
                </a:solidFill>
                <a:latin typeface="Courier New" pitchFamily="34" charset="0"/>
                <a:ea typeface="Courier New" pitchFamily="34" charset="-122"/>
                <a:cs typeface="Courier New" pitchFamily="34" charset="-120"/>
              </a:rPr>
              <a:t>BY</a:t>
            </a:r>
            <a:r>
              <a:rPr lang="en-US" sz="1100" dirty="0">
                <a:solidFill>
                  <a:schemeClr val="bg2"/>
                </a:solidFill>
                <a:latin typeface="Courier New" pitchFamily="34" charset="0"/>
                <a:ea typeface="Courier New" pitchFamily="34" charset="-122"/>
                <a:cs typeface="Courier New" pitchFamily="34" charset="-120"/>
              </a:rPr>
              <a:t> churn_pct </a:t>
            </a:r>
            <a:r>
              <a:rPr lang="en-US" sz="1100" b="1" dirty="0">
                <a:solidFill>
                  <a:schemeClr val="accent2"/>
                </a:solidFill>
                <a:latin typeface="Courier New" pitchFamily="34" charset="0"/>
                <a:ea typeface="Courier New" pitchFamily="34" charset="-122"/>
                <a:cs typeface="Courier New" pitchFamily="34" charset="-120"/>
              </a:rPr>
              <a:t>DESC</a:t>
            </a:r>
            <a:r>
              <a:rPr lang="en-US" sz="1100" dirty="0">
                <a:solidFill>
                  <a:schemeClr val="bg2"/>
                </a:solidFill>
                <a:latin typeface="Courier New" pitchFamily="34" charset="0"/>
                <a:ea typeface="Courier New" pitchFamily="34" charset="-122"/>
                <a:cs typeface="Courier New" pitchFamily="34" charset="-120"/>
              </a:rPr>
              <a:t>;</a:t>
            </a:r>
            <a:endParaRPr lang="en-US" sz="1400" dirty="0"/>
          </a:p>
        </p:txBody>
      </p:sp>
      <p:sp>
        <p:nvSpPr>
          <p:cNvPr id="10" name="Queries card 143"/>
          <p:cNvSpPr/>
          <p:nvPr/>
        </p:nvSpPr>
        <p:spPr>
          <a:xfrm>
            <a:off x="7772400" y="1691640"/>
            <a:ext cx="3867912" cy="4434840"/>
          </a:xfrm>
          <a:prstGeom prst="roundRect">
            <a:avLst>
              <a:gd name="adj" fmla="val 3310"/>
            </a:avLst>
          </a:prstGeom>
          <a:solidFill>
            <a:schemeClr val="bg2"/>
          </a:solidFill>
          <a:ln w="12700">
            <a:solidFill>
              <a:schemeClr val="bg2"/>
            </a:solidFill>
            <a:prstDash val="solid"/>
          </a:ln>
        </p:spPr>
      </p:sp>
      <p:sp>
        <p:nvSpPr>
          <p:cNvPr id="11" name="Card title 144"/>
          <p:cNvSpPr txBox="1"/>
          <p:nvPr/>
        </p:nvSpPr>
        <p:spPr>
          <a:xfrm>
            <a:off x="8046720" y="1828800"/>
            <a:ext cx="3383280" cy="320040"/>
          </a:xfrm>
          <a:prstGeom prst="rect">
            <a:avLst/>
          </a:prstGeom>
          <a:noFill/>
          <a:ln/>
        </p:spPr>
        <p:txBody>
          <a:bodyPr wrap="square" lIns="0" tIns="0" rIns="0" bIns="0" rtlCol="0" anchor="t"/>
          <a:lstStyle/>
          <a:p>
            <a:pPr marL="0" indent="0">
              <a:buNone/>
            </a:pPr>
            <a:r>
              <a:rPr lang="en-US" sz="1600" b="1" dirty="0">
                <a:solidFill>
                  <a:schemeClr val="tx2"/>
                </a:solidFill>
              </a:rPr>
              <a:t>Five queries, one pattern</a:t>
            </a:r>
            <a:endParaRPr lang="en-US" sz="1600" dirty="0"/>
          </a:p>
        </p:txBody>
      </p:sp>
      <p:sp>
        <p:nvSpPr>
          <p:cNvPr id="12" name="Card subtitle 145"/>
          <p:cNvSpPr txBox="1"/>
          <p:nvPr/>
        </p:nvSpPr>
        <p:spPr>
          <a:xfrm>
            <a:off x="8046720" y="2194560"/>
            <a:ext cx="3383280" cy="548640"/>
          </a:xfrm>
          <a:prstGeom prst="rect">
            <a:avLst/>
          </a:prstGeom>
          <a:noFill/>
          <a:ln/>
        </p:spPr>
        <p:txBody>
          <a:bodyPr wrap="square" lIns="0" tIns="0" rIns="0" bIns="0" rtlCol="0" anchor="t"/>
          <a:lstStyle/>
          <a:p>
            <a:pPr marL="0" indent="0">
              <a:buNone/>
            </a:pPr>
            <a:r>
              <a:rPr lang="en-US" sz="1300" dirty="0">
                <a:solidFill>
                  <a:schemeClr val="accent5"/>
                </a:solidFill>
              </a:rPr>
              <a:t>Each groups the telco table and returns customers and churn_pct, highest first.</a:t>
            </a:r>
            <a:endParaRPr lang="en-US" sz="1300" dirty="0"/>
          </a:p>
        </p:txBody>
      </p:sp>
      <p:sp>
        <p:nvSpPr>
          <p:cNvPr id="13" name="Number badge 146"/>
          <p:cNvSpPr/>
          <p:nvPr/>
        </p:nvSpPr>
        <p:spPr>
          <a:xfrm>
            <a:off x="8046720" y="2953512"/>
            <a:ext cx="384048" cy="384048"/>
          </a:xfrm>
          <a:prstGeom prst="ellipse">
            <a:avLst/>
          </a:prstGeom>
          <a:solidFill>
            <a:schemeClr val="accent2"/>
          </a:solidFill>
          <a:ln w="12700">
            <a:solidFill>
              <a:schemeClr val="accent2"/>
            </a:solidFill>
            <a:prstDash val="solid"/>
          </a:ln>
        </p:spPr>
      </p:sp>
      <p:sp>
        <p:nvSpPr>
          <p:cNvPr id="14" name="Number 147"/>
          <p:cNvSpPr txBox="1"/>
          <p:nvPr/>
        </p:nvSpPr>
        <p:spPr>
          <a:xfrm>
            <a:off x="8046720" y="2953512"/>
            <a:ext cx="384048" cy="384048"/>
          </a:xfrm>
          <a:prstGeom prst="rect">
            <a:avLst/>
          </a:prstGeom>
          <a:noFill/>
          <a:ln/>
        </p:spPr>
        <p:txBody>
          <a:bodyPr wrap="square" lIns="0" tIns="0" rIns="0" bIns="0" rtlCol="0" anchor="ctr"/>
          <a:lstStyle/>
          <a:p>
            <a:pPr marL="0" indent="0" algn="ctr">
              <a:buNone/>
            </a:pPr>
            <a:r>
              <a:rPr lang="en-US" sz="1500" b="1" dirty="0">
                <a:solidFill>
                  <a:schemeClr val="tx2"/>
                </a:solidFill>
              </a:rPr>
              <a:t>1</a:t>
            </a:r>
            <a:endParaRPr lang="en-US" sz="1500" dirty="0"/>
          </a:p>
        </p:txBody>
      </p:sp>
      <p:sp>
        <p:nvSpPr>
          <p:cNvPr id="15" name="Query result 148"/>
          <p:cNvSpPr txBox="1"/>
          <p:nvPr/>
        </p:nvSpPr>
        <p:spPr>
          <a:xfrm>
            <a:off x="8595360" y="2880360"/>
            <a:ext cx="2926080" cy="548640"/>
          </a:xfrm>
          <a:prstGeom prst="rect">
            <a:avLst/>
          </a:prstGeom>
          <a:noFill/>
          <a:ln/>
        </p:spPr>
        <p:txBody>
          <a:bodyPr wrap="square" lIns="0" tIns="0" rIns="0" bIns="0" rtlCol="0" anchor="ctr"/>
          <a:lstStyle/>
          <a:p>
            <a:pPr marL="0" indent="0">
              <a:buNone/>
            </a:pPr>
            <a:r>
              <a:rPr lang="en-US" sz="1400" b="1" dirty="0">
                <a:solidFill>
                  <a:schemeClr val="tx2"/>
                </a:solidFill>
              </a:rPr>
              <a:t>Contract</a:t>
            </a:r>
            <a:endParaRPr lang="en-US" sz="1400" dirty="0"/>
          </a:p>
          <a:p>
            <a:pPr marL="0" indent="0">
              <a:buNone/>
            </a:pPr>
            <a:r>
              <a:rPr lang="en-US" sz="1400" dirty="0">
                <a:solidFill>
                  <a:schemeClr val="tx1"/>
                </a:solidFill>
              </a:rPr>
              <a:t>Month-to-month  </a:t>
            </a:r>
            <a:r>
              <a:rPr lang="en-US" sz="1400" b="1" dirty="0">
                <a:solidFill>
                  <a:schemeClr val="accent1"/>
                </a:solidFill>
              </a:rPr>
              <a:t>42.7%</a:t>
            </a:r>
            <a:endParaRPr lang="en-US" sz="1400" dirty="0"/>
          </a:p>
        </p:txBody>
      </p:sp>
      <p:sp>
        <p:nvSpPr>
          <p:cNvPr id="16" name="Number badge 149"/>
          <p:cNvSpPr/>
          <p:nvPr/>
        </p:nvSpPr>
        <p:spPr>
          <a:xfrm>
            <a:off x="8046720" y="3593592"/>
            <a:ext cx="384048" cy="384048"/>
          </a:xfrm>
          <a:prstGeom prst="ellipse">
            <a:avLst/>
          </a:prstGeom>
          <a:solidFill>
            <a:schemeClr val="accent2"/>
          </a:solidFill>
          <a:ln w="12700">
            <a:solidFill>
              <a:schemeClr val="accent2"/>
            </a:solidFill>
            <a:prstDash val="solid"/>
          </a:ln>
        </p:spPr>
      </p:sp>
      <p:sp>
        <p:nvSpPr>
          <p:cNvPr id="17" name="Number 150"/>
          <p:cNvSpPr txBox="1"/>
          <p:nvPr/>
        </p:nvSpPr>
        <p:spPr>
          <a:xfrm>
            <a:off x="8046720" y="3593592"/>
            <a:ext cx="384048" cy="384048"/>
          </a:xfrm>
          <a:prstGeom prst="rect">
            <a:avLst/>
          </a:prstGeom>
          <a:noFill/>
          <a:ln/>
        </p:spPr>
        <p:txBody>
          <a:bodyPr wrap="square" lIns="0" tIns="0" rIns="0" bIns="0" rtlCol="0" anchor="ctr"/>
          <a:lstStyle/>
          <a:p>
            <a:pPr marL="0" indent="0" algn="ctr">
              <a:buNone/>
            </a:pPr>
            <a:r>
              <a:rPr lang="en-US" sz="1500" b="1" dirty="0">
                <a:solidFill>
                  <a:schemeClr val="tx2"/>
                </a:solidFill>
              </a:rPr>
              <a:t>2</a:t>
            </a:r>
            <a:endParaRPr lang="en-US" sz="1500" dirty="0"/>
          </a:p>
        </p:txBody>
      </p:sp>
      <p:sp>
        <p:nvSpPr>
          <p:cNvPr id="18" name="Query result 151"/>
          <p:cNvSpPr txBox="1"/>
          <p:nvPr/>
        </p:nvSpPr>
        <p:spPr>
          <a:xfrm>
            <a:off x="8595360" y="3520440"/>
            <a:ext cx="2926080" cy="548640"/>
          </a:xfrm>
          <a:prstGeom prst="rect">
            <a:avLst/>
          </a:prstGeom>
          <a:noFill/>
          <a:ln/>
        </p:spPr>
        <p:txBody>
          <a:bodyPr wrap="square" lIns="0" tIns="0" rIns="0" bIns="0" rtlCol="0" anchor="ctr"/>
          <a:lstStyle/>
          <a:p>
            <a:pPr marL="0" indent="0">
              <a:buNone/>
            </a:pPr>
            <a:r>
              <a:rPr lang="en-US" sz="1400" b="1" dirty="0">
                <a:solidFill>
                  <a:schemeClr val="tx2"/>
                </a:solidFill>
              </a:rPr>
              <a:t>Internet service</a:t>
            </a:r>
            <a:endParaRPr lang="en-US" sz="1400" dirty="0"/>
          </a:p>
          <a:p>
            <a:pPr marL="0" indent="0">
              <a:buNone/>
            </a:pPr>
            <a:r>
              <a:rPr lang="en-US" sz="1400" dirty="0">
                <a:solidFill>
                  <a:schemeClr val="tx1"/>
                </a:solidFill>
              </a:rPr>
              <a:t>Fiber optic  </a:t>
            </a:r>
            <a:r>
              <a:rPr lang="en-US" sz="1400" b="1" dirty="0">
                <a:solidFill>
                  <a:schemeClr val="accent1"/>
                </a:solidFill>
              </a:rPr>
              <a:t>41.9%</a:t>
            </a:r>
            <a:endParaRPr lang="en-US" sz="1400" dirty="0"/>
          </a:p>
        </p:txBody>
      </p:sp>
      <p:sp>
        <p:nvSpPr>
          <p:cNvPr id="19" name="Number badge 152"/>
          <p:cNvSpPr/>
          <p:nvPr/>
        </p:nvSpPr>
        <p:spPr>
          <a:xfrm>
            <a:off x="8046720" y="4233672"/>
            <a:ext cx="384048" cy="384048"/>
          </a:xfrm>
          <a:prstGeom prst="ellipse">
            <a:avLst/>
          </a:prstGeom>
          <a:solidFill>
            <a:schemeClr val="accent2"/>
          </a:solidFill>
          <a:ln w="12700">
            <a:solidFill>
              <a:schemeClr val="accent2"/>
            </a:solidFill>
            <a:prstDash val="solid"/>
          </a:ln>
        </p:spPr>
      </p:sp>
      <p:sp>
        <p:nvSpPr>
          <p:cNvPr id="20" name="Number 153"/>
          <p:cNvSpPr txBox="1"/>
          <p:nvPr/>
        </p:nvSpPr>
        <p:spPr>
          <a:xfrm>
            <a:off x="8046720" y="4233672"/>
            <a:ext cx="384048" cy="384048"/>
          </a:xfrm>
          <a:prstGeom prst="rect">
            <a:avLst/>
          </a:prstGeom>
          <a:noFill/>
          <a:ln/>
        </p:spPr>
        <p:txBody>
          <a:bodyPr wrap="square" lIns="0" tIns="0" rIns="0" bIns="0" rtlCol="0" anchor="ctr"/>
          <a:lstStyle/>
          <a:p>
            <a:pPr marL="0" indent="0" algn="ctr">
              <a:buNone/>
            </a:pPr>
            <a:r>
              <a:rPr lang="en-US" sz="1500" b="1" dirty="0">
                <a:solidFill>
                  <a:schemeClr val="tx2"/>
                </a:solidFill>
              </a:rPr>
              <a:t>3</a:t>
            </a:r>
            <a:endParaRPr lang="en-US" sz="1500" dirty="0"/>
          </a:p>
        </p:txBody>
      </p:sp>
      <p:sp>
        <p:nvSpPr>
          <p:cNvPr id="21" name="Query result 154"/>
          <p:cNvSpPr txBox="1"/>
          <p:nvPr/>
        </p:nvSpPr>
        <p:spPr>
          <a:xfrm>
            <a:off x="8595360" y="4160520"/>
            <a:ext cx="2926080" cy="548640"/>
          </a:xfrm>
          <a:prstGeom prst="rect">
            <a:avLst/>
          </a:prstGeom>
          <a:noFill/>
          <a:ln/>
        </p:spPr>
        <p:txBody>
          <a:bodyPr wrap="square" lIns="0" tIns="0" rIns="0" bIns="0" rtlCol="0" anchor="ctr"/>
          <a:lstStyle/>
          <a:p>
            <a:pPr marL="0" indent="0">
              <a:buNone/>
            </a:pPr>
            <a:r>
              <a:rPr lang="en-US" sz="1400" b="1" dirty="0">
                <a:solidFill>
                  <a:schemeClr val="tx2"/>
                </a:solidFill>
              </a:rPr>
              <a:t>Payment method</a:t>
            </a:r>
            <a:endParaRPr lang="en-US" sz="1400" dirty="0"/>
          </a:p>
          <a:p>
            <a:pPr marL="0" indent="0">
              <a:buNone/>
            </a:pPr>
            <a:r>
              <a:rPr lang="en-US" sz="1400" dirty="0">
                <a:solidFill>
                  <a:schemeClr val="tx1"/>
                </a:solidFill>
              </a:rPr>
              <a:t>Electronic check  </a:t>
            </a:r>
            <a:r>
              <a:rPr lang="en-US" sz="1400" b="1" dirty="0">
                <a:solidFill>
                  <a:schemeClr val="accent1"/>
                </a:solidFill>
              </a:rPr>
              <a:t>45.3%</a:t>
            </a:r>
            <a:endParaRPr lang="en-US" sz="1400" dirty="0"/>
          </a:p>
        </p:txBody>
      </p:sp>
      <p:sp>
        <p:nvSpPr>
          <p:cNvPr id="22" name="Number badge 155"/>
          <p:cNvSpPr/>
          <p:nvPr/>
        </p:nvSpPr>
        <p:spPr>
          <a:xfrm>
            <a:off x="8046720" y="4873752"/>
            <a:ext cx="384048" cy="384048"/>
          </a:xfrm>
          <a:prstGeom prst="ellipse">
            <a:avLst/>
          </a:prstGeom>
          <a:solidFill>
            <a:schemeClr val="accent2"/>
          </a:solidFill>
          <a:ln w="12700">
            <a:solidFill>
              <a:schemeClr val="accent2"/>
            </a:solidFill>
            <a:prstDash val="solid"/>
          </a:ln>
        </p:spPr>
      </p:sp>
      <p:sp>
        <p:nvSpPr>
          <p:cNvPr id="23" name="Number 156"/>
          <p:cNvSpPr txBox="1"/>
          <p:nvPr/>
        </p:nvSpPr>
        <p:spPr>
          <a:xfrm>
            <a:off x="8046720" y="4873752"/>
            <a:ext cx="384048" cy="384048"/>
          </a:xfrm>
          <a:prstGeom prst="rect">
            <a:avLst/>
          </a:prstGeom>
          <a:noFill/>
          <a:ln/>
        </p:spPr>
        <p:txBody>
          <a:bodyPr wrap="square" lIns="0" tIns="0" rIns="0" bIns="0" rtlCol="0" anchor="ctr"/>
          <a:lstStyle/>
          <a:p>
            <a:pPr marL="0" indent="0" algn="ctr">
              <a:buNone/>
            </a:pPr>
            <a:r>
              <a:rPr lang="en-US" sz="1500" b="1" dirty="0">
                <a:solidFill>
                  <a:schemeClr val="tx2"/>
                </a:solidFill>
              </a:rPr>
              <a:t>4</a:t>
            </a:r>
            <a:endParaRPr lang="en-US" sz="1500" dirty="0"/>
          </a:p>
        </p:txBody>
      </p:sp>
      <p:sp>
        <p:nvSpPr>
          <p:cNvPr id="24" name="Query result 157"/>
          <p:cNvSpPr txBox="1"/>
          <p:nvPr/>
        </p:nvSpPr>
        <p:spPr>
          <a:xfrm>
            <a:off x="8595360" y="4800600"/>
            <a:ext cx="2926080" cy="548640"/>
          </a:xfrm>
          <a:prstGeom prst="rect">
            <a:avLst/>
          </a:prstGeom>
          <a:noFill/>
          <a:ln/>
        </p:spPr>
        <p:txBody>
          <a:bodyPr wrap="square" lIns="0" tIns="0" rIns="0" bIns="0" rtlCol="0" anchor="ctr"/>
          <a:lstStyle/>
          <a:p>
            <a:pPr marL="0" indent="0">
              <a:buNone/>
            </a:pPr>
            <a:r>
              <a:rPr lang="en-US" sz="1400" b="1" dirty="0">
                <a:solidFill>
                  <a:schemeClr val="tx2"/>
                </a:solidFill>
              </a:rPr>
              <a:t>Tenure group (CASE)</a:t>
            </a:r>
            <a:endParaRPr lang="en-US" sz="1400" dirty="0"/>
          </a:p>
          <a:p>
            <a:pPr marL="0" indent="0">
              <a:buNone/>
            </a:pPr>
            <a:r>
              <a:rPr lang="en-US" sz="1400" dirty="0">
                <a:solidFill>
                  <a:schemeClr val="tx1"/>
                </a:solidFill>
              </a:rPr>
              <a:t>0-12 months  </a:t>
            </a:r>
            <a:r>
              <a:rPr lang="en-US" sz="1400" b="1" dirty="0">
                <a:solidFill>
                  <a:schemeClr val="accent1"/>
                </a:solidFill>
              </a:rPr>
              <a:t>47.4%</a:t>
            </a:r>
            <a:endParaRPr lang="en-US" sz="1400" dirty="0"/>
          </a:p>
        </p:txBody>
      </p:sp>
      <p:sp>
        <p:nvSpPr>
          <p:cNvPr id="25" name="Number badge 158"/>
          <p:cNvSpPr/>
          <p:nvPr/>
        </p:nvSpPr>
        <p:spPr>
          <a:xfrm>
            <a:off x="8046720" y="5513832"/>
            <a:ext cx="384048" cy="384048"/>
          </a:xfrm>
          <a:prstGeom prst="ellipse">
            <a:avLst/>
          </a:prstGeom>
          <a:solidFill>
            <a:schemeClr val="accent2"/>
          </a:solidFill>
          <a:ln w="12700">
            <a:solidFill>
              <a:schemeClr val="accent2"/>
            </a:solidFill>
            <a:prstDash val="solid"/>
          </a:ln>
        </p:spPr>
      </p:sp>
      <p:sp>
        <p:nvSpPr>
          <p:cNvPr id="26" name="Number 159"/>
          <p:cNvSpPr txBox="1"/>
          <p:nvPr/>
        </p:nvSpPr>
        <p:spPr>
          <a:xfrm>
            <a:off x="8046720" y="5513832"/>
            <a:ext cx="384048" cy="384048"/>
          </a:xfrm>
          <a:prstGeom prst="rect">
            <a:avLst/>
          </a:prstGeom>
          <a:noFill/>
          <a:ln/>
        </p:spPr>
        <p:txBody>
          <a:bodyPr wrap="square" lIns="0" tIns="0" rIns="0" bIns="0" rtlCol="0" anchor="ctr"/>
          <a:lstStyle/>
          <a:p>
            <a:pPr marL="0" indent="0" algn="ctr">
              <a:buNone/>
            </a:pPr>
            <a:r>
              <a:rPr lang="en-US" sz="1500" b="1" dirty="0">
                <a:solidFill>
                  <a:schemeClr val="tx2"/>
                </a:solidFill>
              </a:rPr>
              <a:t>5</a:t>
            </a:r>
            <a:endParaRPr lang="en-US" sz="1500" dirty="0"/>
          </a:p>
        </p:txBody>
      </p:sp>
      <p:sp>
        <p:nvSpPr>
          <p:cNvPr id="27" name="Query result 160"/>
          <p:cNvSpPr txBox="1"/>
          <p:nvPr/>
        </p:nvSpPr>
        <p:spPr>
          <a:xfrm>
            <a:off x="8595360" y="5440680"/>
            <a:ext cx="2926080" cy="548640"/>
          </a:xfrm>
          <a:prstGeom prst="rect">
            <a:avLst/>
          </a:prstGeom>
          <a:noFill/>
          <a:ln/>
        </p:spPr>
        <p:txBody>
          <a:bodyPr wrap="square" lIns="0" tIns="0" rIns="0" bIns="0" rtlCol="0" anchor="ctr"/>
          <a:lstStyle/>
          <a:p>
            <a:pPr marL="0" indent="0">
              <a:buNone/>
            </a:pPr>
            <a:r>
              <a:rPr lang="en-US" sz="1400" b="1" dirty="0">
                <a:solidFill>
                  <a:schemeClr val="tx2"/>
                </a:solidFill>
              </a:rPr>
              <a:t>Tech support</a:t>
            </a:r>
            <a:endParaRPr lang="en-US" sz="1400" dirty="0"/>
          </a:p>
          <a:p>
            <a:pPr marL="0" indent="0">
              <a:buNone/>
            </a:pPr>
            <a:r>
              <a:rPr lang="en-US" sz="1400" dirty="0">
                <a:solidFill>
                  <a:schemeClr val="tx1"/>
                </a:solidFill>
              </a:rPr>
              <a:t>No tech support  </a:t>
            </a:r>
            <a:r>
              <a:rPr lang="en-US" sz="1400" b="1" dirty="0">
                <a:solidFill>
                  <a:schemeClr val="accent1"/>
                </a:solidFill>
              </a:rPr>
              <a:t>41.6%</a:t>
            </a:r>
            <a:endParaRPr lang="en-US" sz="1400" dirty="0"/>
          </a:p>
        </p:txBody>
      </p:sp>
      <p:sp>
        <p:nvSpPr>
          <p:cNvPr id="28"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79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685800"/>
          </a:xfrm>
          <a:prstGeom prst="rect">
            <a:avLst/>
          </a:prstGeom>
          <a:noFill/>
          <a:ln/>
        </p:spPr>
        <p:txBody>
          <a:bodyPr wrap="square" lIns="0" tIns="0" rIns="0" bIns="0" rtlCol="0" anchor="ctr"/>
          <a:lstStyle/>
          <a:p>
            <a:pPr marL="0" indent="0" algn="l">
              <a:buNone/>
            </a:pPr>
            <a:r>
              <a:rPr lang="en-US" sz="3400" b="1" dirty="0">
                <a:solidFill>
                  <a:schemeClr val="tx2"/>
                </a:solidFill>
              </a:rPr>
              <a:t>Python and PySpark: cleaning and cross-check</a:t>
            </a:r>
            <a:endParaRPr lang="en-US" sz="3400" dirty="0"/>
          </a:p>
        </p:txBody>
      </p:sp>
      <p:sp>
        <p:nvSpPr>
          <p:cNvPr id="3" name="Text 0"/>
          <p:cNvSpPr>
            <a:spLocks noGrp="1"/>
          </p:cNvSpPr>
          <p:nvPr>
            <p:ph type="body" idx="101" hasCustomPrompt="1"/>
          </p:nvPr>
        </p:nvSpPr>
        <p:spPr>
          <a:xfrm>
            <a:off x="548640" y="1051560"/>
            <a:ext cx="11091672" cy="365760"/>
          </a:xfrm>
          <a:prstGeom prst="rect">
            <a:avLst/>
          </a:prstGeom>
          <a:noFill/>
          <a:ln/>
        </p:spPr>
        <p:txBody>
          <a:bodyPr wrap="square" lIns="0" tIns="0" rIns="0" bIns="0" rtlCol="0" anchor="ctr"/>
          <a:lstStyle/>
          <a:p>
            <a:pPr marL="0" indent="0" algn="l">
              <a:buNone/>
            </a:pPr>
            <a:r>
              <a:rPr lang="en-US" sz="1600" dirty="0">
                <a:solidFill>
                  <a:schemeClr val="accent5"/>
                </a:solidFill>
              </a:rPr>
              <a:t>Notebook Bigdata_python_by_khush.ipynb repeats the contract analysis and matches the SQL</a:t>
            </a:r>
            <a:endParaRPr lang="en-US" sz="1600" dirty="0"/>
          </a:p>
        </p:txBody>
      </p:sp>
      <p:sp>
        <p:nvSpPr>
          <p:cNvPr id="4" name="Code card 161"/>
          <p:cNvSpPr/>
          <p:nvPr/>
        </p:nvSpPr>
        <p:spPr>
          <a:xfrm>
            <a:off x="548640" y="1691640"/>
            <a:ext cx="5362956" cy="2606040"/>
          </a:xfrm>
          <a:prstGeom prst="roundRect">
            <a:avLst>
              <a:gd name="adj" fmla="val 4912"/>
            </a:avLst>
          </a:prstGeom>
          <a:solidFill>
            <a:schemeClr val="tx1"/>
          </a:solidFill>
          <a:ln w="12700">
            <a:solidFill>
              <a:schemeClr val="tx1"/>
            </a:solidFill>
            <a:prstDash val="solid"/>
          </a:ln>
          <a:effectLst>
            <a:outerShdw blurRad="127000" dist="38100" dir="5400000" algn="bl" rotWithShape="0">
              <a:srgbClr val="0B1530">
                <a:alpha val="12000"/>
              </a:srgbClr>
            </a:outerShdw>
          </a:effectLst>
        </p:spPr>
      </p:sp>
      <p:sp>
        <p:nvSpPr>
          <p:cNvPr id="5" name="Window dot 162"/>
          <p:cNvSpPr/>
          <p:nvPr/>
        </p:nvSpPr>
        <p:spPr>
          <a:xfrm>
            <a:off x="777240" y="1874520"/>
            <a:ext cx="118872" cy="118872"/>
          </a:xfrm>
          <a:prstGeom prst="ellipse">
            <a:avLst/>
          </a:prstGeom>
          <a:solidFill>
            <a:schemeClr val="accent1"/>
          </a:solidFill>
          <a:ln w="12700">
            <a:solidFill>
              <a:schemeClr val="accent1"/>
            </a:solidFill>
            <a:prstDash val="solid"/>
          </a:ln>
        </p:spPr>
      </p:sp>
      <p:sp>
        <p:nvSpPr>
          <p:cNvPr id="6" name="Window dot 163"/>
          <p:cNvSpPr/>
          <p:nvPr/>
        </p:nvSpPr>
        <p:spPr>
          <a:xfrm>
            <a:off x="978408" y="1874520"/>
            <a:ext cx="118872" cy="118872"/>
          </a:xfrm>
          <a:prstGeom prst="ellipse">
            <a:avLst/>
          </a:prstGeom>
          <a:solidFill>
            <a:schemeClr val="accent3"/>
          </a:solidFill>
          <a:ln w="12700">
            <a:solidFill>
              <a:schemeClr val="accent3"/>
            </a:solidFill>
            <a:prstDash val="solid"/>
          </a:ln>
        </p:spPr>
      </p:sp>
      <p:sp>
        <p:nvSpPr>
          <p:cNvPr id="7" name="Window dot 164"/>
          <p:cNvSpPr/>
          <p:nvPr/>
        </p:nvSpPr>
        <p:spPr>
          <a:xfrm>
            <a:off x="1179576" y="1874520"/>
            <a:ext cx="118872" cy="118872"/>
          </a:xfrm>
          <a:prstGeom prst="ellipse">
            <a:avLst/>
          </a:prstGeom>
          <a:solidFill>
            <a:schemeClr val="accent2"/>
          </a:solidFill>
          <a:ln w="12700">
            <a:solidFill>
              <a:schemeClr val="accent2"/>
            </a:solidFill>
            <a:prstDash val="solid"/>
          </a:ln>
        </p:spPr>
      </p:sp>
      <p:sp>
        <p:nvSpPr>
          <p:cNvPr id="8" name="Code file name 165"/>
          <p:cNvSpPr txBox="1"/>
          <p:nvPr/>
        </p:nvSpPr>
        <p:spPr>
          <a:xfrm>
            <a:off x="1508760" y="1819656"/>
            <a:ext cx="4174236" cy="228600"/>
          </a:xfrm>
          <a:prstGeom prst="rect">
            <a:avLst/>
          </a:prstGeom>
          <a:noFill/>
          <a:ln/>
        </p:spPr>
        <p:txBody>
          <a:bodyPr wrap="square" lIns="0" tIns="0" rIns="0" bIns="0" rtlCol="0" anchor="ctr"/>
          <a:lstStyle/>
          <a:p>
            <a:pPr marL="0" indent="0">
              <a:buNone/>
            </a:pPr>
            <a:r>
              <a:rPr lang="en-US" sz="1100" dirty="0">
                <a:solidFill>
                  <a:schemeClr val="accent6"/>
                </a:solidFill>
              </a:rPr>
              <a:t>pandas: clean TotalCharges</a:t>
            </a:r>
            <a:endParaRPr lang="en-US" sz="1100" dirty="0"/>
          </a:p>
        </p:txBody>
      </p:sp>
      <p:sp>
        <p:nvSpPr>
          <p:cNvPr id="9" name="Code 166"/>
          <p:cNvSpPr txBox="1"/>
          <p:nvPr/>
        </p:nvSpPr>
        <p:spPr>
          <a:xfrm>
            <a:off x="822960" y="2194560"/>
            <a:ext cx="4905756" cy="1965960"/>
          </a:xfrm>
          <a:prstGeom prst="rect">
            <a:avLst/>
          </a:prstGeom>
          <a:noFill/>
          <a:ln/>
        </p:spPr>
        <p:txBody>
          <a:bodyPr wrap="square" lIns="0" tIns="0" rIns="0" bIns="0" rtlCol="0" anchor="t"/>
          <a:lstStyle/>
          <a:p>
            <a:pPr marL="0" indent="0">
              <a:buNone/>
            </a:pPr>
            <a:r>
              <a:rPr lang="en-US" sz="1100" dirty="0">
                <a:solidFill>
                  <a:schemeClr val="bg2"/>
                </a:solidFill>
                <a:latin typeface="Courier New" pitchFamily="34" charset="0"/>
                <a:ea typeface="Courier New" pitchFamily="34" charset="-122"/>
                <a:cs typeface="Courier New" pitchFamily="34" charset="-120"/>
              </a:rPr>
              <a:t>df = pd.read_csv(</a:t>
            </a:r>
            <a:r>
              <a:rPr lang="en-US" sz="1100" dirty="0">
                <a:solidFill>
                  <a:schemeClr val="accent1"/>
                </a:solidFill>
                <a:latin typeface="Courier New" pitchFamily="34" charset="0"/>
                <a:ea typeface="Courier New" pitchFamily="34" charset="-122"/>
                <a:cs typeface="Courier New" pitchFamily="34" charset="-120"/>
              </a:rPr>
              <a:t>"telco.csv"</a:t>
            </a:r>
            <a:r>
              <a:rPr lang="en-US" sz="1100" dirty="0">
                <a:solidFill>
                  <a:schemeClr val="bg2"/>
                </a:solidFill>
                <a:latin typeface="Courier New" pitchFamily="34" charset="0"/>
                <a:ea typeface="Courier New" pitchFamily="34" charset="-122"/>
                <a:cs typeface="Courier New" pitchFamily="34" charset="-120"/>
              </a:rPr>
              <a:t>)</a:t>
            </a:r>
            <a:endParaRPr lang="en-US" sz="1400" dirty="0"/>
          </a:p>
          <a:p>
            <a:pPr marL="0" indent="0">
              <a:buNone/>
            </a:pPr>
            <a:r>
              <a:rPr lang="en-US" sz="1100" dirty="0">
                <a:solidFill>
                  <a:schemeClr val="tx1"/>
                </a:solidFill>
                <a:latin typeface="Courier New" pitchFamily="34" charset="0"/>
                <a:ea typeface="Courier New" pitchFamily="34" charset="-122"/>
                <a:cs typeface="Courier New" pitchFamily="34" charset="-120"/>
              </a:rPr>
              <a:t> </a:t>
            </a:r>
            <a:endParaRPr lang="en-US" sz="1400" dirty="0"/>
          </a:p>
          <a:p>
            <a:pPr marL="0" indent="0">
              <a:buNone/>
            </a:pPr>
            <a:r>
              <a:rPr lang="en-US" sz="1100" i="1" dirty="0">
                <a:solidFill>
                  <a:schemeClr val="accent5"/>
                </a:solidFill>
                <a:latin typeface="Courier New" pitchFamily="34" charset="0"/>
                <a:ea typeface="Courier New" pitchFamily="34" charset="-122"/>
                <a:cs typeface="Courier New" pitchFamily="34" charset="-120"/>
              </a:rPr>
              <a:t># Clean TotalCharges</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df[</a:t>
            </a:r>
            <a:r>
              <a:rPr lang="en-US" sz="1100" dirty="0">
                <a:solidFill>
                  <a:schemeClr val="accent1"/>
                </a:solidFill>
                <a:latin typeface="Courier New" pitchFamily="34" charset="0"/>
                <a:ea typeface="Courier New" pitchFamily="34" charset="-122"/>
                <a:cs typeface="Courier New" pitchFamily="34" charset="-120"/>
              </a:rPr>
              <a:t>"TotalCharges"</a:t>
            </a:r>
            <a:r>
              <a:rPr lang="en-US" sz="1100" dirty="0">
                <a:solidFill>
                  <a:schemeClr val="bg2"/>
                </a:solidFill>
                <a:latin typeface="Courier New" pitchFamily="34" charset="0"/>
                <a:ea typeface="Courier New" pitchFamily="34" charset="-122"/>
                <a:cs typeface="Courier New" pitchFamily="34" charset="-120"/>
              </a:rPr>
              <a:t>] = pd.to_numeric(</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df[</a:t>
            </a:r>
            <a:r>
              <a:rPr lang="en-US" sz="1100" dirty="0">
                <a:solidFill>
                  <a:schemeClr val="accent1"/>
                </a:solidFill>
                <a:latin typeface="Courier New" pitchFamily="34" charset="0"/>
                <a:ea typeface="Courier New" pitchFamily="34" charset="-122"/>
                <a:cs typeface="Courier New" pitchFamily="34" charset="-120"/>
              </a:rPr>
              <a:t>"TotalCharges"</a:t>
            </a:r>
            <a:r>
              <a:rPr lang="en-US" sz="1100" dirty="0">
                <a:solidFill>
                  <a:schemeClr val="bg2"/>
                </a:solidFill>
                <a:latin typeface="Courier New" pitchFamily="34" charset="0"/>
                <a:ea typeface="Courier New" pitchFamily="34" charset="-122"/>
                <a:cs typeface="Courier New" pitchFamily="34" charset="-120"/>
              </a:rPr>
              <a:t>], errors=</a:t>
            </a:r>
            <a:r>
              <a:rPr lang="en-US" sz="1100" dirty="0">
                <a:solidFill>
                  <a:schemeClr val="accent1"/>
                </a:solidFill>
                <a:latin typeface="Courier New" pitchFamily="34" charset="0"/>
                <a:ea typeface="Courier New" pitchFamily="34" charset="-122"/>
                <a:cs typeface="Courier New" pitchFamily="34" charset="-120"/>
              </a:rPr>
              <a:t>"coerce"</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a:t>
            </a:r>
            <a:endParaRPr lang="en-US" sz="1400" dirty="0"/>
          </a:p>
          <a:p>
            <a:pPr marL="0" indent="0">
              <a:buNone/>
            </a:pPr>
            <a:r>
              <a:rPr lang="en-US" sz="1100" dirty="0">
                <a:solidFill>
                  <a:schemeClr val="tx1"/>
                </a:solidFill>
                <a:latin typeface="Courier New" pitchFamily="34" charset="0"/>
                <a:ea typeface="Courier New" pitchFamily="34" charset="-122"/>
                <a:cs typeface="Courier New" pitchFamily="34" charset="-120"/>
              </a:rPr>
              <a:t> </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df_clean = df.dropna(subset=[</a:t>
            </a:r>
            <a:r>
              <a:rPr lang="en-US" sz="1100" dirty="0">
                <a:solidFill>
                  <a:schemeClr val="accent1"/>
                </a:solidFill>
                <a:latin typeface="Courier New" pitchFamily="34" charset="0"/>
                <a:ea typeface="Courier New" pitchFamily="34" charset="-122"/>
                <a:cs typeface="Courier New" pitchFamily="34" charset="-120"/>
              </a:rPr>
              <a:t>"TotalCharges"</a:t>
            </a:r>
            <a:r>
              <a:rPr lang="en-US" sz="1100" dirty="0">
                <a:solidFill>
                  <a:schemeClr val="bg2"/>
                </a:solidFill>
                <a:latin typeface="Courier New" pitchFamily="34" charset="0"/>
                <a:ea typeface="Courier New" pitchFamily="34" charset="-122"/>
                <a:cs typeface="Courier New" pitchFamily="34" charset="-120"/>
              </a:rPr>
              <a:t>]).copy()</a:t>
            </a:r>
            <a:endParaRPr lang="en-US" sz="1400" dirty="0"/>
          </a:p>
        </p:txBody>
      </p:sp>
      <p:sp>
        <p:nvSpPr>
          <p:cNvPr id="10" name="Code caption 167"/>
          <p:cNvSpPr txBox="1"/>
          <p:nvPr/>
        </p:nvSpPr>
        <p:spPr>
          <a:xfrm>
            <a:off x="822960" y="3767328"/>
            <a:ext cx="4814316" cy="411480"/>
          </a:xfrm>
          <a:prstGeom prst="rect">
            <a:avLst/>
          </a:prstGeom>
          <a:noFill/>
          <a:ln/>
        </p:spPr>
        <p:txBody>
          <a:bodyPr wrap="square" lIns="0" tIns="0" rIns="0" bIns="0" rtlCol="0" anchor="t"/>
          <a:lstStyle/>
          <a:p>
            <a:pPr marL="0" indent="0">
              <a:buNone/>
            </a:pPr>
            <a:r>
              <a:rPr lang="en-US" sz="1200" dirty="0">
                <a:solidFill>
                  <a:schemeClr val="accent6"/>
                </a:solidFill>
              </a:rPr>
              <a:t>11 blank TotalCharges rows are dropped for charge analysis only (7,043 to 7,032). Churn analysis keeps all 7,043.</a:t>
            </a:r>
            <a:endParaRPr lang="en-US" sz="1200" dirty="0"/>
          </a:p>
        </p:txBody>
      </p:sp>
      <p:sp>
        <p:nvSpPr>
          <p:cNvPr id="11" name="Code card 168"/>
          <p:cNvSpPr/>
          <p:nvPr/>
        </p:nvSpPr>
        <p:spPr>
          <a:xfrm>
            <a:off x="6277356" y="1691640"/>
            <a:ext cx="5362956" cy="4434840"/>
          </a:xfrm>
          <a:prstGeom prst="roundRect">
            <a:avLst>
              <a:gd name="adj" fmla="val 2887"/>
            </a:avLst>
          </a:prstGeom>
          <a:solidFill>
            <a:schemeClr val="tx1"/>
          </a:solidFill>
          <a:ln w="12700">
            <a:solidFill>
              <a:schemeClr val="tx1"/>
            </a:solidFill>
            <a:prstDash val="solid"/>
          </a:ln>
          <a:effectLst>
            <a:outerShdw blurRad="127000" dist="38100" dir="5400000" algn="bl" rotWithShape="0">
              <a:srgbClr val="0B1530">
                <a:alpha val="12000"/>
              </a:srgbClr>
            </a:outerShdw>
          </a:effectLst>
        </p:spPr>
      </p:sp>
      <p:sp>
        <p:nvSpPr>
          <p:cNvPr id="12" name="Window dot 169"/>
          <p:cNvSpPr/>
          <p:nvPr/>
        </p:nvSpPr>
        <p:spPr>
          <a:xfrm>
            <a:off x="6505956" y="1874520"/>
            <a:ext cx="118872" cy="118872"/>
          </a:xfrm>
          <a:prstGeom prst="ellipse">
            <a:avLst/>
          </a:prstGeom>
          <a:solidFill>
            <a:schemeClr val="accent1"/>
          </a:solidFill>
          <a:ln w="12700">
            <a:solidFill>
              <a:schemeClr val="accent1"/>
            </a:solidFill>
            <a:prstDash val="solid"/>
          </a:ln>
        </p:spPr>
      </p:sp>
      <p:sp>
        <p:nvSpPr>
          <p:cNvPr id="13" name="Window dot 170"/>
          <p:cNvSpPr/>
          <p:nvPr/>
        </p:nvSpPr>
        <p:spPr>
          <a:xfrm>
            <a:off x="6707124" y="1874520"/>
            <a:ext cx="118872" cy="118872"/>
          </a:xfrm>
          <a:prstGeom prst="ellipse">
            <a:avLst/>
          </a:prstGeom>
          <a:solidFill>
            <a:schemeClr val="accent3"/>
          </a:solidFill>
          <a:ln w="12700">
            <a:solidFill>
              <a:schemeClr val="accent3"/>
            </a:solidFill>
            <a:prstDash val="solid"/>
          </a:ln>
        </p:spPr>
      </p:sp>
      <p:sp>
        <p:nvSpPr>
          <p:cNvPr id="14" name="Window dot 171"/>
          <p:cNvSpPr/>
          <p:nvPr/>
        </p:nvSpPr>
        <p:spPr>
          <a:xfrm>
            <a:off x="6908292" y="1874520"/>
            <a:ext cx="118872" cy="118872"/>
          </a:xfrm>
          <a:prstGeom prst="ellipse">
            <a:avLst/>
          </a:prstGeom>
          <a:solidFill>
            <a:schemeClr val="accent2"/>
          </a:solidFill>
          <a:ln w="12700">
            <a:solidFill>
              <a:schemeClr val="accent2"/>
            </a:solidFill>
            <a:prstDash val="solid"/>
          </a:ln>
        </p:spPr>
      </p:sp>
      <p:sp>
        <p:nvSpPr>
          <p:cNvPr id="15" name="Code file name 172"/>
          <p:cNvSpPr txBox="1"/>
          <p:nvPr/>
        </p:nvSpPr>
        <p:spPr>
          <a:xfrm>
            <a:off x="7237476" y="1819656"/>
            <a:ext cx="4174236" cy="228600"/>
          </a:xfrm>
          <a:prstGeom prst="rect">
            <a:avLst/>
          </a:prstGeom>
          <a:noFill/>
          <a:ln/>
        </p:spPr>
        <p:txBody>
          <a:bodyPr wrap="square" lIns="0" tIns="0" rIns="0" bIns="0" rtlCol="0" anchor="ctr"/>
          <a:lstStyle/>
          <a:p>
            <a:pPr marL="0" indent="0">
              <a:buNone/>
            </a:pPr>
            <a:r>
              <a:rPr lang="en-US" sz="1100" dirty="0">
                <a:solidFill>
                  <a:schemeClr val="accent6"/>
                </a:solidFill>
              </a:rPr>
              <a:t>PySpark: churn rate by contract</a:t>
            </a:r>
            <a:endParaRPr lang="en-US" sz="1100" dirty="0"/>
          </a:p>
        </p:txBody>
      </p:sp>
      <p:sp>
        <p:nvSpPr>
          <p:cNvPr id="16" name="Code 173"/>
          <p:cNvSpPr txBox="1"/>
          <p:nvPr/>
        </p:nvSpPr>
        <p:spPr>
          <a:xfrm>
            <a:off x="6551676" y="2194560"/>
            <a:ext cx="4905756" cy="3794760"/>
          </a:xfrm>
          <a:prstGeom prst="rect">
            <a:avLst/>
          </a:prstGeom>
          <a:noFill/>
          <a:ln/>
        </p:spPr>
        <p:txBody>
          <a:bodyPr wrap="square" lIns="0" tIns="0" rIns="0" bIns="0" rtlCol="0" anchor="t"/>
          <a:lstStyle/>
          <a:p>
            <a:pPr marL="0" indent="0">
              <a:buNone/>
            </a:pPr>
            <a:r>
              <a:rPr lang="en-US" sz="1100" dirty="0">
                <a:solidFill>
                  <a:schemeClr val="bg2"/>
                </a:solidFill>
                <a:latin typeface="Courier New" pitchFamily="34" charset="0"/>
                <a:ea typeface="Courier New" pitchFamily="34" charset="-122"/>
                <a:cs typeface="Courier New" pitchFamily="34" charset="-120"/>
              </a:rPr>
              <a:t>contract_churn = (</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spark_df</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.groupBy(</a:t>
            </a:r>
            <a:r>
              <a:rPr lang="en-US" sz="1100" dirty="0">
                <a:solidFill>
                  <a:schemeClr val="accent1"/>
                </a:solidFill>
                <a:latin typeface="Courier New" pitchFamily="34" charset="0"/>
                <a:ea typeface="Courier New" pitchFamily="34" charset="-122"/>
                <a:cs typeface="Courier New" pitchFamily="34" charset="-120"/>
              </a:rPr>
              <a:t>"Contract"</a:t>
            </a:r>
            <a:r>
              <a:rPr lang="en-US" sz="1100" dirty="0">
                <a:solidFill>
                  <a:schemeClr val="bg2"/>
                </a:solidFill>
                <a:latin typeface="Courier New" pitchFamily="34" charset="0"/>
                <a:ea typeface="Courier New" pitchFamily="34" charset="-122"/>
                <a:cs typeface="Courier New" pitchFamily="34" charset="-120"/>
              </a:rPr>
              <a:t>)</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.agg(</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F.count(</a:t>
            </a:r>
            <a:r>
              <a:rPr lang="en-US" sz="1100" dirty="0">
                <a:solidFill>
                  <a:schemeClr val="accent1"/>
                </a:solidFill>
                <a:latin typeface="Courier New" pitchFamily="34" charset="0"/>
                <a:ea typeface="Courier New" pitchFamily="34" charset="-122"/>
                <a:cs typeface="Courier New" pitchFamily="34" charset="-120"/>
              </a:rPr>
              <a:t>"*"</a:t>
            </a:r>
            <a:r>
              <a:rPr lang="en-US" sz="1100" dirty="0">
                <a:solidFill>
                  <a:schemeClr val="bg2"/>
                </a:solidFill>
                <a:latin typeface="Courier New" pitchFamily="34" charset="0"/>
                <a:ea typeface="Courier New" pitchFamily="34" charset="-122"/>
                <a:cs typeface="Courier New" pitchFamily="34" charset="-120"/>
              </a:rPr>
              <a:t>).alias(</a:t>
            </a:r>
            <a:r>
              <a:rPr lang="en-US" sz="1100" dirty="0">
                <a:solidFill>
                  <a:schemeClr val="accent1"/>
                </a:solidFill>
                <a:latin typeface="Courier New" pitchFamily="34" charset="0"/>
                <a:ea typeface="Courier New" pitchFamily="34" charset="-122"/>
                <a:cs typeface="Courier New" pitchFamily="34" charset="-120"/>
              </a:rPr>
              <a:t>"Total_Customers"</a:t>
            </a:r>
            <a:r>
              <a:rPr lang="en-US" sz="1100" dirty="0">
                <a:solidFill>
                  <a:schemeClr val="bg2"/>
                </a:solidFill>
                <a:latin typeface="Courier New" pitchFamily="34" charset="0"/>
                <a:ea typeface="Courier New" pitchFamily="34" charset="-122"/>
                <a:cs typeface="Courier New" pitchFamily="34" charset="-120"/>
              </a:rPr>
              <a:t>),</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F.sum(</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F.when(F.col(</a:t>
            </a:r>
            <a:r>
              <a:rPr lang="en-US" sz="1100" dirty="0">
                <a:solidFill>
                  <a:schemeClr val="accent1"/>
                </a:solidFill>
                <a:latin typeface="Courier New" pitchFamily="34" charset="0"/>
                <a:ea typeface="Courier New" pitchFamily="34" charset="-122"/>
                <a:cs typeface="Courier New" pitchFamily="34" charset="-120"/>
              </a:rPr>
              <a:t>"Churn"</a:t>
            </a:r>
            <a:r>
              <a:rPr lang="en-US" sz="1100" dirty="0">
                <a:solidFill>
                  <a:schemeClr val="bg2"/>
                </a:solidFill>
                <a:latin typeface="Courier New" pitchFamily="34" charset="0"/>
                <a:ea typeface="Courier New" pitchFamily="34" charset="-122"/>
                <a:cs typeface="Courier New" pitchFamily="34" charset="-120"/>
              </a:rPr>
              <a:t>) == </a:t>
            </a:r>
            <a:r>
              <a:rPr lang="en-US" sz="1100" dirty="0">
                <a:solidFill>
                  <a:schemeClr val="accent1"/>
                </a:solidFill>
                <a:latin typeface="Courier New" pitchFamily="34" charset="0"/>
                <a:ea typeface="Courier New" pitchFamily="34" charset="-122"/>
                <a:cs typeface="Courier New" pitchFamily="34" charset="-120"/>
              </a:rPr>
              <a:t>"Yes"</a:t>
            </a:r>
            <a:r>
              <a:rPr lang="en-US" sz="1100" dirty="0">
                <a:solidFill>
                  <a:schemeClr val="bg2"/>
                </a:solidFill>
                <a:latin typeface="Courier New" pitchFamily="34" charset="0"/>
                <a:ea typeface="Courier New" pitchFamily="34" charset="-122"/>
                <a:cs typeface="Courier New" pitchFamily="34" charset="-120"/>
              </a:rPr>
              <a:t>, </a:t>
            </a:r>
            <a:r>
              <a:rPr lang="en-US" sz="1100" dirty="0">
                <a:solidFill>
                  <a:schemeClr val="accent3"/>
                </a:solidFill>
                <a:latin typeface="Courier New" pitchFamily="34" charset="0"/>
                <a:ea typeface="Courier New" pitchFamily="34" charset="-122"/>
                <a:cs typeface="Courier New" pitchFamily="34" charset="-120"/>
              </a:rPr>
              <a:t>1</a:t>
            </a:r>
            <a:r>
              <a:rPr lang="en-US" sz="1100" dirty="0">
                <a:solidFill>
                  <a:schemeClr val="bg2"/>
                </a:solidFill>
                <a:latin typeface="Courier New" pitchFamily="34" charset="0"/>
                <a:ea typeface="Courier New" pitchFamily="34" charset="-122"/>
                <a:cs typeface="Courier New" pitchFamily="34" charset="-120"/>
              </a:rPr>
              <a:t>)</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.otherwise(</a:t>
            </a:r>
            <a:r>
              <a:rPr lang="en-US" sz="1100" dirty="0">
                <a:solidFill>
                  <a:schemeClr val="accent3"/>
                </a:solidFill>
                <a:latin typeface="Courier New" pitchFamily="34" charset="0"/>
                <a:ea typeface="Courier New" pitchFamily="34" charset="-122"/>
                <a:cs typeface="Courier New" pitchFamily="34" charset="-120"/>
              </a:rPr>
              <a:t>0</a:t>
            </a:r>
            <a:r>
              <a:rPr lang="en-US" sz="1100" dirty="0">
                <a:solidFill>
                  <a:schemeClr val="bg2"/>
                </a:solidFill>
                <a:latin typeface="Courier New" pitchFamily="34" charset="0"/>
                <a:ea typeface="Courier New" pitchFamily="34" charset="-122"/>
                <a:cs typeface="Courier New" pitchFamily="34" charset="-120"/>
              </a:rPr>
              <a:t>)</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).alias(</a:t>
            </a:r>
            <a:r>
              <a:rPr lang="en-US" sz="1100" dirty="0">
                <a:solidFill>
                  <a:schemeClr val="accent1"/>
                </a:solidFill>
                <a:latin typeface="Courier New" pitchFamily="34" charset="0"/>
                <a:ea typeface="Courier New" pitchFamily="34" charset="-122"/>
                <a:cs typeface="Courier New" pitchFamily="34" charset="-120"/>
              </a:rPr>
              <a:t>"Churned_Customers"</a:t>
            </a:r>
            <a:r>
              <a:rPr lang="en-US" sz="1100" dirty="0">
                <a:solidFill>
                  <a:schemeClr val="bg2"/>
                </a:solidFill>
                <a:latin typeface="Courier New" pitchFamily="34" charset="0"/>
                <a:ea typeface="Courier New" pitchFamily="34" charset="-122"/>
                <a:cs typeface="Courier New" pitchFamily="34" charset="-120"/>
              </a:rPr>
              <a:t>)</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.withColumn(</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t>
            </a:r>
            <a:r>
              <a:rPr lang="en-US" sz="1100" dirty="0">
                <a:solidFill>
                  <a:schemeClr val="accent1"/>
                </a:solidFill>
                <a:latin typeface="Courier New" pitchFamily="34" charset="0"/>
                <a:ea typeface="Courier New" pitchFamily="34" charset="-122"/>
                <a:cs typeface="Courier New" pitchFamily="34" charset="-120"/>
              </a:rPr>
              <a:t>"Churn_Rate_Percent"</a:t>
            </a:r>
            <a:r>
              <a:rPr lang="en-US" sz="1100" dirty="0">
                <a:solidFill>
                  <a:schemeClr val="bg2"/>
                </a:solidFill>
                <a:latin typeface="Courier New" pitchFamily="34" charset="0"/>
                <a:ea typeface="Courier New" pitchFamily="34" charset="-122"/>
                <a:cs typeface="Courier New" pitchFamily="34" charset="-120"/>
              </a:rPr>
              <a:t>,</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F.round(</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F.col(</a:t>
            </a:r>
            <a:r>
              <a:rPr lang="en-US" sz="1100" dirty="0">
                <a:solidFill>
                  <a:schemeClr val="accent1"/>
                </a:solidFill>
                <a:latin typeface="Courier New" pitchFamily="34" charset="0"/>
                <a:ea typeface="Courier New" pitchFamily="34" charset="-122"/>
                <a:cs typeface="Courier New" pitchFamily="34" charset="-120"/>
              </a:rPr>
              <a:t>"Churned_Customers"</a:t>
            </a:r>
            <a:r>
              <a:rPr lang="en-US" sz="1100" dirty="0">
                <a:solidFill>
                  <a:schemeClr val="bg2"/>
                </a:solidFill>
                <a:latin typeface="Courier New" pitchFamily="34" charset="0"/>
                <a:ea typeface="Courier New" pitchFamily="34" charset="-122"/>
                <a:cs typeface="Courier New" pitchFamily="34" charset="-120"/>
              </a:rPr>
              <a:t>) /</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F.col(</a:t>
            </a:r>
            <a:r>
              <a:rPr lang="en-US" sz="1100" dirty="0">
                <a:solidFill>
                  <a:schemeClr val="accent1"/>
                </a:solidFill>
                <a:latin typeface="Courier New" pitchFamily="34" charset="0"/>
                <a:ea typeface="Courier New" pitchFamily="34" charset="-122"/>
                <a:cs typeface="Courier New" pitchFamily="34" charset="-120"/>
              </a:rPr>
              <a:t>"Total_Customers"</a:t>
            </a:r>
            <a:r>
              <a:rPr lang="en-US" sz="1100" dirty="0">
                <a:solidFill>
                  <a:schemeClr val="bg2"/>
                </a:solidFill>
                <a:latin typeface="Courier New" pitchFamily="34" charset="0"/>
                <a:ea typeface="Courier New" pitchFamily="34" charset="-122"/>
                <a:cs typeface="Courier New" pitchFamily="34" charset="-120"/>
              </a:rPr>
              <a:t>) * </a:t>
            </a:r>
            <a:r>
              <a:rPr lang="en-US" sz="1100" dirty="0">
                <a:solidFill>
                  <a:schemeClr val="accent3"/>
                </a:solidFill>
                <a:latin typeface="Courier New" pitchFamily="34" charset="0"/>
                <a:ea typeface="Courier New" pitchFamily="34" charset="-122"/>
                <a:cs typeface="Courier New" pitchFamily="34" charset="-120"/>
              </a:rPr>
              <a:t>100</a:t>
            </a:r>
            <a:r>
              <a:rPr lang="en-US" sz="1100" dirty="0">
                <a:solidFill>
                  <a:schemeClr val="bg2"/>
                </a:solidFill>
                <a:latin typeface="Courier New" pitchFamily="34" charset="0"/>
                <a:ea typeface="Courier New" pitchFamily="34" charset="-122"/>
                <a:cs typeface="Courier New" pitchFamily="34" charset="-120"/>
              </a:rPr>
              <a:t>,</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t>
            </a:r>
            <a:r>
              <a:rPr lang="en-US" sz="1100" dirty="0">
                <a:solidFill>
                  <a:schemeClr val="accent3"/>
                </a:solidFill>
                <a:latin typeface="Courier New" pitchFamily="34" charset="0"/>
                <a:ea typeface="Courier New" pitchFamily="34" charset="-122"/>
                <a:cs typeface="Courier New" pitchFamily="34" charset="-120"/>
              </a:rPr>
              <a:t>2</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    .orderBy(F.desc(</a:t>
            </a:r>
            <a:r>
              <a:rPr lang="en-US" sz="1100" dirty="0">
                <a:solidFill>
                  <a:schemeClr val="accent1"/>
                </a:solidFill>
                <a:latin typeface="Courier New" pitchFamily="34" charset="0"/>
                <a:ea typeface="Courier New" pitchFamily="34" charset="-122"/>
                <a:cs typeface="Courier New" pitchFamily="34" charset="-120"/>
              </a:rPr>
              <a:t>"Churn_Rate_Percent"</a:t>
            </a:r>
            <a:r>
              <a:rPr lang="en-US" sz="1100" dirty="0">
                <a:solidFill>
                  <a:schemeClr val="bg2"/>
                </a:solidFill>
                <a:latin typeface="Courier New" pitchFamily="34" charset="0"/>
                <a:ea typeface="Courier New" pitchFamily="34" charset="-122"/>
                <a:cs typeface="Courier New" pitchFamily="34" charset="-120"/>
              </a:rPr>
              <a:t>))</a:t>
            </a:r>
            <a:endParaRPr lang="en-US" sz="1400" dirty="0"/>
          </a:p>
          <a:p>
            <a:pPr marL="0" indent="0">
              <a:buNone/>
            </a:pPr>
            <a:r>
              <a:rPr lang="en-US" sz="1100" dirty="0">
                <a:solidFill>
                  <a:schemeClr val="bg2"/>
                </a:solidFill>
                <a:latin typeface="Courier New" pitchFamily="34" charset="0"/>
                <a:ea typeface="Courier New" pitchFamily="34" charset="-122"/>
                <a:cs typeface="Courier New" pitchFamily="34" charset="-120"/>
              </a:rPr>
              <a:t>)</a:t>
            </a:r>
            <a:endParaRPr lang="en-US" sz="1400" dirty="0"/>
          </a:p>
        </p:txBody>
      </p:sp>
      <p:sp>
        <p:nvSpPr>
          <p:cNvPr id="17" name="Output card 174"/>
          <p:cNvSpPr/>
          <p:nvPr/>
        </p:nvSpPr>
        <p:spPr>
          <a:xfrm>
            <a:off x="548640" y="4480560"/>
            <a:ext cx="5362956" cy="1645920"/>
          </a:xfrm>
          <a:prstGeom prst="roundRect">
            <a:avLst>
              <a:gd name="adj" fmla="val 7778"/>
            </a:avLst>
          </a:prstGeom>
          <a:solidFill>
            <a:schemeClr val="bg2"/>
          </a:solidFill>
          <a:ln w="12700">
            <a:solidFill>
              <a:schemeClr val="bg2"/>
            </a:solidFill>
            <a:prstDash val="solid"/>
          </a:ln>
        </p:spPr>
      </p:sp>
      <p:sp>
        <p:nvSpPr>
          <p:cNvPr id="18" name="Card title 175"/>
          <p:cNvSpPr txBox="1"/>
          <p:nvPr/>
        </p:nvSpPr>
        <p:spPr>
          <a:xfrm>
            <a:off x="822960" y="4553712"/>
            <a:ext cx="4814316" cy="274320"/>
          </a:xfrm>
          <a:prstGeom prst="rect">
            <a:avLst/>
          </a:prstGeom>
          <a:noFill/>
          <a:ln/>
        </p:spPr>
        <p:txBody>
          <a:bodyPr wrap="square" lIns="0" tIns="0" rIns="0" bIns="0" rtlCol="0" anchor="t"/>
          <a:lstStyle/>
          <a:p>
            <a:pPr marL="0" indent="0">
              <a:buNone/>
            </a:pPr>
            <a:r>
              <a:rPr lang="en-US" sz="1500" b="1" dirty="0">
                <a:solidFill>
                  <a:schemeClr val="tx2"/>
                </a:solidFill>
              </a:rPr>
              <a:t>Output: churn by contract</a:t>
            </a:r>
            <a:endParaRPr lang="en-US" sz="1500" dirty="0"/>
          </a:p>
        </p:txBody>
      </p:sp>
      <p:graphicFrame>
        <p:nvGraphicFramePr>
          <p:cNvPr id="19" name="Output table"/>
          <p:cNvGraphicFramePr>
            <a:graphicFrameLocks noGrp="1"/>
          </p:cNvGraphicFramePr>
          <p:nvPr>
            <p:extLst>
              <p:ext uri="{D42A27DB-BD31-4B8C-83A1-F6EECF244321}">
                <p14:modId xmlns:p14="http://schemas.microsoft.com/office/powerpoint/2010/main" val="1579011935"/>
              </p:ext>
            </p:extLst>
          </p:nvPr>
        </p:nvGraphicFramePr>
        <p:xfrm>
          <a:off x="822960" y="4864608"/>
          <a:ext cx="5029200" cy="1207008"/>
        </p:xfrm>
        <a:graphic>
          <a:graphicData uri="http://schemas.openxmlformats.org/drawingml/2006/table">
            <a:tbl>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01752">
                <a:tc>
                  <a:txBody>
                    <a:bodyPr/>
                    <a:lstStyle/>
                    <a:p>
                      <a:pPr marL="0" indent="0" algn="l">
                        <a:buNone/>
                      </a:pPr>
                      <a:r>
                        <a:rPr lang="en-US" sz="1300" b="1" dirty="0">
                          <a:solidFill>
                            <a:srgbClr val="FFFFFF"/>
                          </a:solidFill>
                        </a:rPr>
                        <a:t>Contract</a:t>
                      </a:r>
                      <a:endParaRPr lang="en-US" sz="1300" dirty="0"/>
                    </a:p>
                  </a:txBody>
                  <a:tcPr marT="0" marB="0" anchor="ctr">
                    <a:lnL w="9525" cap="flat" cmpd="sng" algn="ctr">
                      <a:solidFill>
                        <a:srgbClr val="B9C2DD"/>
                      </a:solidFill>
                      <a:prstDash val="solid"/>
                      <a:round/>
                      <a:headEnd type="none" w="med" len="med"/>
                      <a:tailEnd type="none" w="med" len="med"/>
                    </a:lnL>
                    <a:lnR w="9525" cap="flat" cmpd="sng" algn="ctr">
                      <a:solidFill>
                        <a:srgbClr val="B9C2DD"/>
                      </a:solidFill>
                      <a:prstDash val="solid"/>
                      <a:round/>
                      <a:headEnd type="none" w="med" len="med"/>
                      <a:tailEnd type="none" w="med" len="med"/>
                    </a:lnR>
                    <a:lnT w="9525" cap="flat" cmpd="sng" algn="ctr">
                      <a:solidFill>
                        <a:srgbClr val="B9C2DD"/>
                      </a:solidFill>
                      <a:prstDash val="solid"/>
                      <a:round/>
                      <a:headEnd type="none" w="med" len="med"/>
                      <a:tailEnd type="none" w="med" len="med"/>
                    </a:lnT>
                    <a:lnB w="9525" cap="flat" cmpd="sng" algn="ctr">
                      <a:solidFill>
                        <a:srgbClr val="B9C2DD"/>
                      </a:solidFill>
                      <a:prstDash val="solid"/>
                      <a:round/>
                      <a:headEnd type="none" w="med" len="med"/>
                      <a:tailEnd type="none" w="med" len="med"/>
                    </a:lnB>
                    <a:solidFill>
                      <a:srgbClr val="16264F"/>
                    </a:solidFill>
                  </a:tcPr>
                </a:tc>
                <a:tc>
                  <a:txBody>
                    <a:bodyPr/>
                    <a:lstStyle/>
                    <a:p>
                      <a:pPr marL="0" indent="0" algn="l">
                        <a:buNone/>
                      </a:pPr>
                      <a:r>
                        <a:rPr lang="en-US" sz="1300" b="1" dirty="0">
                          <a:solidFill>
                            <a:srgbClr val="FFFFFF"/>
                          </a:solidFill>
                        </a:rPr>
                        <a:t>Customers</a:t>
                      </a:r>
                      <a:endParaRPr lang="en-US" sz="1300" dirty="0"/>
                    </a:p>
                  </a:txBody>
                  <a:tcPr marT="0" marB="0" anchor="ctr">
                    <a:lnL w="9525" cap="flat" cmpd="sng" algn="ctr">
                      <a:solidFill>
                        <a:srgbClr val="B9C2DD"/>
                      </a:solidFill>
                      <a:prstDash val="solid"/>
                      <a:round/>
                      <a:headEnd type="none" w="med" len="med"/>
                      <a:tailEnd type="none" w="med" len="med"/>
                    </a:lnL>
                    <a:lnR w="9525" cap="flat" cmpd="sng" algn="ctr">
                      <a:solidFill>
                        <a:srgbClr val="B9C2DD"/>
                      </a:solidFill>
                      <a:prstDash val="solid"/>
                      <a:round/>
                      <a:headEnd type="none" w="med" len="med"/>
                      <a:tailEnd type="none" w="med" len="med"/>
                    </a:lnR>
                    <a:lnT w="9525" cap="flat" cmpd="sng" algn="ctr">
                      <a:solidFill>
                        <a:srgbClr val="B9C2DD"/>
                      </a:solidFill>
                      <a:prstDash val="solid"/>
                      <a:round/>
                      <a:headEnd type="none" w="med" len="med"/>
                      <a:tailEnd type="none" w="med" len="med"/>
                    </a:lnT>
                    <a:lnB w="9525" cap="flat" cmpd="sng" algn="ctr">
                      <a:solidFill>
                        <a:srgbClr val="B9C2DD"/>
                      </a:solidFill>
                      <a:prstDash val="solid"/>
                      <a:round/>
                      <a:headEnd type="none" w="med" len="med"/>
                      <a:tailEnd type="none" w="med" len="med"/>
                    </a:lnB>
                    <a:solidFill>
                      <a:srgbClr val="16264F"/>
                    </a:solidFill>
                  </a:tcPr>
                </a:tc>
                <a:tc>
                  <a:txBody>
                    <a:bodyPr/>
                    <a:lstStyle/>
                    <a:p>
                      <a:pPr marL="0" indent="0" algn="l">
                        <a:buNone/>
                      </a:pPr>
                      <a:r>
                        <a:rPr lang="en-US" sz="1300" b="1" dirty="0">
                          <a:solidFill>
                            <a:srgbClr val="FFFFFF"/>
                          </a:solidFill>
                        </a:rPr>
                        <a:t>Churned</a:t>
                      </a:r>
                      <a:endParaRPr lang="en-US" sz="1300" dirty="0"/>
                    </a:p>
                  </a:txBody>
                  <a:tcPr marT="0" marB="0" anchor="ctr">
                    <a:lnL w="9525" cap="flat" cmpd="sng" algn="ctr">
                      <a:solidFill>
                        <a:srgbClr val="B9C2DD"/>
                      </a:solidFill>
                      <a:prstDash val="solid"/>
                      <a:round/>
                      <a:headEnd type="none" w="med" len="med"/>
                      <a:tailEnd type="none" w="med" len="med"/>
                    </a:lnL>
                    <a:lnR w="9525" cap="flat" cmpd="sng" algn="ctr">
                      <a:solidFill>
                        <a:srgbClr val="B9C2DD"/>
                      </a:solidFill>
                      <a:prstDash val="solid"/>
                      <a:round/>
                      <a:headEnd type="none" w="med" len="med"/>
                      <a:tailEnd type="none" w="med" len="med"/>
                    </a:lnR>
                    <a:lnT w="9525" cap="flat" cmpd="sng" algn="ctr">
                      <a:solidFill>
                        <a:srgbClr val="B9C2DD"/>
                      </a:solidFill>
                      <a:prstDash val="solid"/>
                      <a:round/>
                      <a:headEnd type="none" w="med" len="med"/>
                      <a:tailEnd type="none" w="med" len="med"/>
                    </a:lnT>
                    <a:lnB w="9525" cap="flat" cmpd="sng" algn="ctr">
                      <a:solidFill>
                        <a:srgbClr val="B9C2DD"/>
                      </a:solidFill>
                      <a:prstDash val="solid"/>
                      <a:round/>
                      <a:headEnd type="none" w="med" len="med"/>
                      <a:tailEnd type="none" w="med" len="med"/>
                    </a:lnB>
                    <a:solidFill>
                      <a:srgbClr val="16264F"/>
                    </a:solidFill>
                  </a:tcPr>
                </a:tc>
                <a:tc>
                  <a:txBody>
                    <a:bodyPr/>
                    <a:lstStyle/>
                    <a:p>
                      <a:pPr marL="0" indent="0" algn="l">
                        <a:buNone/>
                      </a:pPr>
                      <a:r>
                        <a:rPr lang="en-US" sz="1300" b="1" dirty="0">
                          <a:solidFill>
                            <a:srgbClr val="FFFFFF"/>
                          </a:solidFill>
                        </a:rPr>
                        <a:t>Churn %</a:t>
                      </a:r>
                      <a:endParaRPr lang="en-US" sz="1300" dirty="0"/>
                    </a:p>
                  </a:txBody>
                  <a:tcPr marT="0" marB="0" anchor="ctr">
                    <a:lnL w="9525" cap="flat" cmpd="sng" algn="ctr">
                      <a:solidFill>
                        <a:srgbClr val="B9C2DD"/>
                      </a:solidFill>
                      <a:prstDash val="solid"/>
                      <a:round/>
                      <a:headEnd type="none" w="med" len="med"/>
                      <a:tailEnd type="none" w="med" len="med"/>
                    </a:lnL>
                    <a:lnR w="9525" cap="flat" cmpd="sng" algn="ctr">
                      <a:solidFill>
                        <a:srgbClr val="B9C2DD"/>
                      </a:solidFill>
                      <a:prstDash val="solid"/>
                      <a:round/>
                      <a:headEnd type="none" w="med" len="med"/>
                      <a:tailEnd type="none" w="med" len="med"/>
                    </a:lnR>
                    <a:lnT w="9525" cap="flat" cmpd="sng" algn="ctr">
                      <a:solidFill>
                        <a:srgbClr val="B9C2DD"/>
                      </a:solidFill>
                      <a:prstDash val="solid"/>
                      <a:round/>
                      <a:headEnd type="none" w="med" len="med"/>
                      <a:tailEnd type="none" w="med" len="med"/>
                    </a:lnT>
                    <a:lnB w="9525" cap="flat" cmpd="sng" algn="ctr">
                      <a:solidFill>
                        <a:srgbClr val="B9C2DD"/>
                      </a:solidFill>
                      <a:prstDash val="solid"/>
                      <a:round/>
                      <a:headEnd type="none" w="med" len="med"/>
                      <a:tailEnd type="none" w="med" len="med"/>
                    </a:lnB>
                    <a:solidFill>
                      <a:srgbClr val="16264F"/>
                    </a:solidFill>
                  </a:tcPr>
                </a:tc>
                <a:extLst>
                  <a:ext uri="{0D108BD9-81ED-4DB2-BD59-A6C34878D82A}">
                    <a16:rowId xmlns:a16="http://schemas.microsoft.com/office/drawing/2014/main" val="10000"/>
                  </a:ext>
                </a:extLst>
              </a:tr>
              <a:tr h="301752">
                <a:tc>
                  <a:txBody>
                    <a:bodyPr/>
                    <a:lstStyle/>
                    <a:p>
                      <a:pPr marL="0" indent="0">
                        <a:buNone/>
                      </a:pPr>
                      <a:r>
                        <a:rPr lang="en-US" sz="1300" dirty="0">
                          <a:solidFill>
                            <a:srgbClr val="0B1530"/>
                          </a:solidFill>
                        </a:rPr>
                        <a:t>Month-to-month</a:t>
                      </a:r>
                      <a:endParaRPr lang="en-US" sz="1300" dirty="0"/>
                    </a:p>
                  </a:txBody>
                  <a:tcPr marT="0" marB="0" anchor="ctr">
                    <a:lnL w="9525" cap="flat" cmpd="sng" algn="ctr">
                      <a:solidFill>
                        <a:srgbClr val="B9C2DD"/>
                      </a:solidFill>
                      <a:prstDash val="solid"/>
                      <a:round/>
                      <a:headEnd type="none" w="med" len="med"/>
                      <a:tailEnd type="none" w="med" len="med"/>
                    </a:lnL>
                    <a:lnR w="9525" cap="flat" cmpd="sng" algn="ctr">
                      <a:solidFill>
                        <a:srgbClr val="B9C2DD"/>
                      </a:solidFill>
                      <a:prstDash val="solid"/>
                      <a:round/>
                      <a:headEnd type="none" w="med" len="med"/>
                      <a:tailEnd type="none" w="med" len="med"/>
                    </a:lnR>
                    <a:lnT w="9525" cap="flat" cmpd="sng" algn="ctr">
                      <a:solidFill>
                        <a:srgbClr val="B9C2DD"/>
                      </a:solidFill>
                      <a:prstDash val="solid"/>
                      <a:round/>
                      <a:headEnd type="none" w="med" len="med"/>
                      <a:tailEnd type="none" w="med" len="med"/>
                    </a:lnT>
                    <a:lnB w="9525" cap="flat" cmpd="sng" algn="ctr">
                      <a:solidFill>
                        <a:srgbClr val="B9C2DD"/>
                      </a:solidFill>
                      <a:prstDash val="solid"/>
                      <a:round/>
                      <a:headEnd type="none" w="med" len="med"/>
                      <a:tailEnd type="none" w="med" len="med"/>
                    </a:lnB>
                    <a:solidFill>
                      <a:srgbClr val="FFFFFF"/>
                    </a:solidFill>
                  </a:tcPr>
                </a:tc>
                <a:tc>
                  <a:txBody>
                    <a:bodyPr/>
                    <a:lstStyle/>
                    <a:p>
                      <a:pPr marL="0" indent="0">
                        <a:buNone/>
                      </a:pPr>
                      <a:r>
                        <a:rPr lang="en-US" sz="1300" dirty="0">
                          <a:solidFill>
                            <a:srgbClr val="0B1530"/>
                          </a:solidFill>
                        </a:rPr>
                        <a:t>3,875</a:t>
                      </a:r>
                      <a:endParaRPr lang="en-US" sz="1300" dirty="0"/>
                    </a:p>
                  </a:txBody>
                  <a:tcPr marT="0" marB="0" anchor="ctr">
                    <a:lnL w="9525" cap="flat" cmpd="sng" algn="ctr">
                      <a:solidFill>
                        <a:srgbClr val="B9C2DD"/>
                      </a:solidFill>
                      <a:prstDash val="solid"/>
                      <a:round/>
                      <a:headEnd type="none" w="med" len="med"/>
                      <a:tailEnd type="none" w="med" len="med"/>
                    </a:lnL>
                    <a:lnR w="9525" cap="flat" cmpd="sng" algn="ctr">
                      <a:solidFill>
                        <a:srgbClr val="B9C2DD"/>
                      </a:solidFill>
                      <a:prstDash val="solid"/>
                      <a:round/>
                      <a:headEnd type="none" w="med" len="med"/>
                      <a:tailEnd type="none" w="med" len="med"/>
                    </a:lnR>
                    <a:lnT w="9525" cap="flat" cmpd="sng" algn="ctr">
                      <a:solidFill>
                        <a:srgbClr val="B9C2DD"/>
                      </a:solidFill>
                      <a:prstDash val="solid"/>
                      <a:round/>
                      <a:headEnd type="none" w="med" len="med"/>
                      <a:tailEnd type="none" w="med" len="med"/>
                    </a:lnT>
                    <a:lnB w="9525" cap="flat" cmpd="sng" algn="ctr">
                      <a:solidFill>
                        <a:srgbClr val="B9C2DD"/>
                      </a:solidFill>
                      <a:prstDash val="solid"/>
                      <a:round/>
                      <a:headEnd type="none" w="med" len="med"/>
                      <a:tailEnd type="none" w="med" len="med"/>
                    </a:lnB>
                    <a:solidFill>
                      <a:srgbClr val="FFFFFF"/>
                    </a:solidFill>
                  </a:tcPr>
                </a:tc>
                <a:tc>
                  <a:txBody>
                    <a:bodyPr/>
                    <a:lstStyle/>
                    <a:p>
                      <a:pPr marL="0" indent="0">
                        <a:buNone/>
                      </a:pPr>
                      <a:r>
                        <a:rPr lang="en-US" sz="1300" dirty="0">
                          <a:solidFill>
                            <a:srgbClr val="0B1530"/>
                          </a:solidFill>
                        </a:rPr>
                        <a:t>1,655</a:t>
                      </a:r>
                      <a:endParaRPr lang="en-US" sz="1300" dirty="0"/>
                    </a:p>
                  </a:txBody>
                  <a:tcPr marT="0" marB="0" anchor="ctr">
                    <a:lnL w="9525" cap="flat" cmpd="sng" algn="ctr">
                      <a:solidFill>
                        <a:srgbClr val="B9C2DD"/>
                      </a:solidFill>
                      <a:prstDash val="solid"/>
                      <a:round/>
                      <a:headEnd type="none" w="med" len="med"/>
                      <a:tailEnd type="none" w="med" len="med"/>
                    </a:lnL>
                    <a:lnR w="9525" cap="flat" cmpd="sng" algn="ctr">
                      <a:solidFill>
                        <a:srgbClr val="B9C2DD"/>
                      </a:solidFill>
                      <a:prstDash val="solid"/>
                      <a:round/>
                      <a:headEnd type="none" w="med" len="med"/>
                      <a:tailEnd type="none" w="med" len="med"/>
                    </a:lnR>
                    <a:lnT w="9525" cap="flat" cmpd="sng" algn="ctr">
                      <a:solidFill>
                        <a:srgbClr val="B9C2DD"/>
                      </a:solidFill>
                      <a:prstDash val="solid"/>
                      <a:round/>
                      <a:headEnd type="none" w="med" len="med"/>
                      <a:tailEnd type="none" w="med" len="med"/>
                    </a:lnT>
                    <a:lnB w="9525" cap="flat" cmpd="sng" algn="ctr">
                      <a:solidFill>
                        <a:srgbClr val="B9C2DD"/>
                      </a:solidFill>
                      <a:prstDash val="solid"/>
                      <a:round/>
                      <a:headEnd type="none" w="med" len="med"/>
                      <a:tailEnd type="none" w="med" len="med"/>
                    </a:lnB>
                    <a:solidFill>
                      <a:srgbClr val="FFFFFF"/>
                    </a:solidFill>
                  </a:tcPr>
                </a:tc>
                <a:tc>
                  <a:txBody>
                    <a:bodyPr/>
                    <a:lstStyle/>
                    <a:p>
                      <a:pPr marL="0" indent="0">
                        <a:buNone/>
                      </a:pPr>
                      <a:r>
                        <a:rPr lang="en-US" sz="1300" b="1" dirty="0">
                          <a:solidFill>
                            <a:srgbClr val="FF5C4D"/>
                          </a:solidFill>
                        </a:rPr>
                        <a:t>42.71</a:t>
                      </a:r>
                      <a:endParaRPr lang="en-US" sz="1300" dirty="0"/>
                    </a:p>
                  </a:txBody>
                  <a:tcPr marT="0" marB="0" anchor="ctr">
                    <a:lnL w="9525" cap="flat" cmpd="sng" algn="ctr">
                      <a:solidFill>
                        <a:srgbClr val="B9C2DD"/>
                      </a:solidFill>
                      <a:prstDash val="solid"/>
                      <a:round/>
                      <a:headEnd type="none" w="med" len="med"/>
                      <a:tailEnd type="none" w="med" len="med"/>
                    </a:lnL>
                    <a:lnR w="9525" cap="flat" cmpd="sng" algn="ctr">
                      <a:solidFill>
                        <a:srgbClr val="B9C2DD"/>
                      </a:solidFill>
                      <a:prstDash val="solid"/>
                      <a:round/>
                      <a:headEnd type="none" w="med" len="med"/>
                      <a:tailEnd type="none" w="med" len="med"/>
                    </a:lnR>
                    <a:lnT w="9525" cap="flat" cmpd="sng" algn="ctr">
                      <a:solidFill>
                        <a:srgbClr val="B9C2DD"/>
                      </a:solidFill>
                      <a:prstDash val="solid"/>
                      <a:round/>
                      <a:headEnd type="none" w="med" len="med"/>
                      <a:tailEnd type="none" w="med" len="med"/>
                    </a:lnT>
                    <a:lnB w="9525" cap="flat" cmpd="sng" algn="ctr">
                      <a:solidFill>
                        <a:srgbClr val="B9C2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1300" dirty="0">
                          <a:solidFill>
                            <a:srgbClr val="0B1530"/>
                          </a:solidFill>
                        </a:rPr>
                        <a:t>One year</a:t>
                      </a:r>
                      <a:endParaRPr lang="en-US" sz="1300" dirty="0"/>
                    </a:p>
                  </a:txBody>
                  <a:tcPr marT="0" marB="0" anchor="ctr">
                    <a:lnL w="9525" cap="flat" cmpd="sng" algn="ctr">
                      <a:solidFill>
                        <a:srgbClr val="B9C2DD"/>
                      </a:solidFill>
                      <a:prstDash val="solid"/>
                      <a:round/>
                      <a:headEnd type="none" w="med" len="med"/>
                      <a:tailEnd type="none" w="med" len="med"/>
                    </a:lnL>
                    <a:lnR w="9525" cap="flat" cmpd="sng" algn="ctr">
                      <a:solidFill>
                        <a:srgbClr val="B9C2DD"/>
                      </a:solidFill>
                      <a:prstDash val="solid"/>
                      <a:round/>
                      <a:headEnd type="none" w="med" len="med"/>
                      <a:tailEnd type="none" w="med" len="med"/>
                    </a:lnR>
                    <a:lnT w="9525" cap="flat" cmpd="sng" algn="ctr">
                      <a:solidFill>
                        <a:srgbClr val="B9C2DD"/>
                      </a:solidFill>
                      <a:prstDash val="solid"/>
                      <a:round/>
                      <a:headEnd type="none" w="med" len="med"/>
                      <a:tailEnd type="none" w="med" len="med"/>
                    </a:lnT>
                    <a:lnB w="9525" cap="flat" cmpd="sng" algn="ctr">
                      <a:solidFill>
                        <a:srgbClr val="B9C2DD"/>
                      </a:solidFill>
                      <a:prstDash val="solid"/>
                      <a:round/>
                      <a:headEnd type="none" w="med" len="med"/>
                      <a:tailEnd type="none" w="med" len="med"/>
                    </a:lnB>
                    <a:solidFill>
                      <a:srgbClr val="FFFFFF"/>
                    </a:solidFill>
                  </a:tcPr>
                </a:tc>
                <a:tc>
                  <a:txBody>
                    <a:bodyPr/>
                    <a:lstStyle/>
                    <a:p>
                      <a:pPr marL="0" indent="0">
                        <a:buNone/>
                      </a:pPr>
                      <a:r>
                        <a:rPr lang="en-US" sz="1300" dirty="0">
                          <a:solidFill>
                            <a:srgbClr val="0B1530"/>
                          </a:solidFill>
                        </a:rPr>
                        <a:t>1,473</a:t>
                      </a:r>
                      <a:endParaRPr lang="en-US" sz="1300" dirty="0"/>
                    </a:p>
                  </a:txBody>
                  <a:tcPr marT="0" marB="0" anchor="ctr">
                    <a:lnL w="9525" cap="flat" cmpd="sng" algn="ctr">
                      <a:solidFill>
                        <a:srgbClr val="B9C2DD"/>
                      </a:solidFill>
                      <a:prstDash val="solid"/>
                      <a:round/>
                      <a:headEnd type="none" w="med" len="med"/>
                      <a:tailEnd type="none" w="med" len="med"/>
                    </a:lnL>
                    <a:lnR w="9525" cap="flat" cmpd="sng" algn="ctr">
                      <a:solidFill>
                        <a:srgbClr val="B9C2DD"/>
                      </a:solidFill>
                      <a:prstDash val="solid"/>
                      <a:round/>
                      <a:headEnd type="none" w="med" len="med"/>
                      <a:tailEnd type="none" w="med" len="med"/>
                    </a:lnR>
                    <a:lnT w="9525" cap="flat" cmpd="sng" algn="ctr">
                      <a:solidFill>
                        <a:srgbClr val="B9C2DD"/>
                      </a:solidFill>
                      <a:prstDash val="solid"/>
                      <a:round/>
                      <a:headEnd type="none" w="med" len="med"/>
                      <a:tailEnd type="none" w="med" len="med"/>
                    </a:lnT>
                    <a:lnB w="9525" cap="flat" cmpd="sng" algn="ctr">
                      <a:solidFill>
                        <a:srgbClr val="B9C2DD"/>
                      </a:solidFill>
                      <a:prstDash val="solid"/>
                      <a:round/>
                      <a:headEnd type="none" w="med" len="med"/>
                      <a:tailEnd type="none" w="med" len="med"/>
                    </a:lnB>
                    <a:solidFill>
                      <a:srgbClr val="FFFFFF"/>
                    </a:solidFill>
                  </a:tcPr>
                </a:tc>
                <a:tc>
                  <a:txBody>
                    <a:bodyPr/>
                    <a:lstStyle/>
                    <a:p>
                      <a:pPr marL="0" indent="0">
                        <a:buNone/>
                      </a:pPr>
                      <a:r>
                        <a:rPr lang="en-US" sz="1300" dirty="0">
                          <a:solidFill>
                            <a:srgbClr val="0B1530"/>
                          </a:solidFill>
                        </a:rPr>
                        <a:t>166</a:t>
                      </a:r>
                      <a:endParaRPr lang="en-US" sz="1300" dirty="0"/>
                    </a:p>
                  </a:txBody>
                  <a:tcPr marT="0" marB="0" anchor="ctr">
                    <a:lnL w="9525" cap="flat" cmpd="sng" algn="ctr">
                      <a:solidFill>
                        <a:srgbClr val="B9C2DD"/>
                      </a:solidFill>
                      <a:prstDash val="solid"/>
                      <a:round/>
                      <a:headEnd type="none" w="med" len="med"/>
                      <a:tailEnd type="none" w="med" len="med"/>
                    </a:lnL>
                    <a:lnR w="9525" cap="flat" cmpd="sng" algn="ctr">
                      <a:solidFill>
                        <a:srgbClr val="B9C2DD"/>
                      </a:solidFill>
                      <a:prstDash val="solid"/>
                      <a:round/>
                      <a:headEnd type="none" w="med" len="med"/>
                      <a:tailEnd type="none" w="med" len="med"/>
                    </a:lnR>
                    <a:lnT w="9525" cap="flat" cmpd="sng" algn="ctr">
                      <a:solidFill>
                        <a:srgbClr val="B9C2DD"/>
                      </a:solidFill>
                      <a:prstDash val="solid"/>
                      <a:round/>
                      <a:headEnd type="none" w="med" len="med"/>
                      <a:tailEnd type="none" w="med" len="med"/>
                    </a:lnT>
                    <a:lnB w="9525" cap="flat" cmpd="sng" algn="ctr">
                      <a:solidFill>
                        <a:srgbClr val="B9C2DD"/>
                      </a:solidFill>
                      <a:prstDash val="solid"/>
                      <a:round/>
                      <a:headEnd type="none" w="med" len="med"/>
                      <a:tailEnd type="none" w="med" len="med"/>
                    </a:lnB>
                    <a:solidFill>
                      <a:srgbClr val="FFFFFF"/>
                    </a:solidFill>
                  </a:tcPr>
                </a:tc>
                <a:tc>
                  <a:txBody>
                    <a:bodyPr/>
                    <a:lstStyle/>
                    <a:p>
                      <a:pPr marL="0" indent="0">
                        <a:buNone/>
                      </a:pPr>
                      <a:r>
                        <a:rPr lang="en-US" sz="1300" b="1" dirty="0">
                          <a:solidFill>
                            <a:srgbClr val="0B1530"/>
                          </a:solidFill>
                        </a:rPr>
                        <a:t>11.27</a:t>
                      </a:r>
                      <a:endParaRPr lang="en-US" sz="1300" dirty="0"/>
                    </a:p>
                  </a:txBody>
                  <a:tcPr marT="0" marB="0" anchor="ctr">
                    <a:lnL w="9525" cap="flat" cmpd="sng" algn="ctr">
                      <a:solidFill>
                        <a:srgbClr val="B9C2DD"/>
                      </a:solidFill>
                      <a:prstDash val="solid"/>
                      <a:round/>
                      <a:headEnd type="none" w="med" len="med"/>
                      <a:tailEnd type="none" w="med" len="med"/>
                    </a:lnL>
                    <a:lnR w="9525" cap="flat" cmpd="sng" algn="ctr">
                      <a:solidFill>
                        <a:srgbClr val="B9C2DD"/>
                      </a:solidFill>
                      <a:prstDash val="solid"/>
                      <a:round/>
                      <a:headEnd type="none" w="med" len="med"/>
                      <a:tailEnd type="none" w="med" len="med"/>
                    </a:lnR>
                    <a:lnT w="9525" cap="flat" cmpd="sng" algn="ctr">
                      <a:solidFill>
                        <a:srgbClr val="B9C2DD"/>
                      </a:solidFill>
                      <a:prstDash val="solid"/>
                      <a:round/>
                      <a:headEnd type="none" w="med" len="med"/>
                      <a:tailEnd type="none" w="med" len="med"/>
                    </a:lnT>
                    <a:lnB w="9525" cap="flat" cmpd="sng" algn="ctr">
                      <a:solidFill>
                        <a:srgbClr val="B9C2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1300" dirty="0">
                          <a:solidFill>
                            <a:srgbClr val="0B1530"/>
                          </a:solidFill>
                        </a:rPr>
                        <a:t>Two year</a:t>
                      </a:r>
                      <a:endParaRPr lang="en-US" sz="1300" dirty="0"/>
                    </a:p>
                  </a:txBody>
                  <a:tcPr marT="0" marB="0" anchor="ctr">
                    <a:lnL w="9525" cap="flat" cmpd="sng" algn="ctr">
                      <a:solidFill>
                        <a:srgbClr val="B9C2DD"/>
                      </a:solidFill>
                      <a:prstDash val="solid"/>
                      <a:round/>
                      <a:headEnd type="none" w="med" len="med"/>
                      <a:tailEnd type="none" w="med" len="med"/>
                    </a:lnL>
                    <a:lnR w="9525" cap="flat" cmpd="sng" algn="ctr">
                      <a:solidFill>
                        <a:srgbClr val="B9C2DD"/>
                      </a:solidFill>
                      <a:prstDash val="solid"/>
                      <a:round/>
                      <a:headEnd type="none" w="med" len="med"/>
                      <a:tailEnd type="none" w="med" len="med"/>
                    </a:lnR>
                    <a:lnT w="9525" cap="flat" cmpd="sng" algn="ctr">
                      <a:solidFill>
                        <a:srgbClr val="B9C2DD"/>
                      </a:solidFill>
                      <a:prstDash val="solid"/>
                      <a:round/>
                      <a:headEnd type="none" w="med" len="med"/>
                      <a:tailEnd type="none" w="med" len="med"/>
                    </a:lnT>
                    <a:lnB w="9525" cap="flat" cmpd="sng" algn="ctr">
                      <a:solidFill>
                        <a:srgbClr val="B9C2DD"/>
                      </a:solidFill>
                      <a:prstDash val="solid"/>
                      <a:round/>
                      <a:headEnd type="none" w="med" len="med"/>
                      <a:tailEnd type="none" w="med" len="med"/>
                    </a:lnB>
                    <a:solidFill>
                      <a:srgbClr val="FFFFFF"/>
                    </a:solidFill>
                  </a:tcPr>
                </a:tc>
                <a:tc>
                  <a:txBody>
                    <a:bodyPr/>
                    <a:lstStyle/>
                    <a:p>
                      <a:pPr marL="0" indent="0">
                        <a:buNone/>
                      </a:pPr>
                      <a:r>
                        <a:rPr lang="en-US" sz="1300" dirty="0">
                          <a:solidFill>
                            <a:srgbClr val="0B1530"/>
                          </a:solidFill>
                        </a:rPr>
                        <a:t>1,695</a:t>
                      </a:r>
                      <a:endParaRPr lang="en-US" sz="1300" dirty="0"/>
                    </a:p>
                  </a:txBody>
                  <a:tcPr marT="0" marB="0" anchor="ctr">
                    <a:lnL w="9525" cap="flat" cmpd="sng" algn="ctr">
                      <a:solidFill>
                        <a:srgbClr val="B9C2DD"/>
                      </a:solidFill>
                      <a:prstDash val="solid"/>
                      <a:round/>
                      <a:headEnd type="none" w="med" len="med"/>
                      <a:tailEnd type="none" w="med" len="med"/>
                    </a:lnL>
                    <a:lnR w="9525" cap="flat" cmpd="sng" algn="ctr">
                      <a:solidFill>
                        <a:srgbClr val="B9C2DD"/>
                      </a:solidFill>
                      <a:prstDash val="solid"/>
                      <a:round/>
                      <a:headEnd type="none" w="med" len="med"/>
                      <a:tailEnd type="none" w="med" len="med"/>
                    </a:lnR>
                    <a:lnT w="9525" cap="flat" cmpd="sng" algn="ctr">
                      <a:solidFill>
                        <a:srgbClr val="B9C2DD"/>
                      </a:solidFill>
                      <a:prstDash val="solid"/>
                      <a:round/>
                      <a:headEnd type="none" w="med" len="med"/>
                      <a:tailEnd type="none" w="med" len="med"/>
                    </a:lnT>
                    <a:lnB w="9525" cap="flat" cmpd="sng" algn="ctr">
                      <a:solidFill>
                        <a:srgbClr val="B9C2DD"/>
                      </a:solidFill>
                      <a:prstDash val="solid"/>
                      <a:round/>
                      <a:headEnd type="none" w="med" len="med"/>
                      <a:tailEnd type="none" w="med" len="med"/>
                    </a:lnB>
                    <a:solidFill>
                      <a:srgbClr val="FFFFFF"/>
                    </a:solidFill>
                  </a:tcPr>
                </a:tc>
                <a:tc>
                  <a:txBody>
                    <a:bodyPr/>
                    <a:lstStyle/>
                    <a:p>
                      <a:pPr marL="0" indent="0">
                        <a:buNone/>
                      </a:pPr>
                      <a:r>
                        <a:rPr lang="en-US" sz="1300" dirty="0">
                          <a:solidFill>
                            <a:srgbClr val="0B1530"/>
                          </a:solidFill>
                        </a:rPr>
                        <a:t>48</a:t>
                      </a:r>
                      <a:endParaRPr lang="en-US" sz="1300" dirty="0"/>
                    </a:p>
                  </a:txBody>
                  <a:tcPr marT="0" marB="0" anchor="ctr">
                    <a:lnL w="9525" cap="flat" cmpd="sng" algn="ctr">
                      <a:solidFill>
                        <a:srgbClr val="B9C2DD"/>
                      </a:solidFill>
                      <a:prstDash val="solid"/>
                      <a:round/>
                      <a:headEnd type="none" w="med" len="med"/>
                      <a:tailEnd type="none" w="med" len="med"/>
                    </a:lnL>
                    <a:lnR w="9525" cap="flat" cmpd="sng" algn="ctr">
                      <a:solidFill>
                        <a:srgbClr val="B9C2DD"/>
                      </a:solidFill>
                      <a:prstDash val="solid"/>
                      <a:round/>
                      <a:headEnd type="none" w="med" len="med"/>
                      <a:tailEnd type="none" w="med" len="med"/>
                    </a:lnR>
                    <a:lnT w="9525" cap="flat" cmpd="sng" algn="ctr">
                      <a:solidFill>
                        <a:srgbClr val="B9C2DD"/>
                      </a:solidFill>
                      <a:prstDash val="solid"/>
                      <a:round/>
                      <a:headEnd type="none" w="med" len="med"/>
                      <a:tailEnd type="none" w="med" len="med"/>
                    </a:lnT>
                    <a:lnB w="9525" cap="flat" cmpd="sng" algn="ctr">
                      <a:solidFill>
                        <a:srgbClr val="B9C2DD"/>
                      </a:solidFill>
                      <a:prstDash val="solid"/>
                      <a:round/>
                      <a:headEnd type="none" w="med" len="med"/>
                      <a:tailEnd type="none" w="med" len="med"/>
                    </a:lnB>
                    <a:solidFill>
                      <a:srgbClr val="FFFFFF"/>
                    </a:solidFill>
                  </a:tcPr>
                </a:tc>
                <a:tc>
                  <a:txBody>
                    <a:bodyPr/>
                    <a:lstStyle/>
                    <a:p>
                      <a:pPr marL="0" indent="0">
                        <a:buNone/>
                      </a:pPr>
                      <a:r>
                        <a:rPr lang="en-US" sz="1300" b="1" dirty="0">
                          <a:solidFill>
                            <a:srgbClr val="0B1530"/>
                          </a:solidFill>
                        </a:rPr>
                        <a:t>2.83</a:t>
                      </a:r>
                      <a:endParaRPr lang="en-US" sz="1300" dirty="0"/>
                    </a:p>
                  </a:txBody>
                  <a:tcPr marT="0" marB="0" anchor="ctr">
                    <a:lnL w="9525" cap="flat" cmpd="sng" algn="ctr">
                      <a:solidFill>
                        <a:srgbClr val="B9C2DD"/>
                      </a:solidFill>
                      <a:prstDash val="solid"/>
                      <a:round/>
                      <a:headEnd type="none" w="med" len="med"/>
                      <a:tailEnd type="none" w="med" len="med"/>
                    </a:lnL>
                    <a:lnR w="9525" cap="flat" cmpd="sng" algn="ctr">
                      <a:solidFill>
                        <a:srgbClr val="B9C2DD"/>
                      </a:solidFill>
                      <a:prstDash val="solid"/>
                      <a:round/>
                      <a:headEnd type="none" w="med" len="med"/>
                      <a:tailEnd type="none" w="med" len="med"/>
                    </a:lnR>
                    <a:lnT w="9525" cap="flat" cmpd="sng" algn="ctr">
                      <a:solidFill>
                        <a:srgbClr val="B9C2DD"/>
                      </a:solidFill>
                      <a:prstDash val="solid"/>
                      <a:round/>
                      <a:headEnd type="none" w="med" len="med"/>
                      <a:tailEnd type="none" w="med" len="med"/>
                    </a:lnT>
                    <a:lnB w="9525" cap="flat" cmpd="sng" algn="ctr">
                      <a:solidFill>
                        <a:srgbClr val="B9C2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79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685800"/>
          </a:xfrm>
          <a:prstGeom prst="rect">
            <a:avLst/>
          </a:prstGeom>
          <a:noFill/>
          <a:ln/>
        </p:spPr>
        <p:txBody>
          <a:bodyPr wrap="square" lIns="0" tIns="0" rIns="0" bIns="0" rtlCol="0" anchor="ctr"/>
          <a:lstStyle/>
          <a:p>
            <a:pPr marL="0" indent="0" algn="l">
              <a:buNone/>
            </a:pPr>
            <a:r>
              <a:rPr lang="en-US" sz="3400" b="1">
                <a:solidFill>
                  <a:schemeClr val="tx2"/>
                </a:solidFill>
              </a:rPr>
              <a:t>DBever</a:t>
            </a:r>
            <a:r>
              <a:rPr lang="en-US" sz="3400" b="1" dirty="0">
                <a:solidFill>
                  <a:schemeClr val="tx2"/>
                </a:solidFill>
              </a:rPr>
              <a:t> output: churn by segment</a:t>
            </a:r>
            <a:endParaRPr lang="en-US" sz="3400" dirty="0"/>
          </a:p>
        </p:txBody>
      </p:sp>
      <p:sp>
        <p:nvSpPr>
          <p:cNvPr id="3" name="Text 0"/>
          <p:cNvSpPr>
            <a:spLocks noGrp="1"/>
          </p:cNvSpPr>
          <p:nvPr>
            <p:ph type="body" idx="101" hasCustomPrompt="1"/>
          </p:nvPr>
        </p:nvSpPr>
        <p:spPr>
          <a:xfrm>
            <a:off x="548640" y="1051560"/>
            <a:ext cx="11091672" cy="365760"/>
          </a:xfrm>
          <a:prstGeom prst="rect">
            <a:avLst/>
          </a:prstGeom>
          <a:noFill/>
          <a:ln/>
        </p:spPr>
        <p:txBody>
          <a:bodyPr wrap="square" lIns="0" tIns="0" rIns="0" bIns="0" rtlCol="0" anchor="ctr"/>
          <a:lstStyle/>
          <a:p>
            <a:pPr marL="0" indent="0" algn="l">
              <a:buNone/>
            </a:pPr>
            <a:r>
              <a:rPr lang="en-US" sz="1600" dirty="0">
                <a:solidFill>
                  <a:schemeClr val="accent5"/>
                </a:solidFill>
              </a:rPr>
              <a:t>Screenshots of the saved outputs in Bigdata_python_by_khush.ipynb</a:t>
            </a:r>
            <a:endParaRPr lang="en-US" sz="1600" dirty="0"/>
          </a:p>
        </p:txBody>
      </p:sp>
      <p:sp>
        <p:nvSpPr>
          <p:cNvPr id="4" name="Screenshot frame 176"/>
          <p:cNvSpPr/>
          <p:nvPr/>
        </p:nvSpPr>
        <p:spPr>
          <a:xfrm>
            <a:off x="548640" y="1691640"/>
            <a:ext cx="5362956" cy="2916936"/>
          </a:xfrm>
          <a:prstGeom prst="roundRect">
            <a:avLst>
              <a:gd name="adj" fmla="val 1567"/>
            </a:avLst>
          </a:prstGeom>
          <a:solidFill>
            <a:schemeClr val="bg2"/>
          </a:solidFill>
          <a:ln w="12700">
            <a:solidFill>
              <a:schemeClr val="bg2"/>
            </a:solidFill>
            <a:prstDash val="solid"/>
          </a:ln>
          <a:effectLst>
            <a:outerShdw blurRad="127000" dist="38100" dir="5400000" algn="bl" rotWithShape="0">
              <a:srgbClr val="0B1530">
                <a:alpha val="12000"/>
              </a:srgbClr>
            </a:outerShdw>
          </a:effectLst>
        </p:spPr>
      </p:sp>
      <p:pic>
        <p:nvPicPr>
          <p:cNvPr id="5" name="Notebook screenshot 177" descr="Notebook output: churn by contract and internet service"/>
          <p:cNvPicPr>
            <a:picLocks noChangeAspect="1"/>
          </p:cNvPicPr>
          <p:nvPr/>
        </p:nvPicPr>
        <p:blipFill>
          <a:blip r:embed="rId3"/>
          <a:stretch>
            <a:fillRect/>
          </a:stretch>
        </p:blipFill>
        <p:spPr>
          <a:xfrm>
            <a:off x="548640" y="1691640"/>
            <a:ext cx="5362956" cy="2916936"/>
          </a:xfrm>
          <a:prstGeom prst="rect">
            <a:avLst/>
          </a:prstGeom>
        </p:spPr>
      </p:pic>
      <p:sp>
        <p:nvSpPr>
          <p:cNvPr id="6" name="Screenshot frame 178"/>
          <p:cNvSpPr/>
          <p:nvPr/>
        </p:nvSpPr>
        <p:spPr>
          <a:xfrm>
            <a:off x="6277356" y="1691640"/>
            <a:ext cx="5362956" cy="2916936"/>
          </a:xfrm>
          <a:prstGeom prst="roundRect">
            <a:avLst>
              <a:gd name="adj" fmla="val 1567"/>
            </a:avLst>
          </a:prstGeom>
          <a:solidFill>
            <a:schemeClr val="bg2"/>
          </a:solidFill>
          <a:ln w="12700">
            <a:solidFill>
              <a:schemeClr val="bg2"/>
            </a:solidFill>
            <a:prstDash val="solid"/>
          </a:ln>
          <a:effectLst>
            <a:outerShdw blurRad="127000" dist="38100" dir="5400000" algn="bl" rotWithShape="0">
              <a:srgbClr val="0B1530">
                <a:alpha val="12000"/>
              </a:srgbClr>
            </a:outerShdw>
          </a:effectLst>
        </p:spPr>
      </p:sp>
      <p:pic>
        <p:nvPicPr>
          <p:cNvPr id="7" name="Notebook screenshot 179" descr="Notebook output: churn by payment method and senior citizen"/>
          <p:cNvPicPr>
            <a:picLocks noChangeAspect="1"/>
          </p:cNvPicPr>
          <p:nvPr/>
        </p:nvPicPr>
        <p:blipFill>
          <a:blip r:embed="rId4"/>
          <a:stretch>
            <a:fillRect/>
          </a:stretch>
        </p:blipFill>
        <p:spPr>
          <a:xfrm>
            <a:off x="6277356" y="1691640"/>
            <a:ext cx="5362956" cy="2916936"/>
          </a:xfrm>
          <a:prstGeom prst="rect">
            <a:avLst/>
          </a:prstGeom>
        </p:spPr>
      </p:pic>
      <p:sp>
        <p:nvSpPr>
          <p:cNvPr id="8" name="Match card 180"/>
          <p:cNvSpPr/>
          <p:nvPr/>
        </p:nvSpPr>
        <p:spPr>
          <a:xfrm>
            <a:off x="548640" y="4846320"/>
            <a:ext cx="5362956" cy="1280160"/>
          </a:xfrm>
          <a:prstGeom prst="roundRect">
            <a:avLst>
              <a:gd name="adj" fmla="val 10000"/>
            </a:avLst>
          </a:prstGeom>
          <a:solidFill>
            <a:srgbClr val="16264F"/>
          </a:solidFill>
          <a:ln w="12700">
            <a:solidFill>
              <a:srgbClr val="16264F"/>
            </a:solidFill>
            <a:prstDash val="solid"/>
          </a:ln>
        </p:spPr>
      </p:sp>
      <p:sp>
        <p:nvSpPr>
          <p:cNvPr id="9" name="Icon circle 181"/>
          <p:cNvSpPr/>
          <p:nvPr/>
        </p:nvSpPr>
        <p:spPr>
          <a:xfrm>
            <a:off x="822960" y="5212080"/>
            <a:ext cx="548640" cy="548640"/>
          </a:xfrm>
          <a:prstGeom prst="ellipse">
            <a:avLst/>
          </a:prstGeom>
          <a:solidFill>
            <a:srgbClr val="19B3A1"/>
          </a:solidFill>
          <a:ln w="12700">
            <a:solidFill>
              <a:srgbClr val="19B3A1"/>
            </a:solidFill>
            <a:prstDash val="solid"/>
          </a:ln>
        </p:spPr>
      </p:sp>
      <p:pic>
        <p:nvPicPr>
          <p:cNvPr id="10" name="Icon 182" descr="icon"/>
          <p:cNvPicPr>
            <a:picLocks noChangeAspect="1"/>
          </p:cNvPicPr>
          <p:nvPr/>
        </p:nvPicPr>
        <p:blipFill>
          <a:blip r:embed="rId5"/>
          <a:stretch>
            <a:fillRect/>
          </a:stretch>
        </p:blipFill>
        <p:spPr>
          <a:xfrm>
            <a:off x="976579" y="5365699"/>
            <a:ext cx="241402" cy="241402"/>
          </a:xfrm>
          <a:prstGeom prst="rect">
            <a:avLst/>
          </a:prstGeom>
        </p:spPr>
      </p:pic>
      <p:sp>
        <p:nvSpPr>
          <p:cNvPr id="11" name="Match text 183"/>
          <p:cNvSpPr txBox="1"/>
          <p:nvPr/>
        </p:nvSpPr>
        <p:spPr>
          <a:xfrm>
            <a:off x="1600200" y="4846320"/>
            <a:ext cx="4082796" cy="1280160"/>
          </a:xfrm>
          <a:prstGeom prst="rect">
            <a:avLst/>
          </a:prstGeom>
          <a:noFill/>
          <a:ln/>
        </p:spPr>
        <p:txBody>
          <a:bodyPr wrap="square" lIns="0" tIns="0" rIns="0" bIns="0" rtlCol="0" anchor="ctr"/>
          <a:lstStyle/>
          <a:p>
            <a:pPr marL="0" indent="0">
              <a:buNone/>
            </a:pPr>
            <a:r>
              <a:rPr lang="en-US" sz="1600" b="1" dirty="0">
                <a:solidFill>
                  <a:schemeClr val="accent2"/>
                </a:solidFill>
              </a:rPr>
              <a:t>Matches the SQL</a:t>
            </a:r>
            <a:endParaRPr lang="en-US" sz="1400" dirty="0"/>
          </a:p>
          <a:p>
            <a:pPr marL="0" indent="0">
              <a:buNone/>
            </a:pPr>
            <a:r>
              <a:rPr lang="en-US" sz="1400" dirty="0">
                <a:solidFill>
                  <a:schemeClr val="bg1"/>
                </a:solidFill>
              </a:rPr>
              <a:t>Contract 42.71%, fiber optic 41.89%, electronic check 45.29%</a:t>
            </a:r>
            <a:endParaRPr lang="en-US" sz="1400" dirty="0"/>
          </a:p>
        </p:txBody>
      </p:sp>
      <p:sp>
        <p:nvSpPr>
          <p:cNvPr id="12" name="Senior card 184"/>
          <p:cNvSpPr/>
          <p:nvPr/>
        </p:nvSpPr>
        <p:spPr>
          <a:xfrm>
            <a:off x="6277356" y="4846320"/>
            <a:ext cx="5362956" cy="1280160"/>
          </a:xfrm>
          <a:prstGeom prst="roundRect">
            <a:avLst>
              <a:gd name="adj" fmla="val 10000"/>
            </a:avLst>
          </a:prstGeom>
          <a:solidFill>
            <a:srgbClr val="16264F"/>
          </a:solidFill>
          <a:ln w="12700">
            <a:solidFill>
              <a:srgbClr val="16264F"/>
            </a:solidFill>
            <a:prstDash val="solid"/>
          </a:ln>
        </p:spPr>
      </p:sp>
      <p:sp>
        <p:nvSpPr>
          <p:cNvPr id="13" name="Senior stat 185"/>
          <p:cNvSpPr txBox="1"/>
          <p:nvPr/>
        </p:nvSpPr>
        <p:spPr>
          <a:xfrm>
            <a:off x="6551676" y="4846320"/>
            <a:ext cx="2011680" cy="1280160"/>
          </a:xfrm>
          <a:prstGeom prst="rect">
            <a:avLst/>
          </a:prstGeom>
          <a:noFill/>
          <a:ln/>
        </p:spPr>
        <p:txBody>
          <a:bodyPr wrap="square" lIns="0" tIns="0" rIns="0" bIns="0" rtlCol="0" anchor="ctr"/>
          <a:lstStyle/>
          <a:p>
            <a:pPr marL="0" indent="0">
              <a:buNone/>
            </a:pPr>
            <a:r>
              <a:rPr lang="en-US" sz="3600" b="1" dirty="0">
                <a:solidFill>
                  <a:schemeClr val="accent1"/>
                </a:solidFill>
              </a:rPr>
              <a:t>41.68%</a:t>
            </a:r>
            <a:endParaRPr lang="en-US" sz="3600" dirty="0"/>
          </a:p>
        </p:txBody>
      </p:sp>
      <p:sp>
        <p:nvSpPr>
          <p:cNvPr id="14" name="Senior text 186"/>
          <p:cNvSpPr txBox="1"/>
          <p:nvPr/>
        </p:nvSpPr>
        <p:spPr>
          <a:xfrm>
            <a:off x="8654796" y="4846320"/>
            <a:ext cx="2345436" cy="1280160"/>
          </a:xfrm>
          <a:prstGeom prst="rect">
            <a:avLst/>
          </a:prstGeom>
          <a:noFill/>
          <a:ln/>
        </p:spPr>
        <p:txBody>
          <a:bodyPr wrap="square" lIns="0" tIns="0" rIns="0" bIns="0" rtlCol="0" anchor="ctr"/>
          <a:lstStyle/>
          <a:p>
            <a:pPr marL="0" indent="0">
              <a:buNone/>
            </a:pPr>
            <a:r>
              <a:rPr lang="en-US" sz="1400" dirty="0">
                <a:solidFill>
                  <a:schemeClr val="bg1"/>
                </a:solidFill>
              </a:rPr>
              <a:t>of senior citizens churned, vs 23.61% of other customers (extra segment, notebook only)</a:t>
            </a:r>
            <a:endParaRPr lang="en-US" sz="1400" dirty="0"/>
          </a:p>
        </p:txBody>
      </p:sp>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79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685800"/>
          </a:xfrm>
          <a:prstGeom prst="rect">
            <a:avLst/>
          </a:prstGeom>
          <a:noFill/>
          <a:ln/>
        </p:spPr>
        <p:txBody>
          <a:bodyPr wrap="square" lIns="0" tIns="0" rIns="0" bIns="0" rtlCol="0" anchor="ctr"/>
          <a:lstStyle/>
          <a:p>
            <a:pPr marL="0" indent="0" algn="l">
              <a:buNone/>
            </a:pPr>
            <a:r>
              <a:rPr lang="en-US" sz="3400" b="1" dirty="0">
                <a:solidFill>
                  <a:schemeClr val="tx2"/>
                </a:solidFill>
              </a:rPr>
              <a:t>Analysis 1: contract length</a:t>
            </a:r>
            <a:endParaRPr lang="en-US" sz="3400" dirty="0"/>
          </a:p>
        </p:txBody>
      </p:sp>
      <p:sp>
        <p:nvSpPr>
          <p:cNvPr id="3" name="Text 0"/>
          <p:cNvSpPr>
            <a:spLocks noGrp="1"/>
          </p:cNvSpPr>
          <p:nvPr>
            <p:ph type="body" idx="101" hasCustomPrompt="1"/>
          </p:nvPr>
        </p:nvSpPr>
        <p:spPr>
          <a:xfrm>
            <a:off x="548640" y="1051560"/>
            <a:ext cx="11091672" cy="365760"/>
          </a:xfrm>
          <a:prstGeom prst="rect">
            <a:avLst/>
          </a:prstGeom>
          <a:noFill/>
          <a:ln/>
        </p:spPr>
        <p:txBody>
          <a:bodyPr wrap="square" lIns="0" tIns="0" rIns="0" bIns="0" rtlCol="0" anchor="ctr"/>
          <a:lstStyle/>
          <a:p>
            <a:pPr marL="0" indent="0" algn="l">
              <a:buNone/>
            </a:pPr>
            <a:r>
              <a:rPr lang="en-US" sz="1600" dirty="0">
                <a:solidFill>
                  <a:schemeClr val="accent5"/>
                </a:solidFill>
              </a:rPr>
              <a:t>Purpose: test whether contract length is linked to churn</a:t>
            </a:r>
            <a:endParaRPr lang="en-US" sz="1600" dirty="0"/>
          </a:p>
        </p:txBody>
      </p:sp>
      <p:sp>
        <p:nvSpPr>
          <p:cNvPr id="4" name="Chart card 187"/>
          <p:cNvSpPr/>
          <p:nvPr/>
        </p:nvSpPr>
        <p:spPr>
          <a:xfrm>
            <a:off x="548640" y="1691640"/>
            <a:ext cx="6949440" cy="4434840"/>
          </a:xfrm>
          <a:prstGeom prst="roundRect">
            <a:avLst>
              <a:gd name="adj" fmla="val 2887"/>
            </a:avLst>
          </a:prstGeom>
          <a:solidFill>
            <a:schemeClr val="bg2"/>
          </a:solidFill>
          <a:ln w="12700">
            <a:solidFill>
              <a:schemeClr val="bg2"/>
            </a:solidFill>
            <a:prstDash val="solid"/>
          </a:ln>
        </p:spPr>
      </p:sp>
      <p:sp>
        <p:nvSpPr>
          <p:cNvPr id="5" name="Card title 188"/>
          <p:cNvSpPr txBox="1"/>
          <p:nvPr/>
        </p:nvSpPr>
        <p:spPr>
          <a:xfrm>
            <a:off x="822960" y="1828800"/>
            <a:ext cx="5943600" cy="320040"/>
          </a:xfrm>
          <a:prstGeom prst="rect">
            <a:avLst/>
          </a:prstGeom>
          <a:noFill/>
          <a:ln/>
        </p:spPr>
        <p:txBody>
          <a:bodyPr wrap="square" lIns="0" tIns="0" rIns="0" bIns="0" rtlCol="0" anchor="t"/>
          <a:lstStyle/>
          <a:p>
            <a:pPr marL="0" indent="0">
              <a:buNone/>
            </a:pPr>
            <a:r>
              <a:rPr lang="en-US" sz="1600" b="1" dirty="0">
                <a:solidFill>
                  <a:schemeClr val="tx2"/>
                </a:solidFill>
              </a:rPr>
              <a:t>Churn rate by contract type</a:t>
            </a:r>
            <a:endParaRPr lang="en-US" sz="1600" dirty="0"/>
          </a:p>
        </p:txBody>
      </p:sp>
      <p:graphicFrame>
        <p:nvGraphicFramePr>
          <p:cNvPr id="6" name="Chart 0" descr="Bar chart of churn rate by contract: month-to-month 42.7%, one year 11.3%, two year 2.8%"/>
          <p:cNvGraphicFramePr/>
          <p:nvPr/>
        </p:nvGraphicFramePr>
        <p:xfrm>
          <a:off x="731520" y="2240280"/>
          <a:ext cx="658368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7" name="Hero stat 189"/>
          <p:cNvSpPr/>
          <p:nvPr/>
        </p:nvSpPr>
        <p:spPr>
          <a:xfrm>
            <a:off x="7772400" y="1691640"/>
            <a:ext cx="3867912" cy="2240280"/>
          </a:xfrm>
          <a:prstGeom prst="roundRect">
            <a:avLst>
              <a:gd name="adj" fmla="val 5714"/>
            </a:avLst>
          </a:prstGeom>
          <a:solidFill>
            <a:srgbClr val="16264F"/>
          </a:solidFill>
          <a:ln w="12700">
            <a:solidFill>
              <a:srgbClr val="16264F"/>
            </a:solidFill>
            <a:prstDash val="solid"/>
          </a:ln>
        </p:spPr>
      </p:sp>
      <p:sp>
        <p:nvSpPr>
          <p:cNvPr id="8" name="Hero number 190"/>
          <p:cNvSpPr txBox="1"/>
          <p:nvPr/>
        </p:nvSpPr>
        <p:spPr>
          <a:xfrm>
            <a:off x="8046720" y="1783080"/>
            <a:ext cx="3291840" cy="1005840"/>
          </a:xfrm>
          <a:prstGeom prst="rect">
            <a:avLst/>
          </a:prstGeom>
          <a:noFill/>
          <a:ln/>
        </p:spPr>
        <p:txBody>
          <a:bodyPr wrap="square" lIns="0" tIns="0" rIns="0" bIns="0" rtlCol="0" anchor="ctr"/>
          <a:lstStyle/>
          <a:p>
            <a:pPr marL="0" indent="0">
              <a:buNone/>
            </a:pPr>
            <a:r>
              <a:rPr lang="en-US" sz="7200" b="1" dirty="0">
                <a:solidFill>
                  <a:schemeClr val="accent1"/>
                </a:solidFill>
              </a:rPr>
              <a:t>15×</a:t>
            </a:r>
            <a:endParaRPr lang="en-US" sz="7200" dirty="0"/>
          </a:p>
        </p:txBody>
      </p:sp>
      <p:sp>
        <p:nvSpPr>
          <p:cNvPr id="9" name="Hero text 191"/>
          <p:cNvSpPr txBox="1"/>
          <p:nvPr/>
        </p:nvSpPr>
        <p:spPr>
          <a:xfrm>
            <a:off x="8046720" y="2788920"/>
            <a:ext cx="3337560" cy="1005840"/>
          </a:xfrm>
          <a:prstGeom prst="rect">
            <a:avLst/>
          </a:prstGeom>
          <a:noFill/>
          <a:ln/>
        </p:spPr>
        <p:txBody>
          <a:bodyPr wrap="square" lIns="0" tIns="0" rIns="0" bIns="0" rtlCol="0" anchor="t"/>
          <a:lstStyle/>
          <a:p>
            <a:pPr marL="0" indent="0">
              <a:buNone/>
            </a:pPr>
            <a:r>
              <a:rPr lang="en-US" sz="1500" dirty="0">
                <a:solidFill>
                  <a:schemeClr val="bg1"/>
                </a:solidFill>
              </a:rPr>
              <a:t>Month-to-month customers churn about 15 times as often as two-year customers</a:t>
            </a:r>
            <a:endParaRPr lang="en-US" sz="1500" dirty="0"/>
          </a:p>
        </p:txBody>
      </p:sp>
      <p:sp>
        <p:nvSpPr>
          <p:cNvPr id="10" name="Share card 192"/>
          <p:cNvSpPr/>
          <p:nvPr/>
        </p:nvSpPr>
        <p:spPr>
          <a:xfrm>
            <a:off x="7772400" y="4160520"/>
            <a:ext cx="3867912" cy="1965960"/>
          </a:xfrm>
          <a:prstGeom prst="roundRect">
            <a:avLst>
              <a:gd name="adj" fmla="val 6512"/>
            </a:avLst>
          </a:prstGeom>
          <a:solidFill>
            <a:schemeClr val="bg2"/>
          </a:solidFill>
          <a:ln w="12700">
            <a:solidFill>
              <a:schemeClr val="bg2"/>
            </a:solidFill>
            <a:prstDash val="solid"/>
          </a:ln>
        </p:spPr>
      </p:sp>
      <p:sp>
        <p:nvSpPr>
          <p:cNvPr id="11" name="Card title 193"/>
          <p:cNvSpPr txBox="1"/>
          <p:nvPr/>
        </p:nvSpPr>
        <p:spPr>
          <a:xfrm>
            <a:off x="8046720" y="4279392"/>
            <a:ext cx="3383280" cy="274320"/>
          </a:xfrm>
          <a:prstGeom prst="rect">
            <a:avLst/>
          </a:prstGeom>
          <a:noFill/>
          <a:ln/>
        </p:spPr>
        <p:txBody>
          <a:bodyPr wrap="square" lIns="0" tIns="0" rIns="0" bIns="0" rtlCol="0" anchor="t"/>
          <a:lstStyle/>
          <a:p>
            <a:pPr marL="0" indent="0">
              <a:buNone/>
            </a:pPr>
            <a:r>
              <a:rPr lang="en-US" sz="1400" b="1" dirty="0">
                <a:solidFill>
                  <a:schemeClr val="tx2"/>
                </a:solidFill>
              </a:rPr>
              <a:t>Share of all customers</a:t>
            </a:r>
            <a:endParaRPr lang="en-US" sz="1400" dirty="0"/>
          </a:p>
        </p:txBody>
      </p:sp>
      <p:sp>
        <p:nvSpPr>
          <p:cNvPr id="12" name="Share segment 194"/>
          <p:cNvSpPr/>
          <p:nvPr/>
        </p:nvSpPr>
        <p:spPr>
          <a:xfrm>
            <a:off x="8046720" y="4645152"/>
            <a:ext cx="1826263" cy="329184"/>
          </a:xfrm>
          <a:prstGeom prst="rect">
            <a:avLst/>
          </a:prstGeom>
          <a:solidFill>
            <a:schemeClr val="accent1"/>
          </a:solidFill>
          <a:ln w="12700">
            <a:solidFill>
              <a:schemeClr val="accent1"/>
            </a:solidFill>
            <a:prstDash val="solid"/>
          </a:ln>
        </p:spPr>
      </p:sp>
      <p:sp>
        <p:nvSpPr>
          <p:cNvPr id="13" name="Share segment 195"/>
          <p:cNvSpPr/>
          <p:nvPr/>
        </p:nvSpPr>
        <p:spPr>
          <a:xfrm>
            <a:off x="9872983" y="4645152"/>
            <a:ext cx="798949" cy="329184"/>
          </a:xfrm>
          <a:prstGeom prst="rect">
            <a:avLst/>
          </a:prstGeom>
          <a:solidFill>
            <a:schemeClr val="accent4"/>
          </a:solidFill>
          <a:ln w="12700">
            <a:solidFill>
              <a:schemeClr val="accent4"/>
            </a:solidFill>
            <a:prstDash val="solid"/>
          </a:ln>
        </p:spPr>
      </p:sp>
      <p:sp>
        <p:nvSpPr>
          <p:cNvPr id="14" name="Share segment 196"/>
          <p:cNvSpPr/>
          <p:nvPr/>
        </p:nvSpPr>
        <p:spPr>
          <a:xfrm>
            <a:off x="10671932" y="4645152"/>
            <a:ext cx="694060" cy="329184"/>
          </a:xfrm>
          <a:prstGeom prst="rect">
            <a:avLst/>
          </a:prstGeom>
          <a:solidFill>
            <a:schemeClr val="accent6"/>
          </a:solidFill>
          <a:ln w="12700">
            <a:solidFill>
              <a:schemeClr val="accent6"/>
            </a:solidFill>
            <a:prstDash val="solid"/>
          </a:ln>
        </p:spPr>
      </p:sp>
      <p:sp>
        <p:nvSpPr>
          <p:cNvPr id="15" name="Legend swatch 197"/>
          <p:cNvSpPr/>
          <p:nvPr/>
        </p:nvSpPr>
        <p:spPr>
          <a:xfrm>
            <a:off x="8046720" y="5184648"/>
            <a:ext cx="146304" cy="146304"/>
          </a:xfrm>
          <a:prstGeom prst="rect">
            <a:avLst/>
          </a:prstGeom>
          <a:solidFill>
            <a:schemeClr val="accent1"/>
          </a:solidFill>
          <a:ln w="12700">
            <a:solidFill>
              <a:schemeClr val="accent1"/>
            </a:solidFill>
            <a:prstDash val="solid"/>
          </a:ln>
        </p:spPr>
      </p:sp>
      <p:sp>
        <p:nvSpPr>
          <p:cNvPr id="16" name="Legend Month-to-month 198"/>
          <p:cNvSpPr txBox="1"/>
          <p:nvPr/>
        </p:nvSpPr>
        <p:spPr>
          <a:xfrm>
            <a:off x="8302752" y="5120640"/>
            <a:ext cx="3108960" cy="274320"/>
          </a:xfrm>
          <a:prstGeom prst="rect">
            <a:avLst/>
          </a:prstGeom>
          <a:noFill/>
          <a:ln/>
        </p:spPr>
        <p:txBody>
          <a:bodyPr wrap="square" lIns="0" tIns="0" rIns="0" bIns="0" rtlCol="0" anchor="ctr"/>
          <a:lstStyle/>
          <a:p>
            <a:pPr marL="0" indent="0">
              <a:buNone/>
            </a:pPr>
            <a:r>
              <a:rPr lang="en-US" sz="1300" dirty="0">
                <a:solidFill>
                  <a:schemeClr val="tx1"/>
                </a:solidFill>
              </a:rPr>
              <a:t>Month-to-month   </a:t>
            </a:r>
            <a:r>
              <a:rPr lang="en-US" sz="1300" b="1" dirty="0">
                <a:solidFill>
                  <a:schemeClr val="tx2"/>
                </a:solidFill>
              </a:rPr>
              <a:t>55.02%</a:t>
            </a:r>
            <a:endParaRPr lang="en-US" sz="1300" dirty="0"/>
          </a:p>
        </p:txBody>
      </p:sp>
      <p:sp>
        <p:nvSpPr>
          <p:cNvPr id="17" name="Legend swatch 199"/>
          <p:cNvSpPr/>
          <p:nvPr/>
        </p:nvSpPr>
        <p:spPr>
          <a:xfrm>
            <a:off x="8046720" y="5477256"/>
            <a:ext cx="146304" cy="146304"/>
          </a:xfrm>
          <a:prstGeom prst="rect">
            <a:avLst/>
          </a:prstGeom>
          <a:solidFill>
            <a:schemeClr val="accent4"/>
          </a:solidFill>
          <a:ln w="12700">
            <a:solidFill>
              <a:schemeClr val="accent4"/>
            </a:solidFill>
            <a:prstDash val="solid"/>
          </a:ln>
        </p:spPr>
      </p:sp>
      <p:sp>
        <p:nvSpPr>
          <p:cNvPr id="18" name="Legend Two year 200"/>
          <p:cNvSpPr txBox="1"/>
          <p:nvPr/>
        </p:nvSpPr>
        <p:spPr>
          <a:xfrm>
            <a:off x="8302752" y="5413248"/>
            <a:ext cx="3108960" cy="274320"/>
          </a:xfrm>
          <a:prstGeom prst="rect">
            <a:avLst/>
          </a:prstGeom>
          <a:noFill/>
          <a:ln/>
        </p:spPr>
        <p:txBody>
          <a:bodyPr wrap="square" lIns="0" tIns="0" rIns="0" bIns="0" rtlCol="0" anchor="ctr"/>
          <a:lstStyle/>
          <a:p>
            <a:pPr marL="0" indent="0">
              <a:buNone/>
            </a:pPr>
            <a:r>
              <a:rPr lang="en-US" sz="1300" dirty="0">
                <a:solidFill>
                  <a:schemeClr val="tx1"/>
                </a:solidFill>
              </a:rPr>
              <a:t>Two year   </a:t>
            </a:r>
            <a:r>
              <a:rPr lang="en-US" sz="1300" b="1" dirty="0">
                <a:solidFill>
                  <a:schemeClr val="tx2"/>
                </a:solidFill>
              </a:rPr>
              <a:t>24.07%</a:t>
            </a:r>
            <a:endParaRPr lang="en-US" sz="1300" dirty="0"/>
          </a:p>
        </p:txBody>
      </p:sp>
      <p:sp>
        <p:nvSpPr>
          <p:cNvPr id="19" name="Legend swatch 201"/>
          <p:cNvSpPr/>
          <p:nvPr/>
        </p:nvSpPr>
        <p:spPr>
          <a:xfrm>
            <a:off x="8046720" y="5769864"/>
            <a:ext cx="146304" cy="146304"/>
          </a:xfrm>
          <a:prstGeom prst="rect">
            <a:avLst/>
          </a:prstGeom>
          <a:solidFill>
            <a:schemeClr val="accent6"/>
          </a:solidFill>
          <a:ln w="12700">
            <a:solidFill>
              <a:schemeClr val="accent6"/>
            </a:solidFill>
            <a:prstDash val="solid"/>
          </a:ln>
        </p:spPr>
      </p:sp>
      <p:sp>
        <p:nvSpPr>
          <p:cNvPr id="20" name="Legend One year 202"/>
          <p:cNvSpPr txBox="1"/>
          <p:nvPr/>
        </p:nvSpPr>
        <p:spPr>
          <a:xfrm>
            <a:off x="8302752" y="5705856"/>
            <a:ext cx="3108960" cy="274320"/>
          </a:xfrm>
          <a:prstGeom prst="rect">
            <a:avLst/>
          </a:prstGeom>
          <a:noFill/>
          <a:ln/>
        </p:spPr>
        <p:txBody>
          <a:bodyPr wrap="square" lIns="0" tIns="0" rIns="0" bIns="0" rtlCol="0" anchor="ctr"/>
          <a:lstStyle/>
          <a:p>
            <a:pPr marL="0" indent="0">
              <a:buNone/>
            </a:pPr>
            <a:r>
              <a:rPr lang="en-US" sz="1300" dirty="0">
                <a:solidFill>
                  <a:schemeClr val="tx1"/>
                </a:solidFill>
              </a:rPr>
              <a:t>One year   </a:t>
            </a:r>
            <a:r>
              <a:rPr lang="en-US" sz="1300" b="1" dirty="0">
                <a:solidFill>
                  <a:schemeClr val="tx2"/>
                </a:solidFill>
              </a:rPr>
              <a:t>20.91%</a:t>
            </a:r>
            <a:endParaRPr lang="en-US" sz="1300" dirty="0"/>
          </a:p>
        </p:txBody>
      </p:sp>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79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685800"/>
          </a:xfrm>
          <a:prstGeom prst="rect">
            <a:avLst/>
          </a:prstGeom>
          <a:noFill/>
          <a:ln/>
        </p:spPr>
        <p:txBody>
          <a:bodyPr wrap="square" lIns="0" tIns="0" rIns="0" bIns="0" rtlCol="0" anchor="ctr"/>
          <a:lstStyle/>
          <a:p>
            <a:pPr marL="0" indent="0" algn="l">
              <a:buNone/>
            </a:pPr>
            <a:r>
              <a:rPr lang="en-US" sz="3400" b="1" dirty="0">
                <a:solidFill>
                  <a:schemeClr val="tx2"/>
                </a:solidFill>
              </a:rPr>
              <a:t>Analysis 2: internet service and payment</a:t>
            </a:r>
            <a:endParaRPr lang="en-US" sz="3400" dirty="0"/>
          </a:p>
        </p:txBody>
      </p:sp>
      <p:sp>
        <p:nvSpPr>
          <p:cNvPr id="3" name="Text 0"/>
          <p:cNvSpPr>
            <a:spLocks noGrp="1"/>
          </p:cNvSpPr>
          <p:nvPr>
            <p:ph type="body" idx="101" hasCustomPrompt="1"/>
          </p:nvPr>
        </p:nvSpPr>
        <p:spPr>
          <a:xfrm>
            <a:off x="548640" y="1051560"/>
            <a:ext cx="11091672" cy="365760"/>
          </a:xfrm>
          <a:prstGeom prst="rect">
            <a:avLst/>
          </a:prstGeom>
          <a:noFill/>
          <a:ln/>
        </p:spPr>
        <p:txBody>
          <a:bodyPr wrap="square" lIns="0" tIns="0" rIns="0" bIns="0" rtlCol="0" anchor="ctr"/>
          <a:lstStyle/>
          <a:p>
            <a:pPr marL="0" indent="0" algn="l">
              <a:buNone/>
            </a:pPr>
            <a:r>
              <a:rPr lang="en-US" sz="1600" dirty="0">
                <a:solidFill>
                  <a:schemeClr val="accent5"/>
                </a:solidFill>
              </a:rPr>
              <a:t>Purpose: compare churn across internet service types and payment methods</a:t>
            </a:r>
            <a:endParaRPr lang="en-US" sz="1600" dirty="0"/>
          </a:p>
        </p:txBody>
      </p:sp>
      <p:sp>
        <p:nvSpPr>
          <p:cNvPr id="4" name="Chart card 203"/>
          <p:cNvSpPr/>
          <p:nvPr/>
        </p:nvSpPr>
        <p:spPr>
          <a:xfrm>
            <a:off x="548640" y="1691640"/>
            <a:ext cx="5362956" cy="3383280"/>
          </a:xfrm>
          <a:prstGeom prst="roundRect">
            <a:avLst>
              <a:gd name="adj" fmla="val 3784"/>
            </a:avLst>
          </a:prstGeom>
          <a:solidFill>
            <a:schemeClr val="bg2"/>
          </a:solidFill>
          <a:ln w="12700">
            <a:solidFill>
              <a:schemeClr val="bg2"/>
            </a:solidFill>
            <a:prstDash val="solid"/>
          </a:ln>
        </p:spPr>
      </p:sp>
      <p:sp>
        <p:nvSpPr>
          <p:cNvPr id="5" name="Card title 204"/>
          <p:cNvSpPr txBox="1"/>
          <p:nvPr/>
        </p:nvSpPr>
        <p:spPr>
          <a:xfrm>
            <a:off x="822960" y="1810512"/>
            <a:ext cx="4814316" cy="320040"/>
          </a:xfrm>
          <a:prstGeom prst="rect">
            <a:avLst/>
          </a:prstGeom>
          <a:noFill/>
          <a:ln/>
        </p:spPr>
        <p:txBody>
          <a:bodyPr wrap="square" lIns="0" tIns="0" rIns="0" bIns="0" rtlCol="0" anchor="t"/>
          <a:lstStyle/>
          <a:p>
            <a:pPr marL="0" indent="0">
              <a:buNone/>
            </a:pPr>
            <a:r>
              <a:rPr lang="en-US" sz="1600" b="1" dirty="0">
                <a:solidFill>
                  <a:schemeClr val="tx2"/>
                </a:solidFill>
              </a:rPr>
              <a:t>Churn rate by internet service</a:t>
            </a:r>
            <a:endParaRPr lang="en-US" sz="1600" dirty="0"/>
          </a:p>
        </p:txBody>
      </p:sp>
      <p:graphicFrame>
        <p:nvGraphicFramePr>
          <p:cNvPr id="6" name="Chart 0" descr="Bar chart of churn rate by internet service: fiber optic 41.9%, DSL 19.0%, no internet service 7.4%"/>
          <p:cNvGraphicFramePr/>
          <p:nvPr/>
        </p:nvGraphicFramePr>
        <p:xfrm>
          <a:off x="685800" y="2194560"/>
          <a:ext cx="5088636"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7" name="Chart card 205"/>
          <p:cNvSpPr/>
          <p:nvPr/>
        </p:nvSpPr>
        <p:spPr>
          <a:xfrm>
            <a:off x="6277356" y="1691640"/>
            <a:ext cx="5362956" cy="3383280"/>
          </a:xfrm>
          <a:prstGeom prst="roundRect">
            <a:avLst>
              <a:gd name="adj" fmla="val 3784"/>
            </a:avLst>
          </a:prstGeom>
          <a:solidFill>
            <a:schemeClr val="bg2"/>
          </a:solidFill>
          <a:ln w="12700">
            <a:solidFill>
              <a:schemeClr val="bg2"/>
            </a:solidFill>
            <a:prstDash val="solid"/>
          </a:ln>
        </p:spPr>
      </p:sp>
      <p:sp>
        <p:nvSpPr>
          <p:cNvPr id="8" name="Card title 206"/>
          <p:cNvSpPr txBox="1"/>
          <p:nvPr/>
        </p:nvSpPr>
        <p:spPr>
          <a:xfrm>
            <a:off x="6551676" y="1810512"/>
            <a:ext cx="4814316" cy="320040"/>
          </a:xfrm>
          <a:prstGeom prst="rect">
            <a:avLst/>
          </a:prstGeom>
          <a:noFill/>
          <a:ln/>
        </p:spPr>
        <p:txBody>
          <a:bodyPr wrap="square" lIns="0" tIns="0" rIns="0" bIns="0" rtlCol="0" anchor="t"/>
          <a:lstStyle/>
          <a:p>
            <a:pPr marL="0" indent="0">
              <a:buNone/>
            </a:pPr>
            <a:r>
              <a:rPr lang="en-US" sz="1600" b="1" dirty="0">
                <a:solidFill>
                  <a:schemeClr val="tx2"/>
                </a:solidFill>
              </a:rPr>
              <a:t>Churn rate by payment method</a:t>
            </a:r>
            <a:endParaRPr lang="en-US" sz="1600" dirty="0"/>
          </a:p>
        </p:txBody>
      </p:sp>
      <p:graphicFrame>
        <p:nvGraphicFramePr>
          <p:cNvPr id="9" name="Chart 1" descr="Bar chart of churn rate by payment method: electronic check 45.3%, mailed check 19.1%, bank transfer 16.7%, credit card 15.2%"/>
          <p:cNvGraphicFramePr/>
          <p:nvPr/>
        </p:nvGraphicFramePr>
        <p:xfrm>
          <a:off x="6414516" y="2194560"/>
          <a:ext cx="5088636"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10" name="Takeaway 207"/>
          <p:cNvSpPr/>
          <p:nvPr/>
        </p:nvSpPr>
        <p:spPr>
          <a:xfrm>
            <a:off x="548640" y="5303520"/>
            <a:ext cx="5362956" cy="868680"/>
          </a:xfrm>
          <a:prstGeom prst="roundRect">
            <a:avLst>
              <a:gd name="adj" fmla="val 14737"/>
            </a:avLst>
          </a:prstGeom>
          <a:solidFill>
            <a:srgbClr val="16264F"/>
          </a:solidFill>
          <a:ln w="12700">
            <a:solidFill>
              <a:srgbClr val="16264F"/>
            </a:solidFill>
            <a:prstDash val="solid"/>
          </a:ln>
        </p:spPr>
      </p:sp>
      <p:sp>
        <p:nvSpPr>
          <p:cNvPr id="11" name="Takeaway stat 208"/>
          <p:cNvSpPr txBox="1"/>
          <p:nvPr/>
        </p:nvSpPr>
        <p:spPr>
          <a:xfrm>
            <a:off x="822960" y="5303520"/>
            <a:ext cx="1463040" cy="868680"/>
          </a:xfrm>
          <a:prstGeom prst="rect">
            <a:avLst/>
          </a:prstGeom>
          <a:noFill/>
          <a:ln/>
        </p:spPr>
        <p:txBody>
          <a:bodyPr wrap="square" lIns="0" tIns="0" rIns="0" bIns="0" rtlCol="0" anchor="ctr"/>
          <a:lstStyle/>
          <a:p>
            <a:pPr marL="0" indent="0">
              <a:buNone/>
            </a:pPr>
            <a:r>
              <a:rPr lang="en-US" sz="3600" b="1" dirty="0">
                <a:solidFill>
                  <a:schemeClr val="accent1"/>
                </a:solidFill>
              </a:rPr>
              <a:t>2×+</a:t>
            </a:r>
            <a:endParaRPr lang="en-US" sz="3600" dirty="0"/>
          </a:p>
        </p:txBody>
      </p:sp>
      <p:sp>
        <p:nvSpPr>
          <p:cNvPr id="12" name="Takeaway text 209"/>
          <p:cNvSpPr txBox="1"/>
          <p:nvPr/>
        </p:nvSpPr>
        <p:spPr>
          <a:xfrm>
            <a:off x="2331720" y="5303520"/>
            <a:ext cx="3351276" cy="868680"/>
          </a:xfrm>
          <a:prstGeom prst="rect">
            <a:avLst/>
          </a:prstGeom>
          <a:noFill/>
          <a:ln/>
        </p:spPr>
        <p:txBody>
          <a:bodyPr wrap="square" lIns="0" tIns="0" rIns="0" bIns="0" rtlCol="0" anchor="ctr"/>
          <a:lstStyle/>
          <a:p>
            <a:pPr marL="0" indent="0">
              <a:buNone/>
            </a:pPr>
            <a:r>
              <a:rPr lang="en-US" sz="1500" dirty="0">
                <a:solidFill>
                  <a:schemeClr val="bg1"/>
                </a:solidFill>
              </a:rPr>
              <a:t>Fiber optic churn is more than double DSL</a:t>
            </a:r>
            <a:endParaRPr lang="en-US" sz="1500" dirty="0"/>
          </a:p>
        </p:txBody>
      </p:sp>
      <p:sp>
        <p:nvSpPr>
          <p:cNvPr id="13" name="Takeaway 210"/>
          <p:cNvSpPr/>
          <p:nvPr/>
        </p:nvSpPr>
        <p:spPr>
          <a:xfrm>
            <a:off x="6277356" y="5303520"/>
            <a:ext cx="5362956" cy="868680"/>
          </a:xfrm>
          <a:prstGeom prst="roundRect">
            <a:avLst>
              <a:gd name="adj" fmla="val 14737"/>
            </a:avLst>
          </a:prstGeom>
          <a:solidFill>
            <a:srgbClr val="16264F"/>
          </a:solidFill>
          <a:ln w="12700">
            <a:solidFill>
              <a:srgbClr val="16264F"/>
            </a:solidFill>
            <a:prstDash val="solid"/>
          </a:ln>
        </p:spPr>
      </p:sp>
      <p:sp>
        <p:nvSpPr>
          <p:cNvPr id="14" name="Takeaway stat 211"/>
          <p:cNvSpPr txBox="1"/>
          <p:nvPr/>
        </p:nvSpPr>
        <p:spPr>
          <a:xfrm>
            <a:off x="6551676" y="5303520"/>
            <a:ext cx="1463040" cy="868680"/>
          </a:xfrm>
          <a:prstGeom prst="rect">
            <a:avLst/>
          </a:prstGeom>
          <a:noFill/>
          <a:ln/>
        </p:spPr>
        <p:txBody>
          <a:bodyPr wrap="square" lIns="0" tIns="0" rIns="0" bIns="0" rtlCol="0" anchor="ctr"/>
          <a:lstStyle/>
          <a:p>
            <a:pPr marL="0" indent="0">
              <a:buNone/>
            </a:pPr>
            <a:r>
              <a:rPr lang="en-US" sz="3600" b="1" dirty="0">
                <a:solidFill>
                  <a:schemeClr val="accent1"/>
                </a:solidFill>
              </a:rPr>
              <a:t>~3×</a:t>
            </a:r>
            <a:endParaRPr lang="en-US" sz="3600" dirty="0"/>
          </a:p>
        </p:txBody>
      </p:sp>
      <p:sp>
        <p:nvSpPr>
          <p:cNvPr id="15" name="Takeaway text 212"/>
          <p:cNvSpPr txBox="1"/>
          <p:nvPr/>
        </p:nvSpPr>
        <p:spPr>
          <a:xfrm>
            <a:off x="8060436" y="5303520"/>
            <a:ext cx="3351276" cy="868680"/>
          </a:xfrm>
          <a:prstGeom prst="rect">
            <a:avLst/>
          </a:prstGeom>
          <a:noFill/>
          <a:ln/>
        </p:spPr>
        <p:txBody>
          <a:bodyPr wrap="square" lIns="0" tIns="0" rIns="0" bIns="0" rtlCol="0" anchor="ctr"/>
          <a:lstStyle/>
          <a:p>
            <a:pPr marL="0" indent="0">
              <a:buNone/>
            </a:pPr>
            <a:r>
              <a:rPr lang="en-US" sz="1500" dirty="0">
                <a:solidFill>
                  <a:schemeClr val="bg1"/>
                </a:solidFill>
              </a:rPr>
              <a:t>Electronic check churn is nearly three times credit card churn</a:t>
            </a:r>
            <a:endParaRPr lang="en-US" sz="1500" dirty="0"/>
          </a:p>
        </p:txBody>
      </p:sp>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79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685800"/>
          </a:xfrm>
          <a:prstGeom prst="rect">
            <a:avLst/>
          </a:prstGeom>
          <a:noFill/>
          <a:ln/>
        </p:spPr>
        <p:txBody>
          <a:bodyPr wrap="square" lIns="0" tIns="0" rIns="0" bIns="0" rtlCol="0" anchor="ctr"/>
          <a:lstStyle/>
          <a:p>
            <a:pPr marL="0" indent="0" algn="l">
              <a:buNone/>
            </a:pPr>
            <a:r>
              <a:rPr lang="en-US" sz="3400" b="1" dirty="0">
                <a:solidFill>
                  <a:schemeClr val="tx2"/>
                </a:solidFill>
              </a:rPr>
              <a:t>Analysis 3: tenure and tech support</a:t>
            </a:r>
            <a:endParaRPr lang="en-US" sz="3400" dirty="0"/>
          </a:p>
        </p:txBody>
      </p:sp>
      <p:sp>
        <p:nvSpPr>
          <p:cNvPr id="3" name="Text 0"/>
          <p:cNvSpPr>
            <a:spLocks noGrp="1"/>
          </p:cNvSpPr>
          <p:nvPr>
            <p:ph type="body" idx="101" hasCustomPrompt="1"/>
          </p:nvPr>
        </p:nvSpPr>
        <p:spPr>
          <a:xfrm>
            <a:off x="548640" y="1051560"/>
            <a:ext cx="11091672" cy="365760"/>
          </a:xfrm>
          <a:prstGeom prst="rect">
            <a:avLst/>
          </a:prstGeom>
          <a:noFill/>
          <a:ln/>
        </p:spPr>
        <p:txBody>
          <a:bodyPr wrap="square" lIns="0" tIns="0" rIns="0" bIns="0" rtlCol="0" anchor="ctr"/>
          <a:lstStyle/>
          <a:p>
            <a:pPr marL="0" indent="0" algn="l">
              <a:buNone/>
            </a:pPr>
            <a:r>
              <a:rPr lang="en-US" sz="1600" dirty="0">
                <a:solidFill>
                  <a:schemeClr val="accent5"/>
                </a:solidFill>
              </a:rPr>
              <a:t>Purpose: test whether customer loyalty over time and add-on support are linked to churn</a:t>
            </a:r>
            <a:endParaRPr lang="en-US" sz="1600" dirty="0"/>
          </a:p>
        </p:txBody>
      </p:sp>
      <p:sp>
        <p:nvSpPr>
          <p:cNvPr id="4" name="Chart card 213"/>
          <p:cNvSpPr/>
          <p:nvPr/>
        </p:nvSpPr>
        <p:spPr>
          <a:xfrm>
            <a:off x="548640" y="1691640"/>
            <a:ext cx="5362956" cy="3383280"/>
          </a:xfrm>
          <a:prstGeom prst="roundRect">
            <a:avLst>
              <a:gd name="adj" fmla="val 3784"/>
            </a:avLst>
          </a:prstGeom>
          <a:solidFill>
            <a:schemeClr val="bg2"/>
          </a:solidFill>
          <a:ln w="12700">
            <a:solidFill>
              <a:schemeClr val="bg2"/>
            </a:solidFill>
            <a:prstDash val="solid"/>
          </a:ln>
        </p:spPr>
      </p:sp>
      <p:sp>
        <p:nvSpPr>
          <p:cNvPr id="5" name="Card title 214"/>
          <p:cNvSpPr txBox="1"/>
          <p:nvPr/>
        </p:nvSpPr>
        <p:spPr>
          <a:xfrm>
            <a:off x="822960" y="1810512"/>
            <a:ext cx="4814316" cy="320040"/>
          </a:xfrm>
          <a:prstGeom prst="rect">
            <a:avLst/>
          </a:prstGeom>
          <a:noFill/>
          <a:ln/>
        </p:spPr>
        <p:txBody>
          <a:bodyPr wrap="square" lIns="0" tIns="0" rIns="0" bIns="0" rtlCol="0" anchor="t"/>
          <a:lstStyle/>
          <a:p>
            <a:pPr marL="0" indent="0">
              <a:buNone/>
            </a:pPr>
            <a:r>
              <a:rPr lang="en-US" sz="1600" b="1" dirty="0">
                <a:solidFill>
                  <a:schemeClr val="tx2"/>
                </a:solidFill>
              </a:rPr>
              <a:t>Churn rate by tenure group (months)</a:t>
            </a:r>
            <a:endParaRPr lang="en-US" sz="1600" dirty="0"/>
          </a:p>
        </p:txBody>
      </p:sp>
      <p:graphicFrame>
        <p:nvGraphicFramePr>
          <p:cNvPr id="6" name="Chart 0" descr="Line chart of churn rate by tenure: 47.4%, 28.7%, 20.4%, 9.5%"/>
          <p:cNvGraphicFramePr/>
          <p:nvPr/>
        </p:nvGraphicFramePr>
        <p:xfrm>
          <a:off x="685800" y="2194560"/>
          <a:ext cx="5088636"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7" name="Chart card 215"/>
          <p:cNvSpPr/>
          <p:nvPr/>
        </p:nvSpPr>
        <p:spPr>
          <a:xfrm>
            <a:off x="6277356" y="1691640"/>
            <a:ext cx="5362956" cy="3383280"/>
          </a:xfrm>
          <a:prstGeom prst="roundRect">
            <a:avLst>
              <a:gd name="adj" fmla="val 3784"/>
            </a:avLst>
          </a:prstGeom>
          <a:solidFill>
            <a:schemeClr val="bg2"/>
          </a:solidFill>
          <a:ln w="12700">
            <a:solidFill>
              <a:schemeClr val="bg2"/>
            </a:solidFill>
            <a:prstDash val="solid"/>
          </a:ln>
        </p:spPr>
      </p:sp>
      <p:sp>
        <p:nvSpPr>
          <p:cNvPr id="8" name="Card title 216"/>
          <p:cNvSpPr txBox="1"/>
          <p:nvPr/>
        </p:nvSpPr>
        <p:spPr>
          <a:xfrm>
            <a:off x="6551676" y="1810512"/>
            <a:ext cx="4814316" cy="320040"/>
          </a:xfrm>
          <a:prstGeom prst="rect">
            <a:avLst/>
          </a:prstGeom>
          <a:noFill/>
          <a:ln/>
        </p:spPr>
        <p:txBody>
          <a:bodyPr wrap="square" lIns="0" tIns="0" rIns="0" bIns="0" rtlCol="0" anchor="t"/>
          <a:lstStyle/>
          <a:p>
            <a:pPr marL="0" indent="0">
              <a:buNone/>
            </a:pPr>
            <a:r>
              <a:rPr lang="en-US" sz="1600" b="1" dirty="0">
                <a:solidFill>
                  <a:schemeClr val="tx2"/>
                </a:solidFill>
              </a:rPr>
              <a:t>Churn rate by tech support</a:t>
            </a:r>
            <a:endParaRPr lang="en-US" sz="1600" dirty="0"/>
          </a:p>
        </p:txBody>
      </p:sp>
      <p:graphicFrame>
        <p:nvGraphicFramePr>
          <p:cNvPr id="9" name="Chart 1" descr="Bar chart of churn rate by tech support: no tech support 41.6%, has tech support 15.2%, no internet service 7.4%"/>
          <p:cNvGraphicFramePr/>
          <p:nvPr/>
        </p:nvGraphicFramePr>
        <p:xfrm>
          <a:off x="6414516" y="2194560"/>
          <a:ext cx="5088636"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10" name="Takeaway 217"/>
          <p:cNvSpPr/>
          <p:nvPr/>
        </p:nvSpPr>
        <p:spPr>
          <a:xfrm>
            <a:off x="548640" y="5303520"/>
            <a:ext cx="5362956" cy="868680"/>
          </a:xfrm>
          <a:prstGeom prst="roundRect">
            <a:avLst>
              <a:gd name="adj" fmla="val 14737"/>
            </a:avLst>
          </a:prstGeom>
          <a:solidFill>
            <a:srgbClr val="16264F"/>
          </a:solidFill>
          <a:ln w="12700">
            <a:solidFill>
              <a:srgbClr val="16264F"/>
            </a:solidFill>
            <a:prstDash val="solid"/>
          </a:ln>
        </p:spPr>
      </p:sp>
      <p:sp>
        <p:nvSpPr>
          <p:cNvPr id="11" name="Takeaway stat 218"/>
          <p:cNvSpPr txBox="1"/>
          <p:nvPr/>
        </p:nvSpPr>
        <p:spPr>
          <a:xfrm>
            <a:off x="822960" y="5303520"/>
            <a:ext cx="2651760" cy="868680"/>
          </a:xfrm>
          <a:prstGeom prst="rect">
            <a:avLst/>
          </a:prstGeom>
          <a:noFill/>
          <a:ln/>
        </p:spPr>
        <p:txBody>
          <a:bodyPr wrap="square" lIns="0" tIns="0" rIns="0" bIns="0" rtlCol="0" anchor="ctr"/>
          <a:lstStyle/>
          <a:p>
            <a:pPr marL="0" indent="0">
              <a:buNone/>
            </a:pPr>
            <a:r>
              <a:rPr lang="en-US" sz="2800" b="1" dirty="0">
                <a:solidFill>
                  <a:schemeClr val="accent1"/>
                </a:solidFill>
              </a:rPr>
              <a:t>47.4% → 9.5%</a:t>
            </a:r>
            <a:endParaRPr lang="en-US" sz="2800" dirty="0"/>
          </a:p>
        </p:txBody>
      </p:sp>
      <p:sp>
        <p:nvSpPr>
          <p:cNvPr id="12" name="Takeaway text 219"/>
          <p:cNvSpPr txBox="1"/>
          <p:nvPr/>
        </p:nvSpPr>
        <p:spPr>
          <a:xfrm>
            <a:off x="3566160" y="5303520"/>
            <a:ext cx="2071116" cy="868680"/>
          </a:xfrm>
          <a:prstGeom prst="rect">
            <a:avLst/>
          </a:prstGeom>
          <a:noFill/>
          <a:ln/>
        </p:spPr>
        <p:txBody>
          <a:bodyPr wrap="square" lIns="0" tIns="0" rIns="0" bIns="0" rtlCol="0" anchor="ctr"/>
          <a:lstStyle/>
          <a:p>
            <a:pPr marL="0" indent="0">
              <a:buNone/>
            </a:pPr>
            <a:r>
              <a:rPr lang="en-US" sz="1500" dirty="0">
                <a:solidFill>
                  <a:schemeClr val="bg1"/>
                </a:solidFill>
              </a:rPr>
              <a:t>Churn falls from 47.4% in year one to 9.5% after four years</a:t>
            </a:r>
            <a:endParaRPr lang="en-US" sz="1500" dirty="0"/>
          </a:p>
        </p:txBody>
      </p:sp>
      <p:sp>
        <p:nvSpPr>
          <p:cNvPr id="13" name="Takeaway 220"/>
          <p:cNvSpPr/>
          <p:nvPr/>
        </p:nvSpPr>
        <p:spPr>
          <a:xfrm>
            <a:off x="6277356" y="5303520"/>
            <a:ext cx="5362956" cy="868680"/>
          </a:xfrm>
          <a:prstGeom prst="roundRect">
            <a:avLst>
              <a:gd name="adj" fmla="val 14737"/>
            </a:avLst>
          </a:prstGeom>
          <a:solidFill>
            <a:srgbClr val="16264F"/>
          </a:solidFill>
          <a:ln w="12700">
            <a:solidFill>
              <a:srgbClr val="16264F"/>
            </a:solidFill>
            <a:prstDash val="solid"/>
          </a:ln>
        </p:spPr>
      </p:sp>
      <p:sp>
        <p:nvSpPr>
          <p:cNvPr id="14" name="Takeaway stat 221"/>
          <p:cNvSpPr txBox="1"/>
          <p:nvPr/>
        </p:nvSpPr>
        <p:spPr>
          <a:xfrm>
            <a:off x="6551676" y="5303520"/>
            <a:ext cx="1463040" cy="868680"/>
          </a:xfrm>
          <a:prstGeom prst="rect">
            <a:avLst/>
          </a:prstGeom>
          <a:noFill/>
          <a:ln/>
        </p:spPr>
        <p:txBody>
          <a:bodyPr wrap="square" lIns="0" tIns="0" rIns="0" bIns="0" rtlCol="0" anchor="ctr"/>
          <a:lstStyle/>
          <a:p>
            <a:pPr marL="0" indent="0">
              <a:buNone/>
            </a:pPr>
            <a:r>
              <a:rPr lang="en-US" sz="3600" b="1" dirty="0">
                <a:solidFill>
                  <a:schemeClr val="accent1"/>
                </a:solidFill>
              </a:rPr>
              <a:t>2.7×</a:t>
            </a:r>
            <a:endParaRPr lang="en-US" sz="3600" dirty="0"/>
          </a:p>
        </p:txBody>
      </p:sp>
      <p:sp>
        <p:nvSpPr>
          <p:cNvPr id="15" name="Takeaway text 222"/>
          <p:cNvSpPr txBox="1"/>
          <p:nvPr/>
        </p:nvSpPr>
        <p:spPr>
          <a:xfrm>
            <a:off x="8106156" y="5303520"/>
            <a:ext cx="3259836" cy="868680"/>
          </a:xfrm>
          <a:prstGeom prst="rect">
            <a:avLst/>
          </a:prstGeom>
          <a:noFill/>
          <a:ln/>
        </p:spPr>
        <p:txBody>
          <a:bodyPr wrap="square" lIns="0" tIns="0" rIns="0" bIns="0" rtlCol="0" anchor="ctr"/>
          <a:lstStyle/>
          <a:p>
            <a:pPr marL="0" indent="0">
              <a:buNone/>
            </a:pPr>
            <a:r>
              <a:rPr lang="en-US" sz="1500" dirty="0">
                <a:solidFill>
                  <a:schemeClr val="bg1"/>
                </a:solidFill>
              </a:rPr>
              <a:t>Without tech support, churn is about 2.7 times higher</a:t>
            </a:r>
            <a:endParaRPr lang="en-US" sz="1500" dirty="0"/>
          </a:p>
        </p:txBody>
      </p:sp>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79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685800"/>
          </a:xfrm>
          <a:prstGeom prst="rect">
            <a:avLst/>
          </a:prstGeom>
          <a:noFill/>
          <a:ln/>
        </p:spPr>
        <p:txBody>
          <a:bodyPr wrap="square" lIns="0" tIns="0" rIns="0" bIns="0" rtlCol="0" anchor="ctr"/>
          <a:lstStyle/>
          <a:p>
            <a:pPr marL="0" indent="0" algn="l">
              <a:buNone/>
            </a:pPr>
            <a:r>
              <a:rPr lang="en-US" sz="3400" b="1" dirty="0">
                <a:solidFill>
                  <a:schemeClr val="tx2"/>
                </a:solidFill>
              </a:rPr>
              <a:t>Power BI dashboard: four report pages</a:t>
            </a:r>
            <a:endParaRPr lang="en-US" sz="3400" dirty="0"/>
          </a:p>
        </p:txBody>
      </p:sp>
      <p:sp>
        <p:nvSpPr>
          <p:cNvPr id="3" name="Text 0"/>
          <p:cNvSpPr>
            <a:spLocks noGrp="1"/>
          </p:cNvSpPr>
          <p:nvPr>
            <p:ph type="body" idx="101" hasCustomPrompt="1"/>
          </p:nvPr>
        </p:nvSpPr>
        <p:spPr>
          <a:xfrm>
            <a:off x="548640" y="1051560"/>
            <a:ext cx="11091672" cy="365760"/>
          </a:xfrm>
          <a:prstGeom prst="rect">
            <a:avLst/>
          </a:prstGeom>
          <a:noFill/>
          <a:ln/>
        </p:spPr>
        <p:txBody>
          <a:bodyPr wrap="square" lIns="0" tIns="0" rIns="0" bIns="0" rtlCol="0" anchor="ctr"/>
          <a:lstStyle/>
          <a:p>
            <a:pPr marL="0" indent="0" algn="l">
              <a:buNone/>
            </a:pPr>
            <a:r>
              <a:rPr lang="en-US" sz="1600" dirty="0">
                <a:solidFill>
                  <a:schemeClr val="accent5"/>
                </a:solidFill>
              </a:rPr>
              <a:t>From churn_analysis_by_khush.pbix, redrawn from the report's visual settings</a:t>
            </a:r>
            <a:endParaRPr lang="en-US" sz="1600" dirty="0"/>
          </a:p>
        </p:txBody>
      </p:sp>
      <p:sp>
        <p:nvSpPr>
          <p:cNvPr id="4" name="Dashboard card 223"/>
          <p:cNvSpPr/>
          <p:nvPr/>
        </p:nvSpPr>
        <p:spPr>
          <a:xfrm>
            <a:off x="548640" y="1691640"/>
            <a:ext cx="5362956" cy="2148840"/>
          </a:xfrm>
          <a:prstGeom prst="roundRect">
            <a:avLst>
              <a:gd name="adj" fmla="val 5957"/>
            </a:avLst>
          </a:prstGeom>
          <a:solidFill>
            <a:schemeClr val="bg2"/>
          </a:solidFill>
          <a:ln w="12700">
            <a:solidFill>
              <a:schemeClr val="bg2"/>
            </a:solidFill>
            <a:prstDash val="solid"/>
          </a:ln>
        </p:spPr>
      </p:sp>
      <p:sp>
        <p:nvSpPr>
          <p:cNvPr id="5" name="Page tag 224"/>
          <p:cNvSpPr txBox="1"/>
          <p:nvPr/>
        </p:nvSpPr>
        <p:spPr>
          <a:xfrm>
            <a:off x="822960" y="1801368"/>
            <a:ext cx="4814316" cy="201168"/>
          </a:xfrm>
          <a:prstGeom prst="rect">
            <a:avLst/>
          </a:prstGeom>
          <a:noFill/>
          <a:ln/>
        </p:spPr>
        <p:txBody>
          <a:bodyPr wrap="square" lIns="0" tIns="0" rIns="0" bIns="0" rtlCol="0" anchor="t"/>
          <a:lstStyle/>
          <a:p>
            <a:pPr marL="0" indent="0">
              <a:buNone/>
            </a:pPr>
            <a:r>
              <a:rPr lang="en-US" sz="1000" b="1" kern="0" spc="200" dirty="0">
                <a:solidFill>
                  <a:schemeClr val="accent2"/>
                </a:solidFill>
              </a:rPr>
              <a:t>PAGE 1  |  CLUSTERED BAR</a:t>
            </a:r>
            <a:endParaRPr lang="en-US" sz="1000" dirty="0"/>
          </a:p>
        </p:txBody>
      </p:sp>
      <p:sp>
        <p:nvSpPr>
          <p:cNvPr id="6" name="Visual title 225"/>
          <p:cNvSpPr txBox="1"/>
          <p:nvPr/>
        </p:nvSpPr>
        <p:spPr>
          <a:xfrm>
            <a:off x="822960" y="2002536"/>
            <a:ext cx="4814316" cy="292608"/>
          </a:xfrm>
          <a:prstGeom prst="rect">
            <a:avLst/>
          </a:prstGeom>
          <a:noFill/>
          <a:ln/>
        </p:spPr>
        <p:txBody>
          <a:bodyPr wrap="square" lIns="0" tIns="0" rIns="0" bIns="0" rtlCol="0" anchor="t"/>
          <a:lstStyle/>
          <a:p>
            <a:pPr marL="0" indent="0">
              <a:buNone/>
            </a:pPr>
            <a:r>
              <a:rPr lang="en-US" sz="1500" b="1" dirty="0">
                <a:solidFill>
                  <a:schemeClr val="tx2"/>
                </a:solidFill>
              </a:rPr>
              <a:t>Churn rate by contract type</a:t>
            </a:r>
            <a:endParaRPr lang="en-US" sz="1500" dirty="0"/>
          </a:p>
        </p:txBody>
      </p:sp>
      <p:sp>
        <p:nvSpPr>
          <p:cNvPr id="7" name="Dashboard card 226"/>
          <p:cNvSpPr/>
          <p:nvPr/>
        </p:nvSpPr>
        <p:spPr>
          <a:xfrm>
            <a:off x="6277356" y="1691640"/>
            <a:ext cx="5362956" cy="2148840"/>
          </a:xfrm>
          <a:prstGeom prst="roundRect">
            <a:avLst>
              <a:gd name="adj" fmla="val 5957"/>
            </a:avLst>
          </a:prstGeom>
          <a:solidFill>
            <a:schemeClr val="bg2"/>
          </a:solidFill>
          <a:ln w="12700">
            <a:solidFill>
              <a:schemeClr val="bg2"/>
            </a:solidFill>
            <a:prstDash val="solid"/>
          </a:ln>
        </p:spPr>
      </p:sp>
      <p:sp>
        <p:nvSpPr>
          <p:cNvPr id="8" name="Page tag 227"/>
          <p:cNvSpPr txBox="1"/>
          <p:nvPr/>
        </p:nvSpPr>
        <p:spPr>
          <a:xfrm>
            <a:off x="6551676" y="1801368"/>
            <a:ext cx="4814316" cy="201168"/>
          </a:xfrm>
          <a:prstGeom prst="rect">
            <a:avLst/>
          </a:prstGeom>
          <a:noFill/>
          <a:ln/>
        </p:spPr>
        <p:txBody>
          <a:bodyPr wrap="square" lIns="0" tIns="0" rIns="0" bIns="0" rtlCol="0" anchor="t"/>
          <a:lstStyle/>
          <a:p>
            <a:pPr marL="0" indent="0">
              <a:buNone/>
            </a:pPr>
            <a:r>
              <a:rPr lang="en-US" sz="1000" b="1" kern="0" spc="200" dirty="0">
                <a:solidFill>
                  <a:schemeClr val="accent2"/>
                </a:solidFill>
              </a:rPr>
              <a:t>PAGE 2  |  PIE</a:t>
            </a:r>
            <a:endParaRPr lang="en-US" sz="1000" dirty="0"/>
          </a:p>
        </p:txBody>
      </p:sp>
      <p:sp>
        <p:nvSpPr>
          <p:cNvPr id="9" name="Visual title 228"/>
          <p:cNvSpPr txBox="1"/>
          <p:nvPr/>
        </p:nvSpPr>
        <p:spPr>
          <a:xfrm>
            <a:off x="6551676" y="2002536"/>
            <a:ext cx="4814316" cy="292608"/>
          </a:xfrm>
          <a:prstGeom prst="rect">
            <a:avLst/>
          </a:prstGeom>
          <a:noFill/>
          <a:ln/>
        </p:spPr>
        <p:txBody>
          <a:bodyPr wrap="square" lIns="0" tIns="0" rIns="0" bIns="0" rtlCol="0" anchor="t"/>
          <a:lstStyle/>
          <a:p>
            <a:pPr marL="0" indent="0">
              <a:buNone/>
            </a:pPr>
            <a:r>
              <a:rPr lang="en-US" sz="1500" b="1" dirty="0">
                <a:solidFill>
                  <a:schemeClr val="tx2"/>
                </a:solidFill>
              </a:rPr>
              <a:t>Customer churn split</a:t>
            </a:r>
            <a:endParaRPr lang="en-US" sz="1500" dirty="0"/>
          </a:p>
        </p:txBody>
      </p:sp>
      <p:sp>
        <p:nvSpPr>
          <p:cNvPr id="10" name="Dashboard card 229"/>
          <p:cNvSpPr/>
          <p:nvPr/>
        </p:nvSpPr>
        <p:spPr>
          <a:xfrm>
            <a:off x="548640" y="3977640"/>
            <a:ext cx="5362956" cy="2148840"/>
          </a:xfrm>
          <a:prstGeom prst="roundRect">
            <a:avLst>
              <a:gd name="adj" fmla="val 5957"/>
            </a:avLst>
          </a:prstGeom>
          <a:solidFill>
            <a:schemeClr val="bg2"/>
          </a:solidFill>
          <a:ln w="12700">
            <a:solidFill>
              <a:schemeClr val="bg2"/>
            </a:solidFill>
            <a:prstDash val="solid"/>
          </a:ln>
        </p:spPr>
      </p:sp>
      <p:sp>
        <p:nvSpPr>
          <p:cNvPr id="11" name="Page tag 230"/>
          <p:cNvSpPr txBox="1"/>
          <p:nvPr/>
        </p:nvSpPr>
        <p:spPr>
          <a:xfrm>
            <a:off x="822960" y="4087368"/>
            <a:ext cx="4814316" cy="201168"/>
          </a:xfrm>
          <a:prstGeom prst="rect">
            <a:avLst/>
          </a:prstGeom>
          <a:noFill/>
          <a:ln/>
        </p:spPr>
        <p:txBody>
          <a:bodyPr wrap="square" lIns="0" tIns="0" rIns="0" bIns="0" rtlCol="0" anchor="t"/>
          <a:lstStyle/>
          <a:p>
            <a:pPr marL="0" indent="0">
              <a:buNone/>
            </a:pPr>
            <a:r>
              <a:rPr lang="en-US" sz="1000" b="1" kern="0" spc="200" dirty="0">
                <a:solidFill>
                  <a:schemeClr val="accent2"/>
                </a:solidFill>
              </a:rPr>
              <a:t>PAGE 3  |  DONUT</a:t>
            </a:r>
            <a:endParaRPr lang="en-US" sz="1000" dirty="0"/>
          </a:p>
        </p:txBody>
      </p:sp>
      <p:sp>
        <p:nvSpPr>
          <p:cNvPr id="12" name="Visual title 231"/>
          <p:cNvSpPr txBox="1"/>
          <p:nvPr/>
        </p:nvSpPr>
        <p:spPr>
          <a:xfrm>
            <a:off x="822960" y="4288536"/>
            <a:ext cx="4814316" cy="292608"/>
          </a:xfrm>
          <a:prstGeom prst="rect">
            <a:avLst/>
          </a:prstGeom>
          <a:noFill/>
          <a:ln/>
        </p:spPr>
        <p:txBody>
          <a:bodyPr wrap="square" lIns="0" tIns="0" rIns="0" bIns="0" rtlCol="0" anchor="t"/>
          <a:lstStyle/>
          <a:p>
            <a:pPr marL="0" indent="0">
              <a:buNone/>
            </a:pPr>
            <a:r>
              <a:rPr lang="en-US" sz="1500" b="1" dirty="0">
                <a:solidFill>
                  <a:schemeClr val="tx2"/>
                </a:solidFill>
              </a:rPr>
              <a:t>Share of customers by contract type</a:t>
            </a:r>
            <a:endParaRPr lang="en-US" sz="1500" dirty="0"/>
          </a:p>
        </p:txBody>
      </p:sp>
      <p:sp>
        <p:nvSpPr>
          <p:cNvPr id="13" name="Dashboard card 232"/>
          <p:cNvSpPr/>
          <p:nvPr/>
        </p:nvSpPr>
        <p:spPr>
          <a:xfrm>
            <a:off x="6277356" y="3977640"/>
            <a:ext cx="5362956" cy="2148840"/>
          </a:xfrm>
          <a:prstGeom prst="roundRect">
            <a:avLst>
              <a:gd name="adj" fmla="val 5957"/>
            </a:avLst>
          </a:prstGeom>
          <a:solidFill>
            <a:schemeClr val="bg2"/>
          </a:solidFill>
          <a:ln w="12700">
            <a:solidFill>
              <a:schemeClr val="bg2"/>
            </a:solidFill>
            <a:prstDash val="solid"/>
          </a:ln>
        </p:spPr>
      </p:sp>
      <p:sp>
        <p:nvSpPr>
          <p:cNvPr id="14" name="Page tag 233"/>
          <p:cNvSpPr txBox="1"/>
          <p:nvPr/>
        </p:nvSpPr>
        <p:spPr>
          <a:xfrm>
            <a:off x="6551676" y="4087368"/>
            <a:ext cx="4814316" cy="201168"/>
          </a:xfrm>
          <a:prstGeom prst="rect">
            <a:avLst/>
          </a:prstGeom>
          <a:noFill/>
          <a:ln/>
        </p:spPr>
        <p:txBody>
          <a:bodyPr wrap="square" lIns="0" tIns="0" rIns="0" bIns="0" rtlCol="0" anchor="t"/>
          <a:lstStyle/>
          <a:p>
            <a:pPr marL="0" indent="0">
              <a:buNone/>
            </a:pPr>
            <a:r>
              <a:rPr lang="en-US" sz="1000" b="1" kern="0" spc="200" dirty="0">
                <a:solidFill>
                  <a:schemeClr val="accent2"/>
                </a:solidFill>
              </a:rPr>
              <a:t>PAGE 4  |  LINE</a:t>
            </a:r>
            <a:endParaRPr lang="en-US" sz="1000" dirty="0"/>
          </a:p>
        </p:txBody>
      </p:sp>
      <p:sp>
        <p:nvSpPr>
          <p:cNvPr id="15" name="Visual title 234"/>
          <p:cNvSpPr txBox="1"/>
          <p:nvPr/>
        </p:nvSpPr>
        <p:spPr>
          <a:xfrm>
            <a:off x="6551676" y="4288536"/>
            <a:ext cx="4814316" cy="292608"/>
          </a:xfrm>
          <a:prstGeom prst="rect">
            <a:avLst/>
          </a:prstGeom>
          <a:noFill/>
          <a:ln/>
        </p:spPr>
        <p:txBody>
          <a:bodyPr wrap="square" lIns="0" tIns="0" rIns="0" bIns="0" rtlCol="0" anchor="t"/>
          <a:lstStyle/>
          <a:p>
            <a:pPr marL="0" indent="0">
              <a:buNone/>
            </a:pPr>
            <a:r>
              <a:rPr lang="en-US" sz="1500" b="1" dirty="0">
                <a:solidFill>
                  <a:schemeClr val="tx2"/>
                </a:solidFill>
              </a:rPr>
              <a:t>Churn rate by tenure group</a:t>
            </a:r>
            <a:endParaRPr lang="en-US" sz="1500" dirty="0"/>
          </a:p>
        </p:txBody>
      </p:sp>
      <p:graphicFrame>
        <p:nvGraphicFramePr>
          <p:cNvPr id="16" name="Chart 0" descr="Clustered bar chart of churn rate by contract type"/>
          <p:cNvGraphicFramePr/>
          <p:nvPr/>
        </p:nvGraphicFramePr>
        <p:xfrm>
          <a:off x="685800" y="2286000"/>
          <a:ext cx="5088636" cy="15087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 descr="Pie chart of customer churn split: 5,174 No and 1,869 Yes"/>
          <p:cNvGraphicFramePr/>
          <p:nvPr>
            <p:extLst>
              <p:ext uri="{D42A27DB-BD31-4B8C-83A1-F6EECF244321}">
                <p14:modId xmlns:p14="http://schemas.microsoft.com/office/powerpoint/2010/main" val="1967766771"/>
              </p:ext>
            </p:extLst>
          </p:nvPr>
        </p:nvGraphicFramePr>
        <p:xfrm>
          <a:off x="6414516" y="2286000"/>
          <a:ext cx="5088636" cy="15087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Chart 2" descr="Donut chart of customers by contract type: month-to-month 55%, two year 24%, one year 21%"/>
          <p:cNvGraphicFramePr/>
          <p:nvPr/>
        </p:nvGraphicFramePr>
        <p:xfrm>
          <a:off x="685800" y="4572000"/>
          <a:ext cx="5088636" cy="150876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9" name="Chart 3" descr="Line chart of churn rate by tenure group"/>
          <p:cNvGraphicFramePr/>
          <p:nvPr/>
        </p:nvGraphicFramePr>
        <p:xfrm>
          <a:off x="6414516" y="4526280"/>
          <a:ext cx="5088636" cy="1554480"/>
        </p:xfrm>
        <a:graphic>
          <a:graphicData uri="http://schemas.openxmlformats.org/drawingml/2006/chart">
            <c:chart xmlns:c="http://schemas.openxmlformats.org/drawingml/2006/chart" xmlns:r="http://schemas.openxmlformats.org/officeDocument/2006/relationships" r:id="rId6"/>
          </a:graphicData>
        </a:graphic>
      </p:graphicFrame>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79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685800"/>
          </a:xfrm>
          <a:prstGeom prst="rect">
            <a:avLst/>
          </a:prstGeom>
          <a:noFill/>
          <a:ln/>
        </p:spPr>
        <p:txBody>
          <a:bodyPr wrap="square" lIns="0" tIns="0" rIns="0" bIns="0" rtlCol="0" anchor="ctr"/>
          <a:lstStyle/>
          <a:p>
            <a:pPr marL="0" indent="0" algn="l">
              <a:buNone/>
            </a:pPr>
            <a:r>
              <a:rPr lang="en-US" sz="3400" b="1" dirty="0">
                <a:solidFill>
                  <a:schemeClr val="tx2"/>
                </a:solidFill>
              </a:rPr>
              <a:t>Databricks dashboard: key numbers</a:t>
            </a:r>
            <a:endParaRPr lang="en-US" sz="3400" dirty="0"/>
          </a:p>
        </p:txBody>
      </p:sp>
      <p:sp>
        <p:nvSpPr>
          <p:cNvPr id="3" name="Text 0"/>
          <p:cNvSpPr>
            <a:spLocks noGrp="1"/>
          </p:cNvSpPr>
          <p:nvPr>
            <p:ph type="body" idx="101" hasCustomPrompt="1"/>
          </p:nvPr>
        </p:nvSpPr>
        <p:spPr>
          <a:xfrm>
            <a:off x="548640" y="1051560"/>
            <a:ext cx="11091672" cy="365760"/>
          </a:xfrm>
          <a:prstGeom prst="rect">
            <a:avLst/>
          </a:prstGeom>
          <a:noFill/>
          <a:ln/>
        </p:spPr>
        <p:txBody>
          <a:bodyPr wrap="square" lIns="0" tIns="0" rIns="0" bIns="0" rtlCol="0" anchor="ctr"/>
          <a:lstStyle/>
          <a:p>
            <a:pPr marL="0" indent="0" algn="l">
              <a:buNone/>
            </a:pPr>
            <a:r>
              <a:rPr lang="en-US" sz="1600" dirty="0">
                <a:solidFill>
                  <a:schemeClr val="accent5"/>
                </a:solidFill>
              </a:rPr>
              <a:t>Purpose: a cloud dashboard that shows headline figures and customer counts</a:t>
            </a:r>
            <a:endParaRPr lang="en-US" sz="1600" dirty="0"/>
          </a:p>
        </p:txBody>
      </p:sp>
      <p:sp>
        <p:nvSpPr>
          <p:cNvPr id="4" name="KPI tile 235"/>
          <p:cNvSpPr/>
          <p:nvPr/>
        </p:nvSpPr>
        <p:spPr>
          <a:xfrm>
            <a:off x="548640" y="1691640"/>
            <a:ext cx="2567178" cy="1371600"/>
          </a:xfrm>
          <a:prstGeom prst="roundRect">
            <a:avLst>
              <a:gd name="adj" fmla="val 9333"/>
            </a:avLst>
          </a:prstGeom>
          <a:solidFill>
            <a:srgbClr val="16264F"/>
          </a:solidFill>
          <a:ln w="12700">
            <a:solidFill>
              <a:srgbClr val="16264F"/>
            </a:solidFill>
            <a:prstDash val="solid"/>
          </a:ln>
          <a:effectLst>
            <a:outerShdw blurRad="127000" dist="38100" dir="5400000" algn="bl" rotWithShape="0">
              <a:srgbClr val="0B1530">
                <a:alpha val="12000"/>
              </a:srgbClr>
            </a:outerShdw>
          </a:effectLst>
        </p:spPr>
      </p:sp>
      <p:sp>
        <p:nvSpPr>
          <p:cNvPr id="5" name="KPI value 236"/>
          <p:cNvSpPr txBox="1"/>
          <p:nvPr/>
        </p:nvSpPr>
        <p:spPr>
          <a:xfrm>
            <a:off x="822960" y="1783080"/>
            <a:ext cx="2018538" cy="777240"/>
          </a:xfrm>
          <a:prstGeom prst="rect">
            <a:avLst/>
          </a:prstGeom>
          <a:noFill/>
          <a:ln/>
        </p:spPr>
        <p:txBody>
          <a:bodyPr wrap="square" lIns="0" tIns="0" rIns="0" bIns="0" rtlCol="0" anchor="ctr"/>
          <a:lstStyle/>
          <a:p>
            <a:pPr marL="0" indent="0">
              <a:buNone/>
            </a:pPr>
            <a:r>
              <a:rPr lang="en-US" sz="4200" b="1" dirty="0">
                <a:solidFill>
                  <a:schemeClr val="bg1"/>
                </a:solidFill>
              </a:rPr>
              <a:t>7,043</a:t>
            </a:r>
            <a:endParaRPr lang="en-US" sz="4200" dirty="0"/>
          </a:p>
        </p:txBody>
      </p:sp>
      <p:sp>
        <p:nvSpPr>
          <p:cNvPr id="6" name="KPI label 237"/>
          <p:cNvSpPr txBox="1"/>
          <p:nvPr/>
        </p:nvSpPr>
        <p:spPr>
          <a:xfrm>
            <a:off x="822960" y="2560320"/>
            <a:ext cx="2018538" cy="365760"/>
          </a:xfrm>
          <a:prstGeom prst="rect">
            <a:avLst/>
          </a:prstGeom>
          <a:noFill/>
          <a:ln/>
        </p:spPr>
        <p:txBody>
          <a:bodyPr wrap="square" lIns="0" tIns="0" rIns="0" bIns="0" rtlCol="0" anchor="t"/>
          <a:lstStyle/>
          <a:p>
            <a:pPr marL="0" indent="0">
              <a:buNone/>
            </a:pPr>
            <a:r>
              <a:rPr lang="en-US" sz="1400" dirty="0">
                <a:solidFill>
                  <a:schemeClr val="accent6"/>
                </a:solidFill>
              </a:rPr>
              <a:t>Total customers</a:t>
            </a:r>
            <a:endParaRPr lang="en-US" sz="1400" dirty="0"/>
          </a:p>
        </p:txBody>
      </p:sp>
      <p:sp>
        <p:nvSpPr>
          <p:cNvPr id="7" name="KPI tile 238"/>
          <p:cNvSpPr/>
          <p:nvPr/>
        </p:nvSpPr>
        <p:spPr>
          <a:xfrm>
            <a:off x="3390138" y="1691640"/>
            <a:ext cx="2567178" cy="1371600"/>
          </a:xfrm>
          <a:prstGeom prst="roundRect">
            <a:avLst>
              <a:gd name="adj" fmla="val 9333"/>
            </a:avLst>
          </a:prstGeom>
          <a:solidFill>
            <a:srgbClr val="16264F"/>
          </a:solidFill>
          <a:ln w="12700">
            <a:solidFill>
              <a:srgbClr val="16264F"/>
            </a:solidFill>
            <a:prstDash val="solid"/>
          </a:ln>
          <a:effectLst>
            <a:outerShdw blurRad="127000" dist="38100" dir="5400000" algn="bl" rotWithShape="0">
              <a:srgbClr val="0B1530">
                <a:alpha val="12000"/>
              </a:srgbClr>
            </a:outerShdw>
          </a:effectLst>
        </p:spPr>
      </p:sp>
      <p:sp>
        <p:nvSpPr>
          <p:cNvPr id="8" name="KPI value 239"/>
          <p:cNvSpPr txBox="1"/>
          <p:nvPr/>
        </p:nvSpPr>
        <p:spPr>
          <a:xfrm>
            <a:off x="3664458" y="1783080"/>
            <a:ext cx="2018538" cy="777240"/>
          </a:xfrm>
          <a:prstGeom prst="rect">
            <a:avLst/>
          </a:prstGeom>
          <a:noFill/>
          <a:ln/>
        </p:spPr>
        <p:txBody>
          <a:bodyPr wrap="square" lIns="0" tIns="0" rIns="0" bIns="0" rtlCol="0" anchor="ctr"/>
          <a:lstStyle/>
          <a:p>
            <a:pPr marL="0" indent="0">
              <a:buNone/>
            </a:pPr>
            <a:r>
              <a:rPr lang="en-US" sz="4200" b="1" dirty="0">
                <a:solidFill>
                  <a:schemeClr val="accent1"/>
                </a:solidFill>
              </a:rPr>
              <a:t>26.54%</a:t>
            </a:r>
            <a:endParaRPr lang="en-US" sz="4200" dirty="0"/>
          </a:p>
        </p:txBody>
      </p:sp>
      <p:sp>
        <p:nvSpPr>
          <p:cNvPr id="9" name="KPI label 240"/>
          <p:cNvSpPr txBox="1"/>
          <p:nvPr/>
        </p:nvSpPr>
        <p:spPr>
          <a:xfrm>
            <a:off x="3664458" y="2560320"/>
            <a:ext cx="2018538" cy="365760"/>
          </a:xfrm>
          <a:prstGeom prst="rect">
            <a:avLst/>
          </a:prstGeom>
          <a:noFill/>
          <a:ln/>
        </p:spPr>
        <p:txBody>
          <a:bodyPr wrap="square" lIns="0" tIns="0" rIns="0" bIns="0" rtlCol="0" anchor="t"/>
          <a:lstStyle/>
          <a:p>
            <a:pPr marL="0" indent="0">
              <a:buNone/>
            </a:pPr>
            <a:r>
              <a:rPr lang="en-US" sz="1400" dirty="0">
                <a:solidFill>
                  <a:schemeClr val="accent6"/>
                </a:solidFill>
              </a:rPr>
              <a:t>Churn rate</a:t>
            </a:r>
            <a:endParaRPr lang="en-US" sz="1400" dirty="0"/>
          </a:p>
        </p:txBody>
      </p:sp>
      <p:sp>
        <p:nvSpPr>
          <p:cNvPr id="10" name="KPI tile 241"/>
          <p:cNvSpPr/>
          <p:nvPr/>
        </p:nvSpPr>
        <p:spPr>
          <a:xfrm>
            <a:off x="6231636" y="1691640"/>
            <a:ext cx="2567178" cy="1371600"/>
          </a:xfrm>
          <a:prstGeom prst="roundRect">
            <a:avLst>
              <a:gd name="adj" fmla="val 9333"/>
            </a:avLst>
          </a:prstGeom>
          <a:solidFill>
            <a:srgbClr val="16264F"/>
          </a:solidFill>
          <a:ln w="12700">
            <a:solidFill>
              <a:srgbClr val="16264F"/>
            </a:solidFill>
            <a:prstDash val="solid"/>
          </a:ln>
          <a:effectLst>
            <a:outerShdw blurRad="127000" dist="38100" dir="5400000" algn="bl" rotWithShape="0">
              <a:srgbClr val="0B1530">
                <a:alpha val="12000"/>
              </a:srgbClr>
            </a:outerShdw>
          </a:effectLst>
        </p:spPr>
      </p:sp>
      <p:sp>
        <p:nvSpPr>
          <p:cNvPr id="11" name="KPI value 242"/>
          <p:cNvSpPr txBox="1"/>
          <p:nvPr/>
        </p:nvSpPr>
        <p:spPr>
          <a:xfrm>
            <a:off x="6505956" y="1783080"/>
            <a:ext cx="2018538" cy="777240"/>
          </a:xfrm>
          <a:prstGeom prst="rect">
            <a:avLst/>
          </a:prstGeom>
          <a:noFill/>
          <a:ln/>
        </p:spPr>
        <p:txBody>
          <a:bodyPr wrap="square" lIns="0" tIns="0" rIns="0" bIns="0" rtlCol="0" anchor="ctr"/>
          <a:lstStyle/>
          <a:p>
            <a:pPr marL="0" indent="0">
              <a:buNone/>
            </a:pPr>
            <a:r>
              <a:rPr lang="en-US" sz="4200" b="1" dirty="0">
                <a:solidFill>
                  <a:schemeClr val="bg1"/>
                </a:solidFill>
              </a:rPr>
              <a:t>$64.76</a:t>
            </a:r>
            <a:endParaRPr lang="en-US" sz="4200" dirty="0"/>
          </a:p>
        </p:txBody>
      </p:sp>
      <p:sp>
        <p:nvSpPr>
          <p:cNvPr id="12" name="KPI label 243"/>
          <p:cNvSpPr txBox="1"/>
          <p:nvPr/>
        </p:nvSpPr>
        <p:spPr>
          <a:xfrm>
            <a:off x="6505956" y="2560320"/>
            <a:ext cx="2018538" cy="365760"/>
          </a:xfrm>
          <a:prstGeom prst="rect">
            <a:avLst/>
          </a:prstGeom>
          <a:noFill/>
          <a:ln/>
        </p:spPr>
        <p:txBody>
          <a:bodyPr wrap="square" lIns="0" tIns="0" rIns="0" bIns="0" rtlCol="0" anchor="t"/>
          <a:lstStyle/>
          <a:p>
            <a:pPr marL="0" indent="0">
              <a:buNone/>
            </a:pPr>
            <a:r>
              <a:rPr lang="en-US" sz="1400" dirty="0">
                <a:solidFill>
                  <a:schemeClr val="accent6"/>
                </a:solidFill>
              </a:rPr>
              <a:t>Avg monthly charges</a:t>
            </a:r>
            <a:endParaRPr lang="en-US" sz="1400" dirty="0"/>
          </a:p>
        </p:txBody>
      </p:sp>
      <p:sp>
        <p:nvSpPr>
          <p:cNvPr id="13" name="KPI tile 244"/>
          <p:cNvSpPr/>
          <p:nvPr/>
        </p:nvSpPr>
        <p:spPr>
          <a:xfrm>
            <a:off x="9073134" y="1691640"/>
            <a:ext cx="2567178" cy="1371600"/>
          </a:xfrm>
          <a:prstGeom prst="roundRect">
            <a:avLst>
              <a:gd name="adj" fmla="val 9333"/>
            </a:avLst>
          </a:prstGeom>
          <a:solidFill>
            <a:srgbClr val="16264F"/>
          </a:solidFill>
          <a:ln w="12700">
            <a:solidFill>
              <a:srgbClr val="16264F"/>
            </a:solidFill>
            <a:prstDash val="solid"/>
          </a:ln>
          <a:effectLst>
            <a:outerShdw blurRad="127000" dist="38100" dir="5400000" algn="bl" rotWithShape="0">
              <a:srgbClr val="0B1530">
                <a:alpha val="12000"/>
              </a:srgbClr>
            </a:outerShdw>
          </a:effectLst>
        </p:spPr>
      </p:sp>
      <p:sp>
        <p:nvSpPr>
          <p:cNvPr id="14" name="KPI value 245"/>
          <p:cNvSpPr txBox="1"/>
          <p:nvPr/>
        </p:nvSpPr>
        <p:spPr>
          <a:xfrm>
            <a:off x="9347454" y="1783080"/>
            <a:ext cx="2018538" cy="777240"/>
          </a:xfrm>
          <a:prstGeom prst="rect">
            <a:avLst/>
          </a:prstGeom>
          <a:noFill/>
          <a:ln/>
        </p:spPr>
        <p:txBody>
          <a:bodyPr wrap="square" lIns="0" tIns="0" rIns="0" bIns="0" rtlCol="0" anchor="ctr"/>
          <a:lstStyle/>
          <a:p>
            <a:pPr marL="0" indent="0">
              <a:buNone/>
            </a:pPr>
            <a:r>
              <a:rPr lang="en-US" sz="4200" b="1" dirty="0">
                <a:solidFill>
                  <a:schemeClr val="bg1"/>
                </a:solidFill>
              </a:rPr>
              <a:t>32.4</a:t>
            </a:r>
            <a:endParaRPr lang="en-US" sz="4200" dirty="0"/>
          </a:p>
        </p:txBody>
      </p:sp>
      <p:sp>
        <p:nvSpPr>
          <p:cNvPr id="15" name="KPI label 246"/>
          <p:cNvSpPr txBox="1"/>
          <p:nvPr/>
        </p:nvSpPr>
        <p:spPr>
          <a:xfrm>
            <a:off x="9347454" y="2560320"/>
            <a:ext cx="2018538" cy="365760"/>
          </a:xfrm>
          <a:prstGeom prst="rect">
            <a:avLst/>
          </a:prstGeom>
          <a:noFill/>
          <a:ln/>
        </p:spPr>
        <p:txBody>
          <a:bodyPr wrap="square" lIns="0" tIns="0" rIns="0" bIns="0" rtlCol="0" anchor="t"/>
          <a:lstStyle/>
          <a:p>
            <a:pPr marL="0" indent="0">
              <a:buNone/>
            </a:pPr>
            <a:r>
              <a:rPr lang="en-US" sz="1400" dirty="0">
                <a:solidFill>
                  <a:schemeClr val="accent6"/>
                </a:solidFill>
              </a:rPr>
              <a:t>Avg tenure (months)</a:t>
            </a:r>
            <a:endParaRPr lang="en-US" sz="1400" dirty="0"/>
          </a:p>
        </p:txBody>
      </p:sp>
      <p:sp>
        <p:nvSpPr>
          <p:cNvPr id="16" name="Chart card 247"/>
          <p:cNvSpPr/>
          <p:nvPr/>
        </p:nvSpPr>
        <p:spPr>
          <a:xfrm>
            <a:off x="548640" y="3337560"/>
            <a:ext cx="7589520" cy="2834640"/>
          </a:xfrm>
          <a:prstGeom prst="roundRect">
            <a:avLst>
              <a:gd name="adj" fmla="val 4516"/>
            </a:avLst>
          </a:prstGeom>
          <a:solidFill>
            <a:schemeClr val="bg2"/>
          </a:solidFill>
          <a:ln w="12700">
            <a:solidFill>
              <a:schemeClr val="bg2"/>
            </a:solidFill>
            <a:prstDash val="solid"/>
          </a:ln>
        </p:spPr>
      </p:sp>
      <p:sp>
        <p:nvSpPr>
          <p:cNvPr id="17" name="Card title 248"/>
          <p:cNvSpPr txBox="1"/>
          <p:nvPr/>
        </p:nvSpPr>
        <p:spPr>
          <a:xfrm>
            <a:off x="822960" y="3456432"/>
            <a:ext cx="6400800" cy="320040"/>
          </a:xfrm>
          <a:prstGeom prst="rect">
            <a:avLst/>
          </a:prstGeom>
          <a:noFill/>
          <a:ln/>
        </p:spPr>
        <p:txBody>
          <a:bodyPr wrap="square" lIns="0" tIns="0" rIns="0" bIns="0" rtlCol="0" anchor="t"/>
          <a:lstStyle/>
          <a:p>
            <a:pPr marL="0" indent="0">
              <a:buNone/>
            </a:pPr>
            <a:r>
              <a:rPr lang="en-US" sz="1600" b="1" dirty="0">
                <a:solidFill>
                  <a:schemeClr val="tx2"/>
                </a:solidFill>
              </a:rPr>
              <a:t>Customers by contract type</a:t>
            </a:r>
            <a:endParaRPr lang="en-US" sz="1600" dirty="0"/>
          </a:p>
        </p:txBody>
      </p:sp>
      <p:graphicFrame>
        <p:nvGraphicFramePr>
          <p:cNvPr id="18" name="Chart 0" descr="Bar chart of customers by contract: month-to-month 3,875, two year 1,695, one year 1,473"/>
          <p:cNvGraphicFramePr/>
          <p:nvPr/>
        </p:nvGraphicFramePr>
        <p:xfrm>
          <a:off x="685800" y="3794760"/>
          <a:ext cx="731520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9" name="Also included card 249"/>
          <p:cNvSpPr/>
          <p:nvPr/>
        </p:nvSpPr>
        <p:spPr>
          <a:xfrm>
            <a:off x="8412480" y="3337560"/>
            <a:ext cx="3227832" cy="2834640"/>
          </a:xfrm>
          <a:prstGeom prst="roundRect">
            <a:avLst>
              <a:gd name="adj" fmla="val 4516"/>
            </a:avLst>
          </a:prstGeom>
          <a:solidFill>
            <a:schemeClr val="bg2"/>
          </a:solidFill>
          <a:ln w="12700">
            <a:solidFill>
              <a:schemeClr val="bg2"/>
            </a:solidFill>
            <a:prstDash val="solid"/>
          </a:ln>
        </p:spPr>
      </p:sp>
      <p:sp>
        <p:nvSpPr>
          <p:cNvPr id="20" name="Card title 250"/>
          <p:cNvSpPr txBox="1"/>
          <p:nvPr/>
        </p:nvSpPr>
        <p:spPr>
          <a:xfrm>
            <a:off x="8686800" y="3456432"/>
            <a:ext cx="2743200" cy="320040"/>
          </a:xfrm>
          <a:prstGeom prst="rect">
            <a:avLst/>
          </a:prstGeom>
          <a:noFill/>
          <a:ln/>
        </p:spPr>
        <p:txBody>
          <a:bodyPr wrap="square" lIns="0" tIns="0" rIns="0" bIns="0" rtlCol="0" anchor="t"/>
          <a:lstStyle/>
          <a:p>
            <a:pPr marL="0" indent="0">
              <a:buNone/>
            </a:pPr>
            <a:r>
              <a:rPr lang="en-US" sz="1600" b="1" dirty="0">
                <a:solidFill>
                  <a:schemeClr val="tx2"/>
                </a:solidFill>
              </a:rPr>
              <a:t>Also included</a:t>
            </a:r>
            <a:endParaRPr lang="en-US" sz="1600" dirty="0"/>
          </a:p>
        </p:txBody>
      </p:sp>
      <p:sp>
        <p:nvSpPr>
          <p:cNvPr id="21" name="Icon circle 251"/>
          <p:cNvSpPr/>
          <p:nvPr/>
        </p:nvSpPr>
        <p:spPr>
          <a:xfrm>
            <a:off x="8686800" y="3931920"/>
            <a:ext cx="512064" cy="512064"/>
          </a:xfrm>
          <a:prstGeom prst="ellipse">
            <a:avLst/>
          </a:prstGeom>
          <a:solidFill>
            <a:srgbClr val="16264F"/>
          </a:solidFill>
          <a:ln w="12700">
            <a:solidFill>
              <a:srgbClr val="16264F"/>
            </a:solidFill>
            <a:prstDash val="solid"/>
          </a:ln>
        </p:spPr>
      </p:sp>
      <p:pic>
        <p:nvPicPr>
          <p:cNvPr id="22" name="Icon 252" descr="icon"/>
          <p:cNvPicPr>
            <a:picLocks noChangeAspect="1"/>
          </p:cNvPicPr>
          <p:nvPr/>
        </p:nvPicPr>
        <p:blipFill>
          <a:blip r:embed="rId4"/>
          <a:stretch>
            <a:fillRect/>
          </a:stretch>
        </p:blipFill>
        <p:spPr>
          <a:xfrm>
            <a:off x="8830178" y="4075298"/>
            <a:ext cx="225308" cy="225308"/>
          </a:xfrm>
          <a:prstGeom prst="rect">
            <a:avLst/>
          </a:prstGeom>
        </p:spPr>
      </p:pic>
      <p:sp>
        <p:nvSpPr>
          <p:cNvPr id="23" name="Included item 253"/>
          <p:cNvSpPr txBox="1"/>
          <p:nvPr/>
        </p:nvSpPr>
        <p:spPr>
          <a:xfrm>
            <a:off x="9326880" y="3886200"/>
            <a:ext cx="2148840" cy="603504"/>
          </a:xfrm>
          <a:prstGeom prst="rect">
            <a:avLst/>
          </a:prstGeom>
          <a:noFill/>
          <a:ln/>
        </p:spPr>
        <p:txBody>
          <a:bodyPr wrap="square" lIns="0" tIns="0" rIns="0" bIns="0" rtlCol="0" anchor="ctr"/>
          <a:lstStyle/>
          <a:p>
            <a:pPr marL="0" indent="0">
              <a:buNone/>
            </a:pPr>
            <a:r>
              <a:rPr lang="en-US" sz="1400" dirty="0">
                <a:solidFill>
                  <a:schemeClr val="tx1"/>
                </a:solidFill>
              </a:rPr>
              <a:t>Churn pie chart</a:t>
            </a:r>
            <a:endParaRPr lang="en-US" sz="1400" dirty="0"/>
          </a:p>
        </p:txBody>
      </p:sp>
      <p:sp>
        <p:nvSpPr>
          <p:cNvPr id="24" name="Icon circle 254"/>
          <p:cNvSpPr/>
          <p:nvPr/>
        </p:nvSpPr>
        <p:spPr>
          <a:xfrm>
            <a:off x="8686800" y="4645152"/>
            <a:ext cx="512064" cy="512064"/>
          </a:xfrm>
          <a:prstGeom prst="ellipse">
            <a:avLst/>
          </a:prstGeom>
          <a:solidFill>
            <a:srgbClr val="16264F"/>
          </a:solidFill>
          <a:ln w="12700">
            <a:solidFill>
              <a:srgbClr val="16264F"/>
            </a:solidFill>
            <a:prstDash val="solid"/>
          </a:ln>
        </p:spPr>
      </p:sp>
      <p:pic>
        <p:nvPicPr>
          <p:cNvPr id="25" name="Icon 255" descr="icon"/>
          <p:cNvPicPr>
            <a:picLocks noChangeAspect="1"/>
          </p:cNvPicPr>
          <p:nvPr/>
        </p:nvPicPr>
        <p:blipFill>
          <a:blip r:embed="rId5"/>
          <a:stretch>
            <a:fillRect/>
          </a:stretch>
        </p:blipFill>
        <p:spPr>
          <a:xfrm>
            <a:off x="8830178" y="4788530"/>
            <a:ext cx="225308" cy="225308"/>
          </a:xfrm>
          <a:prstGeom prst="rect">
            <a:avLst/>
          </a:prstGeom>
        </p:spPr>
      </p:pic>
      <p:sp>
        <p:nvSpPr>
          <p:cNvPr id="26" name="Included item 256"/>
          <p:cNvSpPr txBox="1"/>
          <p:nvPr/>
        </p:nvSpPr>
        <p:spPr>
          <a:xfrm>
            <a:off x="9326880" y="4599432"/>
            <a:ext cx="2148840" cy="603504"/>
          </a:xfrm>
          <a:prstGeom prst="rect">
            <a:avLst/>
          </a:prstGeom>
          <a:noFill/>
          <a:ln/>
        </p:spPr>
        <p:txBody>
          <a:bodyPr wrap="square" lIns="0" tIns="0" rIns="0" bIns="0" rtlCol="0" anchor="ctr"/>
          <a:lstStyle/>
          <a:p>
            <a:pPr marL="0" indent="0">
              <a:buNone/>
            </a:pPr>
            <a:r>
              <a:rPr lang="en-US" sz="1400" dirty="0">
                <a:solidFill>
                  <a:schemeClr val="tx1"/>
                </a:solidFill>
              </a:rPr>
              <a:t>Internet and payment bar charts</a:t>
            </a:r>
            <a:endParaRPr lang="en-US" sz="1400" dirty="0"/>
          </a:p>
        </p:txBody>
      </p:sp>
      <p:sp>
        <p:nvSpPr>
          <p:cNvPr id="27" name="Icon circle 257"/>
          <p:cNvSpPr/>
          <p:nvPr/>
        </p:nvSpPr>
        <p:spPr>
          <a:xfrm>
            <a:off x="8686800" y="5358384"/>
            <a:ext cx="512064" cy="512064"/>
          </a:xfrm>
          <a:prstGeom prst="ellipse">
            <a:avLst/>
          </a:prstGeom>
          <a:solidFill>
            <a:srgbClr val="16264F"/>
          </a:solidFill>
          <a:ln w="12700">
            <a:solidFill>
              <a:srgbClr val="16264F"/>
            </a:solidFill>
            <a:prstDash val="solid"/>
          </a:ln>
        </p:spPr>
      </p:sp>
      <p:pic>
        <p:nvPicPr>
          <p:cNvPr id="28" name="Icon 258" descr="icon"/>
          <p:cNvPicPr>
            <a:picLocks noChangeAspect="1"/>
          </p:cNvPicPr>
          <p:nvPr/>
        </p:nvPicPr>
        <p:blipFill>
          <a:blip r:embed="rId6"/>
          <a:stretch>
            <a:fillRect/>
          </a:stretch>
        </p:blipFill>
        <p:spPr>
          <a:xfrm>
            <a:off x="8830178" y="5501762"/>
            <a:ext cx="225308" cy="225308"/>
          </a:xfrm>
          <a:prstGeom prst="rect">
            <a:avLst/>
          </a:prstGeom>
        </p:spPr>
      </p:pic>
      <p:sp>
        <p:nvSpPr>
          <p:cNvPr id="29" name="Included item 259"/>
          <p:cNvSpPr txBox="1"/>
          <p:nvPr/>
        </p:nvSpPr>
        <p:spPr>
          <a:xfrm>
            <a:off x="9326880" y="5312664"/>
            <a:ext cx="2148840" cy="603504"/>
          </a:xfrm>
          <a:prstGeom prst="rect">
            <a:avLst/>
          </a:prstGeom>
          <a:noFill/>
          <a:ln/>
        </p:spPr>
        <p:txBody>
          <a:bodyPr wrap="square" lIns="0" tIns="0" rIns="0" bIns="0" rtlCol="0" anchor="ctr"/>
          <a:lstStyle/>
          <a:p>
            <a:pPr marL="0" indent="0">
              <a:buNone/>
            </a:pPr>
            <a:r>
              <a:rPr lang="en-US" sz="1400" dirty="0">
                <a:solidFill>
                  <a:schemeClr val="tx1"/>
                </a:solidFill>
              </a:rPr>
              <a:t>Summary table by contract</a:t>
            </a:r>
            <a:endParaRPr lang="en-US" sz="1400" dirty="0"/>
          </a:p>
        </p:txBody>
      </p:sp>
      <p:sp>
        <p:nvSpPr>
          <p:cNvPr id="30"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79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685800"/>
          </a:xfrm>
          <a:prstGeom prst="rect">
            <a:avLst/>
          </a:prstGeom>
          <a:noFill/>
          <a:ln/>
        </p:spPr>
        <p:txBody>
          <a:bodyPr wrap="square" lIns="0" tIns="0" rIns="0" bIns="0" rtlCol="0" anchor="ctr"/>
          <a:lstStyle/>
          <a:p>
            <a:pPr marL="0" indent="0" algn="l">
              <a:buNone/>
            </a:pPr>
            <a:r>
              <a:rPr lang="en-US" sz="3400" b="1" dirty="0">
                <a:solidFill>
                  <a:schemeClr val="bg1"/>
                </a:solidFill>
              </a:rPr>
              <a:t>Findings, recommendations, and limitations</a:t>
            </a:r>
            <a:endParaRPr lang="en-US" sz="3400" dirty="0"/>
          </a:p>
        </p:txBody>
      </p:sp>
      <p:sp>
        <p:nvSpPr>
          <p:cNvPr id="3" name="Text 1"/>
          <p:cNvSpPr>
            <a:spLocks noGrp="1"/>
          </p:cNvSpPr>
          <p:nvPr>
            <p:ph type="body" idx="102" hasCustomPrompt="1"/>
          </p:nvPr>
        </p:nvSpPr>
        <p:spPr>
          <a:xfrm>
            <a:off x="548640" y="1051560"/>
            <a:ext cx="11091672" cy="365760"/>
          </a:xfrm>
          <a:prstGeom prst="rect">
            <a:avLst/>
          </a:prstGeom>
          <a:noFill/>
          <a:ln/>
        </p:spPr>
        <p:txBody>
          <a:bodyPr wrap="square" lIns="0" tIns="0" rIns="0" bIns="0" rtlCol="0" anchor="ctr"/>
          <a:lstStyle/>
          <a:p>
            <a:pPr marL="0" indent="0" algn="l">
              <a:buNone/>
            </a:pPr>
            <a:r>
              <a:rPr lang="en-US" sz="1600" dirty="0">
                <a:solidFill>
                  <a:schemeClr val="accent6"/>
                </a:solidFill>
              </a:rPr>
              <a:t>What the analysis shows, what to do about it, and what it cannot yet prove</a:t>
            </a:r>
            <a:endParaRPr lang="en-US" sz="1600" dirty="0"/>
          </a:p>
        </p:txBody>
      </p:sp>
      <p:sp>
        <p:nvSpPr>
          <p:cNvPr id="4" name="Section label 260"/>
          <p:cNvSpPr txBox="1"/>
          <p:nvPr/>
        </p:nvSpPr>
        <p:spPr>
          <a:xfrm>
            <a:off x="548640" y="1600200"/>
            <a:ext cx="3657600" cy="274320"/>
          </a:xfrm>
          <a:prstGeom prst="rect">
            <a:avLst/>
          </a:prstGeom>
          <a:noFill/>
          <a:ln/>
        </p:spPr>
        <p:txBody>
          <a:bodyPr wrap="square" lIns="0" tIns="0" rIns="0" bIns="0" rtlCol="0" anchor="t"/>
          <a:lstStyle/>
          <a:p>
            <a:pPr marL="0" indent="0">
              <a:buNone/>
            </a:pPr>
            <a:r>
              <a:rPr lang="en-US" sz="1200" b="1" kern="0" spc="300" dirty="0">
                <a:solidFill>
                  <a:schemeClr val="accent2"/>
                </a:solidFill>
              </a:rPr>
              <a:t>KEY FINDINGS</a:t>
            </a:r>
            <a:endParaRPr lang="en-US" sz="1200" dirty="0"/>
          </a:p>
        </p:txBody>
      </p:sp>
      <p:sp>
        <p:nvSpPr>
          <p:cNvPr id="5" name="Finding tile 261"/>
          <p:cNvSpPr/>
          <p:nvPr/>
        </p:nvSpPr>
        <p:spPr>
          <a:xfrm>
            <a:off x="548640" y="1965960"/>
            <a:ext cx="2072640" cy="1463040"/>
          </a:xfrm>
          <a:prstGeom prst="roundRect">
            <a:avLst>
              <a:gd name="adj" fmla="val 8750"/>
            </a:avLst>
          </a:prstGeom>
          <a:solidFill>
            <a:schemeClr val="accent4"/>
          </a:solidFill>
          <a:ln w="12700">
            <a:solidFill>
              <a:schemeClr val="accent4"/>
            </a:solidFill>
            <a:prstDash val="solid"/>
          </a:ln>
        </p:spPr>
      </p:sp>
      <p:sp>
        <p:nvSpPr>
          <p:cNvPr id="6" name="Finding tag 262"/>
          <p:cNvSpPr txBox="1"/>
          <p:nvPr/>
        </p:nvSpPr>
        <p:spPr>
          <a:xfrm>
            <a:off x="749808" y="2075688"/>
            <a:ext cx="1706880" cy="228600"/>
          </a:xfrm>
          <a:prstGeom prst="rect">
            <a:avLst/>
          </a:prstGeom>
          <a:noFill/>
          <a:ln/>
        </p:spPr>
        <p:txBody>
          <a:bodyPr wrap="square" lIns="0" tIns="0" rIns="0" bIns="0" rtlCol="0" anchor="t"/>
          <a:lstStyle/>
          <a:p>
            <a:pPr marL="0" indent="0">
              <a:buNone/>
            </a:pPr>
            <a:r>
              <a:rPr lang="en-US" sz="1100" b="1" kern="0" spc="200" dirty="0">
                <a:solidFill>
                  <a:schemeClr val="accent6"/>
                </a:solidFill>
              </a:rPr>
              <a:t>OVERALL</a:t>
            </a:r>
            <a:endParaRPr lang="en-US" sz="1100" dirty="0"/>
          </a:p>
        </p:txBody>
      </p:sp>
      <p:sp>
        <p:nvSpPr>
          <p:cNvPr id="7" name="Finding value 263"/>
          <p:cNvSpPr txBox="1"/>
          <p:nvPr/>
        </p:nvSpPr>
        <p:spPr>
          <a:xfrm>
            <a:off x="749808" y="2313432"/>
            <a:ext cx="1706880" cy="548640"/>
          </a:xfrm>
          <a:prstGeom prst="rect">
            <a:avLst/>
          </a:prstGeom>
          <a:noFill/>
          <a:ln/>
        </p:spPr>
        <p:txBody>
          <a:bodyPr wrap="square" lIns="0" tIns="0" rIns="0" bIns="0" rtlCol="0" anchor="ctr"/>
          <a:lstStyle/>
          <a:p>
            <a:pPr marL="0" indent="0">
              <a:buNone/>
            </a:pPr>
            <a:r>
              <a:rPr lang="en-US" sz="3200" b="1" dirty="0">
                <a:solidFill>
                  <a:schemeClr val="accent1"/>
                </a:solidFill>
              </a:rPr>
              <a:t>26.54%</a:t>
            </a:r>
            <a:endParaRPr lang="en-US" sz="3200" dirty="0"/>
          </a:p>
        </p:txBody>
      </p:sp>
      <p:sp>
        <p:nvSpPr>
          <p:cNvPr id="8" name="Finding label 264"/>
          <p:cNvSpPr txBox="1"/>
          <p:nvPr/>
        </p:nvSpPr>
        <p:spPr>
          <a:xfrm>
            <a:off x="749808" y="2862072"/>
            <a:ext cx="1706880" cy="502920"/>
          </a:xfrm>
          <a:prstGeom prst="rect">
            <a:avLst/>
          </a:prstGeom>
          <a:noFill/>
          <a:ln/>
        </p:spPr>
        <p:txBody>
          <a:bodyPr wrap="square" lIns="0" tIns="0" rIns="0" bIns="0" rtlCol="0" anchor="t"/>
          <a:lstStyle/>
          <a:p>
            <a:pPr marL="0" indent="0">
              <a:buNone/>
            </a:pPr>
            <a:r>
              <a:rPr lang="en-US" sz="1400" dirty="0">
                <a:solidFill>
                  <a:schemeClr val="bg1"/>
                </a:solidFill>
              </a:rPr>
              <a:t>overall churn</a:t>
            </a:r>
            <a:endParaRPr lang="en-US" sz="1400" dirty="0"/>
          </a:p>
        </p:txBody>
      </p:sp>
      <p:sp>
        <p:nvSpPr>
          <p:cNvPr id="9" name="Finding tile 265"/>
          <p:cNvSpPr/>
          <p:nvPr/>
        </p:nvSpPr>
        <p:spPr>
          <a:xfrm>
            <a:off x="2849880" y="1965960"/>
            <a:ext cx="2072640" cy="1463040"/>
          </a:xfrm>
          <a:prstGeom prst="roundRect">
            <a:avLst>
              <a:gd name="adj" fmla="val 8750"/>
            </a:avLst>
          </a:prstGeom>
          <a:solidFill>
            <a:schemeClr val="accent4"/>
          </a:solidFill>
          <a:ln w="12700">
            <a:solidFill>
              <a:schemeClr val="accent4"/>
            </a:solidFill>
            <a:prstDash val="solid"/>
          </a:ln>
        </p:spPr>
      </p:sp>
      <p:sp>
        <p:nvSpPr>
          <p:cNvPr id="10" name="Finding tag 266"/>
          <p:cNvSpPr txBox="1"/>
          <p:nvPr/>
        </p:nvSpPr>
        <p:spPr>
          <a:xfrm>
            <a:off x="3051048" y="2075688"/>
            <a:ext cx="1706880" cy="228600"/>
          </a:xfrm>
          <a:prstGeom prst="rect">
            <a:avLst/>
          </a:prstGeom>
          <a:noFill/>
          <a:ln/>
        </p:spPr>
        <p:txBody>
          <a:bodyPr wrap="square" lIns="0" tIns="0" rIns="0" bIns="0" rtlCol="0" anchor="t"/>
          <a:lstStyle/>
          <a:p>
            <a:pPr marL="0" indent="0">
              <a:buNone/>
            </a:pPr>
            <a:r>
              <a:rPr lang="en-US" sz="1100" b="1" kern="0" spc="200" dirty="0">
                <a:solidFill>
                  <a:schemeClr val="accent6"/>
                </a:solidFill>
              </a:rPr>
              <a:t>CONTRACT</a:t>
            </a:r>
            <a:endParaRPr lang="en-US" sz="1100" dirty="0"/>
          </a:p>
        </p:txBody>
      </p:sp>
      <p:sp>
        <p:nvSpPr>
          <p:cNvPr id="11" name="Finding value 267"/>
          <p:cNvSpPr txBox="1"/>
          <p:nvPr/>
        </p:nvSpPr>
        <p:spPr>
          <a:xfrm>
            <a:off x="3051048" y="2313432"/>
            <a:ext cx="1706880" cy="548640"/>
          </a:xfrm>
          <a:prstGeom prst="rect">
            <a:avLst/>
          </a:prstGeom>
          <a:noFill/>
          <a:ln/>
        </p:spPr>
        <p:txBody>
          <a:bodyPr wrap="square" lIns="0" tIns="0" rIns="0" bIns="0" rtlCol="0" anchor="ctr"/>
          <a:lstStyle/>
          <a:p>
            <a:pPr marL="0" indent="0">
              <a:buNone/>
            </a:pPr>
            <a:r>
              <a:rPr lang="en-US" sz="3200" b="1" dirty="0">
                <a:solidFill>
                  <a:schemeClr val="accent1"/>
                </a:solidFill>
              </a:rPr>
              <a:t>42.7%</a:t>
            </a:r>
            <a:endParaRPr lang="en-US" sz="3200" dirty="0"/>
          </a:p>
        </p:txBody>
      </p:sp>
      <p:sp>
        <p:nvSpPr>
          <p:cNvPr id="12" name="Finding label 268"/>
          <p:cNvSpPr txBox="1"/>
          <p:nvPr/>
        </p:nvSpPr>
        <p:spPr>
          <a:xfrm>
            <a:off x="3051048" y="2862072"/>
            <a:ext cx="1706880" cy="502920"/>
          </a:xfrm>
          <a:prstGeom prst="rect">
            <a:avLst/>
          </a:prstGeom>
          <a:noFill/>
          <a:ln/>
        </p:spPr>
        <p:txBody>
          <a:bodyPr wrap="square" lIns="0" tIns="0" rIns="0" bIns="0" rtlCol="0" anchor="t"/>
          <a:lstStyle/>
          <a:p>
            <a:pPr marL="0" indent="0">
              <a:buNone/>
            </a:pPr>
            <a:r>
              <a:rPr lang="en-US" sz="1400" dirty="0">
                <a:solidFill>
                  <a:schemeClr val="bg1"/>
                </a:solidFill>
              </a:rPr>
              <a:t>month-to-month vs 2.8% two-year</a:t>
            </a:r>
            <a:endParaRPr lang="en-US" sz="1400" dirty="0"/>
          </a:p>
        </p:txBody>
      </p:sp>
      <p:sp>
        <p:nvSpPr>
          <p:cNvPr id="13" name="Finding tile 269"/>
          <p:cNvSpPr/>
          <p:nvPr/>
        </p:nvSpPr>
        <p:spPr>
          <a:xfrm>
            <a:off x="5151120" y="1965960"/>
            <a:ext cx="2072640" cy="1463040"/>
          </a:xfrm>
          <a:prstGeom prst="roundRect">
            <a:avLst>
              <a:gd name="adj" fmla="val 8750"/>
            </a:avLst>
          </a:prstGeom>
          <a:solidFill>
            <a:schemeClr val="accent4"/>
          </a:solidFill>
          <a:ln w="12700">
            <a:solidFill>
              <a:schemeClr val="accent4"/>
            </a:solidFill>
            <a:prstDash val="solid"/>
          </a:ln>
        </p:spPr>
      </p:sp>
      <p:sp>
        <p:nvSpPr>
          <p:cNvPr id="14" name="Finding tag 270"/>
          <p:cNvSpPr txBox="1"/>
          <p:nvPr/>
        </p:nvSpPr>
        <p:spPr>
          <a:xfrm>
            <a:off x="5352288" y="2075688"/>
            <a:ext cx="1706880" cy="228600"/>
          </a:xfrm>
          <a:prstGeom prst="rect">
            <a:avLst/>
          </a:prstGeom>
          <a:noFill/>
          <a:ln/>
        </p:spPr>
        <p:txBody>
          <a:bodyPr wrap="square" lIns="0" tIns="0" rIns="0" bIns="0" rtlCol="0" anchor="t"/>
          <a:lstStyle/>
          <a:p>
            <a:pPr marL="0" indent="0">
              <a:buNone/>
            </a:pPr>
            <a:r>
              <a:rPr lang="en-US" sz="1100" b="1" kern="0" spc="200" dirty="0">
                <a:solidFill>
                  <a:schemeClr val="accent6"/>
                </a:solidFill>
              </a:rPr>
              <a:t>TENURE</a:t>
            </a:r>
            <a:endParaRPr lang="en-US" sz="1100" dirty="0"/>
          </a:p>
        </p:txBody>
      </p:sp>
      <p:sp>
        <p:nvSpPr>
          <p:cNvPr id="15" name="Finding value 271"/>
          <p:cNvSpPr txBox="1"/>
          <p:nvPr/>
        </p:nvSpPr>
        <p:spPr>
          <a:xfrm>
            <a:off x="5352288" y="2313432"/>
            <a:ext cx="1706880" cy="548640"/>
          </a:xfrm>
          <a:prstGeom prst="rect">
            <a:avLst/>
          </a:prstGeom>
          <a:noFill/>
          <a:ln/>
        </p:spPr>
        <p:txBody>
          <a:bodyPr wrap="square" lIns="0" tIns="0" rIns="0" bIns="0" rtlCol="0" anchor="ctr"/>
          <a:lstStyle/>
          <a:p>
            <a:pPr marL="0" indent="0">
              <a:buNone/>
            </a:pPr>
            <a:r>
              <a:rPr lang="en-US" sz="3200" b="1" dirty="0">
                <a:solidFill>
                  <a:schemeClr val="accent1"/>
                </a:solidFill>
              </a:rPr>
              <a:t>47.4%</a:t>
            </a:r>
            <a:endParaRPr lang="en-US" sz="3200" dirty="0"/>
          </a:p>
        </p:txBody>
      </p:sp>
      <p:sp>
        <p:nvSpPr>
          <p:cNvPr id="16" name="Finding label 272"/>
          <p:cNvSpPr txBox="1"/>
          <p:nvPr/>
        </p:nvSpPr>
        <p:spPr>
          <a:xfrm>
            <a:off x="5352288" y="2862072"/>
            <a:ext cx="1706880" cy="502920"/>
          </a:xfrm>
          <a:prstGeom prst="rect">
            <a:avLst/>
          </a:prstGeom>
          <a:noFill/>
          <a:ln/>
        </p:spPr>
        <p:txBody>
          <a:bodyPr wrap="square" lIns="0" tIns="0" rIns="0" bIns="0" rtlCol="0" anchor="t"/>
          <a:lstStyle/>
          <a:p>
            <a:pPr marL="0" indent="0">
              <a:buNone/>
            </a:pPr>
            <a:r>
              <a:rPr lang="en-US" sz="1400" dirty="0">
                <a:solidFill>
                  <a:schemeClr val="bg1"/>
                </a:solidFill>
              </a:rPr>
              <a:t>first-year customers churn</a:t>
            </a:r>
            <a:endParaRPr lang="en-US" sz="1400" dirty="0"/>
          </a:p>
        </p:txBody>
      </p:sp>
      <p:sp>
        <p:nvSpPr>
          <p:cNvPr id="17" name="Finding tile 273"/>
          <p:cNvSpPr/>
          <p:nvPr/>
        </p:nvSpPr>
        <p:spPr>
          <a:xfrm>
            <a:off x="548640" y="3611880"/>
            <a:ext cx="2072640" cy="1463040"/>
          </a:xfrm>
          <a:prstGeom prst="roundRect">
            <a:avLst>
              <a:gd name="adj" fmla="val 8750"/>
            </a:avLst>
          </a:prstGeom>
          <a:solidFill>
            <a:schemeClr val="accent4"/>
          </a:solidFill>
          <a:ln w="12700">
            <a:solidFill>
              <a:schemeClr val="accent4"/>
            </a:solidFill>
            <a:prstDash val="solid"/>
          </a:ln>
        </p:spPr>
      </p:sp>
      <p:sp>
        <p:nvSpPr>
          <p:cNvPr id="18" name="Finding tag 274"/>
          <p:cNvSpPr txBox="1"/>
          <p:nvPr/>
        </p:nvSpPr>
        <p:spPr>
          <a:xfrm>
            <a:off x="749808" y="3721608"/>
            <a:ext cx="1706880" cy="228600"/>
          </a:xfrm>
          <a:prstGeom prst="rect">
            <a:avLst/>
          </a:prstGeom>
          <a:noFill/>
          <a:ln/>
        </p:spPr>
        <p:txBody>
          <a:bodyPr wrap="square" lIns="0" tIns="0" rIns="0" bIns="0" rtlCol="0" anchor="t"/>
          <a:lstStyle/>
          <a:p>
            <a:pPr marL="0" indent="0">
              <a:buNone/>
            </a:pPr>
            <a:r>
              <a:rPr lang="en-US" sz="1100" b="1" kern="0" spc="200" dirty="0">
                <a:solidFill>
                  <a:schemeClr val="accent6"/>
                </a:solidFill>
              </a:rPr>
              <a:t>INTERNET</a:t>
            </a:r>
            <a:endParaRPr lang="en-US" sz="1100" dirty="0"/>
          </a:p>
        </p:txBody>
      </p:sp>
      <p:sp>
        <p:nvSpPr>
          <p:cNvPr id="19" name="Finding value 275"/>
          <p:cNvSpPr txBox="1"/>
          <p:nvPr/>
        </p:nvSpPr>
        <p:spPr>
          <a:xfrm>
            <a:off x="749808" y="3959352"/>
            <a:ext cx="1706880" cy="548640"/>
          </a:xfrm>
          <a:prstGeom prst="rect">
            <a:avLst/>
          </a:prstGeom>
          <a:noFill/>
          <a:ln/>
        </p:spPr>
        <p:txBody>
          <a:bodyPr wrap="square" lIns="0" tIns="0" rIns="0" bIns="0" rtlCol="0" anchor="ctr"/>
          <a:lstStyle/>
          <a:p>
            <a:pPr marL="0" indent="0">
              <a:buNone/>
            </a:pPr>
            <a:r>
              <a:rPr lang="en-US" sz="3200" b="1" dirty="0">
                <a:solidFill>
                  <a:schemeClr val="accent1"/>
                </a:solidFill>
              </a:rPr>
              <a:t>41.9%</a:t>
            </a:r>
            <a:endParaRPr lang="en-US" sz="3200" dirty="0"/>
          </a:p>
        </p:txBody>
      </p:sp>
      <p:sp>
        <p:nvSpPr>
          <p:cNvPr id="20" name="Finding label 276"/>
          <p:cNvSpPr txBox="1"/>
          <p:nvPr/>
        </p:nvSpPr>
        <p:spPr>
          <a:xfrm>
            <a:off x="749808" y="4507992"/>
            <a:ext cx="1706880" cy="502920"/>
          </a:xfrm>
          <a:prstGeom prst="rect">
            <a:avLst/>
          </a:prstGeom>
          <a:noFill/>
          <a:ln/>
        </p:spPr>
        <p:txBody>
          <a:bodyPr wrap="square" lIns="0" tIns="0" rIns="0" bIns="0" rtlCol="0" anchor="t"/>
          <a:lstStyle/>
          <a:p>
            <a:pPr marL="0" indent="0">
              <a:buNone/>
            </a:pPr>
            <a:r>
              <a:rPr lang="en-US" sz="1400" dirty="0">
                <a:solidFill>
                  <a:schemeClr val="bg1"/>
                </a:solidFill>
              </a:rPr>
              <a:t>fiber optic churns</a:t>
            </a:r>
            <a:endParaRPr lang="en-US" sz="1400" dirty="0"/>
          </a:p>
        </p:txBody>
      </p:sp>
      <p:sp>
        <p:nvSpPr>
          <p:cNvPr id="21" name="Finding tile 277"/>
          <p:cNvSpPr/>
          <p:nvPr/>
        </p:nvSpPr>
        <p:spPr>
          <a:xfrm>
            <a:off x="2849880" y="3611880"/>
            <a:ext cx="2072640" cy="1463040"/>
          </a:xfrm>
          <a:prstGeom prst="roundRect">
            <a:avLst>
              <a:gd name="adj" fmla="val 8750"/>
            </a:avLst>
          </a:prstGeom>
          <a:solidFill>
            <a:schemeClr val="accent4"/>
          </a:solidFill>
          <a:ln w="12700">
            <a:solidFill>
              <a:schemeClr val="accent4"/>
            </a:solidFill>
            <a:prstDash val="solid"/>
          </a:ln>
        </p:spPr>
      </p:sp>
      <p:sp>
        <p:nvSpPr>
          <p:cNvPr id="22" name="Finding tag 278"/>
          <p:cNvSpPr txBox="1"/>
          <p:nvPr/>
        </p:nvSpPr>
        <p:spPr>
          <a:xfrm>
            <a:off x="3051048" y="3721608"/>
            <a:ext cx="1706880" cy="228600"/>
          </a:xfrm>
          <a:prstGeom prst="rect">
            <a:avLst/>
          </a:prstGeom>
          <a:noFill/>
          <a:ln/>
        </p:spPr>
        <p:txBody>
          <a:bodyPr wrap="square" lIns="0" tIns="0" rIns="0" bIns="0" rtlCol="0" anchor="t"/>
          <a:lstStyle/>
          <a:p>
            <a:pPr marL="0" indent="0">
              <a:buNone/>
            </a:pPr>
            <a:r>
              <a:rPr lang="en-US" sz="1100" b="1" kern="0" spc="200" dirty="0">
                <a:solidFill>
                  <a:schemeClr val="accent6"/>
                </a:solidFill>
              </a:rPr>
              <a:t>PAYMENT</a:t>
            </a:r>
            <a:endParaRPr lang="en-US" sz="1100" dirty="0"/>
          </a:p>
        </p:txBody>
      </p:sp>
      <p:sp>
        <p:nvSpPr>
          <p:cNvPr id="23" name="Finding value 279"/>
          <p:cNvSpPr txBox="1"/>
          <p:nvPr/>
        </p:nvSpPr>
        <p:spPr>
          <a:xfrm>
            <a:off x="3051048" y="3959352"/>
            <a:ext cx="1706880" cy="548640"/>
          </a:xfrm>
          <a:prstGeom prst="rect">
            <a:avLst/>
          </a:prstGeom>
          <a:noFill/>
          <a:ln/>
        </p:spPr>
        <p:txBody>
          <a:bodyPr wrap="square" lIns="0" tIns="0" rIns="0" bIns="0" rtlCol="0" anchor="ctr"/>
          <a:lstStyle/>
          <a:p>
            <a:pPr marL="0" indent="0">
              <a:buNone/>
            </a:pPr>
            <a:r>
              <a:rPr lang="en-US" sz="3200" b="1" dirty="0">
                <a:solidFill>
                  <a:schemeClr val="accent1"/>
                </a:solidFill>
              </a:rPr>
              <a:t>45.3%</a:t>
            </a:r>
            <a:endParaRPr lang="en-US" sz="3200" dirty="0"/>
          </a:p>
        </p:txBody>
      </p:sp>
      <p:sp>
        <p:nvSpPr>
          <p:cNvPr id="24" name="Finding label 280"/>
          <p:cNvSpPr txBox="1"/>
          <p:nvPr/>
        </p:nvSpPr>
        <p:spPr>
          <a:xfrm>
            <a:off x="3051048" y="4507992"/>
            <a:ext cx="1706880" cy="502920"/>
          </a:xfrm>
          <a:prstGeom prst="rect">
            <a:avLst/>
          </a:prstGeom>
          <a:noFill/>
          <a:ln/>
        </p:spPr>
        <p:txBody>
          <a:bodyPr wrap="square" lIns="0" tIns="0" rIns="0" bIns="0" rtlCol="0" anchor="t"/>
          <a:lstStyle/>
          <a:p>
            <a:pPr marL="0" indent="0">
              <a:buNone/>
            </a:pPr>
            <a:r>
              <a:rPr lang="en-US" sz="1400" dirty="0">
                <a:solidFill>
                  <a:schemeClr val="bg1"/>
                </a:solidFill>
              </a:rPr>
              <a:t>electronic check users churn</a:t>
            </a:r>
            <a:endParaRPr lang="en-US" sz="1400" dirty="0"/>
          </a:p>
        </p:txBody>
      </p:sp>
      <p:sp>
        <p:nvSpPr>
          <p:cNvPr id="25" name="Finding tile 281"/>
          <p:cNvSpPr/>
          <p:nvPr/>
        </p:nvSpPr>
        <p:spPr>
          <a:xfrm>
            <a:off x="5151120" y="3611880"/>
            <a:ext cx="2072640" cy="1463040"/>
          </a:xfrm>
          <a:prstGeom prst="roundRect">
            <a:avLst>
              <a:gd name="adj" fmla="val 8750"/>
            </a:avLst>
          </a:prstGeom>
          <a:solidFill>
            <a:schemeClr val="accent4"/>
          </a:solidFill>
          <a:ln w="12700">
            <a:solidFill>
              <a:schemeClr val="accent4"/>
            </a:solidFill>
            <a:prstDash val="solid"/>
          </a:ln>
        </p:spPr>
      </p:sp>
      <p:sp>
        <p:nvSpPr>
          <p:cNvPr id="26" name="Finding tag 282"/>
          <p:cNvSpPr txBox="1"/>
          <p:nvPr/>
        </p:nvSpPr>
        <p:spPr>
          <a:xfrm>
            <a:off x="5352288" y="3721608"/>
            <a:ext cx="1706880" cy="228600"/>
          </a:xfrm>
          <a:prstGeom prst="rect">
            <a:avLst/>
          </a:prstGeom>
          <a:noFill/>
          <a:ln/>
        </p:spPr>
        <p:txBody>
          <a:bodyPr wrap="square" lIns="0" tIns="0" rIns="0" bIns="0" rtlCol="0" anchor="t"/>
          <a:lstStyle/>
          <a:p>
            <a:pPr marL="0" indent="0">
              <a:buNone/>
            </a:pPr>
            <a:r>
              <a:rPr lang="en-US" sz="1100" b="1" kern="0" spc="200" dirty="0">
                <a:solidFill>
                  <a:schemeClr val="accent6"/>
                </a:solidFill>
              </a:rPr>
              <a:t>SUPPORT</a:t>
            </a:r>
            <a:endParaRPr lang="en-US" sz="1100" dirty="0"/>
          </a:p>
        </p:txBody>
      </p:sp>
      <p:sp>
        <p:nvSpPr>
          <p:cNvPr id="27" name="Finding value 283"/>
          <p:cNvSpPr txBox="1"/>
          <p:nvPr/>
        </p:nvSpPr>
        <p:spPr>
          <a:xfrm>
            <a:off x="5352288" y="3959352"/>
            <a:ext cx="1706880" cy="548640"/>
          </a:xfrm>
          <a:prstGeom prst="rect">
            <a:avLst/>
          </a:prstGeom>
          <a:noFill/>
          <a:ln/>
        </p:spPr>
        <p:txBody>
          <a:bodyPr wrap="square" lIns="0" tIns="0" rIns="0" bIns="0" rtlCol="0" anchor="ctr"/>
          <a:lstStyle/>
          <a:p>
            <a:pPr marL="0" indent="0">
              <a:buNone/>
            </a:pPr>
            <a:r>
              <a:rPr lang="en-US" sz="3200" b="1" dirty="0">
                <a:solidFill>
                  <a:schemeClr val="accent1"/>
                </a:solidFill>
              </a:rPr>
              <a:t>41.6%</a:t>
            </a:r>
            <a:endParaRPr lang="en-US" sz="3200" dirty="0"/>
          </a:p>
        </p:txBody>
      </p:sp>
      <p:sp>
        <p:nvSpPr>
          <p:cNvPr id="28" name="Finding label 284"/>
          <p:cNvSpPr txBox="1"/>
          <p:nvPr/>
        </p:nvSpPr>
        <p:spPr>
          <a:xfrm>
            <a:off x="5352288" y="4507992"/>
            <a:ext cx="1706880" cy="502920"/>
          </a:xfrm>
          <a:prstGeom prst="rect">
            <a:avLst/>
          </a:prstGeom>
          <a:noFill/>
          <a:ln/>
        </p:spPr>
        <p:txBody>
          <a:bodyPr wrap="square" lIns="0" tIns="0" rIns="0" bIns="0" rtlCol="0" anchor="t"/>
          <a:lstStyle/>
          <a:p>
            <a:pPr marL="0" indent="0">
              <a:buNone/>
            </a:pPr>
            <a:r>
              <a:rPr lang="en-US" sz="1400" dirty="0">
                <a:solidFill>
                  <a:schemeClr val="bg1"/>
                </a:solidFill>
              </a:rPr>
              <a:t>no tech support vs 15.2% with it</a:t>
            </a:r>
            <a:endParaRPr lang="en-US" sz="1400" dirty="0"/>
          </a:p>
        </p:txBody>
      </p:sp>
      <p:sp>
        <p:nvSpPr>
          <p:cNvPr id="29" name="Recommendations card 285"/>
          <p:cNvSpPr/>
          <p:nvPr/>
        </p:nvSpPr>
        <p:spPr>
          <a:xfrm>
            <a:off x="7498080" y="1600200"/>
            <a:ext cx="4142232" cy="3337560"/>
          </a:xfrm>
          <a:prstGeom prst="roundRect">
            <a:avLst>
              <a:gd name="adj" fmla="val 3836"/>
            </a:avLst>
          </a:prstGeom>
          <a:solidFill>
            <a:schemeClr val="accent4"/>
          </a:solidFill>
          <a:ln w="12700">
            <a:solidFill>
              <a:schemeClr val="accent4"/>
            </a:solidFill>
            <a:prstDash val="solid"/>
          </a:ln>
        </p:spPr>
      </p:sp>
      <p:sp>
        <p:nvSpPr>
          <p:cNvPr id="30" name="Section label 286"/>
          <p:cNvSpPr txBox="1"/>
          <p:nvPr/>
        </p:nvSpPr>
        <p:spPr>
          <a:xfrm>
            <a:off x="7772400" y="1737360"/>
            <a:ext cx="3566160" cy="274320"/>
          </a:xfrm>
          <a:prstGeom prst="rect">
            <a:avLst/>
          </a:prstGeom>
          <a:noFill/>
          <a:ln/>
        </p:spPr>
        <p:txBody>
          <a:bodyPr wrap="square" lIns="0" tIns="0" rIns="0" bIns="0" rtlCol="0" anchor="t"/>
          <a:lstStyle/>
          <a:p>
            <a:pPr marL="0" indent="0">
              <a:buNone/>
            </a:pPr>
            <a:r>
              <a:rPr lang="en-US" sz="1200" b="1" kern="0" spc="300" dirty="0">
                <a:solidFill>
                  <a:schemeClr val="accent2"/>
                </a:solidFill>
              </a:rPr>
              <a:t>RECOMMENDATIONS</a:t>
            </a:r>
            <a:endParaRPr lang="en-US" sz="1200" dirty="0"/>
          </a:p>
        </p:txBody>
      </p:sp>
      <p:sp>
        <p:nvSpPr>
          <p:cNvPr id="31" name="Number badge 287"/>
          <p:cNvSpPr/>
          <p:nvPr/>
        </p:nvSpPr>
        <p:spPr>
          <a:xfrm>
            <a:off x="7772400" y="2240280"/>
            <a:ext cx="384048" cy="384048"/>
          </a:xfrm>
          <a:prstGeom prst="ellipse">
            <a:avLst/>
          </a:prstGeom>
          <a:solidFill>
            <a:schemeClr val="accent2"/>
          </a:solidFill>
          <a:ln w="12700">
            <a:solidFill>
              <a:schemeClr val="accent2"/>
            </a:solidFill>
            <a:prstDash val="solid"/>
          </a:ln>
        </p:spPr>
      </p:sp>
      <p:sp>
        <p:nvSpPr>
          <p:cNvPr id="32" name="Number 288"/>
          <p:cNvSpPr txBox="1"/>
          <p:nvPr/>
        </p:nvSpPr>
        <p:spPr>
          <a:xfrm>
            <a:off x="7772400" y="2240280"/>
            <a:ext cx="384048" cy="384048"/>
          </a:xfrm>
          <a:prstGeom prst="rect">
            <a:avLst/>
          </a:prstGeom>
          <a:noFill/>
          <a:ln/>
        </p:spPr>
        <p:txBody>
          <a:bodyPr wrap="square" lIns="0" tIns="0" rIns="0" bIns="0" rtlCol="0" anchor="ctr"/>
          <a:lstStyle/>
          <a:p>
            <a:pPr marL="0" indent="0" algn="ctr">
              <a:buNone/>
            </a:pPr>
            <a:r>
              <a:rPr lang="en-US" sz="1500" b="1" dirty="0">
                <a:solidFill>
                  <a:schemeClr val="tx2"/>
                </a:solidFill>
              </a:rPr>
              <a:t>1</a:t>
            </a:r>
            <a:endParaRPr lang="en-US" sz="1500" dirty="0"/>
          </a:p>
        </p:txBody>
      </p:sp>
      <p:sp>
        <p:nvSpPr>
          <p:cNvPr id="33" name="Recommendation 289"/>
          <p:cNvSpPr txBox="1"/>
          <p:nvPr/>
        </p:nvSpPr>
        <p:spPr>
          <a:xfrm>
            <a:off x="8321040" y="2148840"/>
            <a:ext cx="3154680" cy="566928"/>
          </a:xfrm>
          <a:prstGeom prst="rect">
            <a:avLst/>
          </a:prstGeom>
          <a:noFill/>
          <a:ln/>
        </p:spPr>
        <p:txBody>
          <a:bodyPr wrap="square" lIns="0" tIns="0" rIns="0" bIns="0" rtlCol="0" anchor="ctr"/>
          <a:lstStyle/>
          <a:p>
            <a:pPr marL="0" indent="0">
              <a:buNone/>
            </a:pPr>
            <a:r>
              <a:rPr lang="en-US" sz="1400" dirty="0">
                <a:solidFill>
                  <a:schemeClr val="bg1"/>
                </a:solidFill>
              </a:rPr>
              <a:t>Offer incentives for one- and two-year contracts</a:t>
            </a:r>
            <a:endParaRPr lang="en-US" sz="1400" dirty="0"/>
          </a:p>
        </p:txBody>
      </p:sp>
      <p:sp>
        <p:nvSpPr>
          <p:cNvPr id="34" name="Number badge 290"/>
          <p:cNvSpPr/>
          <p:nvPr/>
        </p:nvSpPr>
        <p:spPr>
          <a:xfrm>
            <a:off x="7772400" y="2926080"/>
            <a:ext cx="384048" cy="384048"/>
          </a:xfrm>
          <a:prstGeom prst="ellipse">
            <a:avLst/>
          </a:prstGeom>
          <a:solidFill>
            <a:schemeClr val="accent2"/>
          </a:solidFill>
          <a:ln w="12700">
            <a:solidFill>
              <a:schemeClr val="accent2"/>
            </a:solidFill>
            <a:prstDash val="solid"/>
          </a:ln>
        </p:spPr>
      </p:sp>
      <p:sp>
        <p:nvSpPr>
          <p:cNvPr id="35" name="Number 291"/>
          <p:cNvSpPr txBox="1"/>
          <p:nvPr/>
        </p:nvSpPr>
        <p:spPr>
          <a:xfrm>
            <a:off x="7772400" y="2926080"/>
            <a:ext cx="384048" cy="384048"/>
          </a:xfrm>
          <a:prstGeom prst="rect">
            <a:avLst/>
          </a:prstGeom>
          <a:noFill/>
          <a:ln/>
        </p:spPr>
        <p:txBody>
          <a:bodyPr wrap="square" lIns="0" tIns="0" rIns="0" bIns="0" rtlCol="0" anchor="ctr"/>
          <a:lstStyle/>
          <a:p>
            <a:pPr marL="0" indent="0" algn="ctr">
              <a:buNone/>
            </a:pPr>
            <a:r>
              <a:rPr lang="en-US" sz="1500" b="1" dirty="0">
                <a:solidFill>
                  <a:schemeClr val="tx2"/>
                </a:solidFill>
              </a:rPr>
              <a:t>2</a:t>
            </a:r>
            <a:endParaRPr lang="en-US" sz="1500" dirty="0"/>
          </a:p>
        </p:txBody>
      </p:sp>
      <p:sp>
        <p:nvSpPr>
          <p:cNvPr id="36" name="Recommendation 292"/>
          <p:cNvSpPr txBox="1"/>
          <p:nvPr/>
        </p:nvSpPr>
        <p:spPr>
          <a:xfrm>
            <a:off x="8321040" y="2834640"/>
            <a:ext cx="3154680" cy="566928"/>
          </a:xfrm>
          <a:prstGeom prst="rect">
            <a:avLst/>
          </a:prstGeom>
          <a:noFill/>
          <a:ln/>
        </p:spPr>
        <p:txBody>
          <a:bodyPr wrap="square" lIns="0" tIns="0" rIns="0" bIns="0" rtlCol="0" anchor="ctr"/>
          <a:lstStyle/>
          <a:p>
            <a:pPr marL="0" indent="0">
              <a:buNone/>
            </a:pPr>
            <a:r>
              <a:rPr lang="en-US" sz="1400" dirty="0">
                <a:solidFill>
                  <a:schemeClr val="bg1"/>
                </a:solidFill>
              </a:rPr>
              <a:t>Focus on onboarding and early support in year one</a:t>
            </a:r>
            <a:endParaRPr lang="en-US" sz="1400" dirty="0"/>
          </a:p>
        </p:txBody>
      </p:sp>
      <p:sp>
        <p:nvSpPr>
          <p:cNvPr id="37" name="Number badge 293"/>
          <p:cNvSpPr/>
          <p:nvPr/>
        </p:nvSpPr>
        <p:spPr>
          <a:xfrm>
            <a:off x="7772400" y="3611880"/>
            <a:ext cx="384048" cy="384048"/>
          </a:xfrm>
          <a:prstGeom prst="ellipse">
            <a:avLst/>
          </a:prstGeom>
          <a:solidFill>
            <a:schemeClr val="accent2"/>
          </a:solidFill>
          <a:ln w="12700">
            <a:solidFill>
              <a:schemeClr val="accent2"/>
            </a:solidFill>
            <a:prstDash val="solid"/>
          </a:ln>
        </p:spPr>
      </p:sp>
      <p:sp>
        <p:nvSpPr>
          <p:cNvPr id="38" name="Number 294"/>
          <p:cNvSpPr txBox="1"/>
          <p:nvPr/>
        </p:nvSpPr>
        <p:spPr>
          <a:xfrm>
            <a:off x="7772400" y="3611880"/>
            <a:ext cx="384048" cy="384048"/>
          </a:xfrm>
          <a:prstGeom prst="rect">
            <a:avLst/>
          </a:prstGeom>
          <a:noFill/>
          <a:ln/>
        </p:spPr>
        <p:txBody>
          <a:bodyPr wrap="square" lIns="0" tIns="0" rIns="0" bIns="0" rtlCol="0" anchor="ctr"/>
          <a:lstStyle/>
          <a:p>
            <a:pPr marL="0" indent="0" algn="ctr">
              <a:buNone/>
            </a:pPr>
            <a:r>
              <a:rPr lang="en-US" sz="1500" b="1" dirty="0">
                <a:solidFill>
                  <a:schemeClr val="tx2"/>
                </a:solidFill>
              </a:rPr>
              <a:t>3</a:t>
            </a:r>
            <a:endParaRPr lang="en-US" sz="1500" dirty="0"/>
          </a:p>
        </p:txBody>
      </p:sp>
      <p:sp>
        <p:nvSpPr>
          <p:cNvPr id="39" name="Recommendation 295"/>
          <p:cNvSpPr txBox="1"/>
          <p:nvPr/>
        </p:nvSpPr>
        <p:spPr>
          <a:xfrm>
            <a:off x="8321040" y="3520440"/>
            <a:ext cx="3154680" cy="566928"/>
          </a:xfrm>
          <a:prstGeom prst="rect">
            <a:avLst/>
          </a:prstGeom>
          <a:noFill/>
          <a:ln/>
        </p:spPr>
        <p:txBody>
          <a:bodyPr wrap="square" lIns="0" tIns="0" rIns="0" bIns="0" rtlCol="0" anchor="ctr"/>
          <a:lstStyle/>
          <a:p>
            <a:pPr marL="0" indent="0">
              <a:buNone/>
            </a:pPr>
            <a:r>
              <a:rPr lang="en-US" sz="1400" dirty="0">
                <a:solidFill>
                  <a:schemeClr val="bg1"/>
                </a:solidFill>
              </a:rPr>
              <a:t>Review fiber optic service quality and pricing</a:t>
            </a:r>
            <a:endParaRPr lang="en-US" sz="1400" dirty="0"/>
          </a:p>
        </p:txBody>
      </p:sp>
      <p:sp>
        <p:nvSpPr>
          <p:cNvPr id="40" name="Number badge 296"/>
          <p:cNvSpPr/>
          <p:nvPr/>
        </p:nvSpPr>
        <p:spPr>
          <a:xfrm>
            <a:off x="7772400" y="4297680"/>
            <a:ext cx="384048" cy="384048"/>
          </a:xfrm>
          <a:prstGeom prst="ellipse">
            <a:avLst/>
          </a:prstGeom>
          <a:solidFill>
            <a:schemeClr val="accent2"/>
          </a:solidFill>
          <a:ln w="12700">
            <a:solidFill>
              <a:schemeClr val="accent2"/>
            </a:solidFill>
            <a:prstDash val="solid"/>
          </a:ln>
        </p:spPr>
      </p:sp>
      <p:sp>
        <p:nvSpPr>
          <p:cNvPr id="41" name="Number 297"/>
          <p:cNvSpPr txBox="1"/>
          <p:nvPr/>
        </p:nvSpPr>
        <p:spPr>
          <a:xfrm>
            <a:off x="7772400" y="4297680"/>
            <a:ext cx="384048" cy="384048"/>
          </a:xfrm>
          <a:prstGeom prst="rect">
            <a:avLst/>
          </a:prstGeom>
          <a:noFill/>
          <a:ln/>
        </p:spPr>
        <p:txBody>
          <a:bodyPr wrap="square" lIns="0" tIns="0" rIns="0" bIns="0" rtlCol="0" anchor="ctr"/>
          <a:lstStyle/>
          <a:p>
            <a:pPr marL="0" indent="0" algn="ctr">
              <a:buNone/>
            </a:pPr>
            <a:r>
              <a:rPr lang="en-US" sz="1500" b="1" dirty="0">
                <a:solidFill>
                  <a:schemeClr val="tx2"/>
                </a:solidFill>
              </a:rPr>
              <a:t>4</a:t>
            </a:r>
            <a:endParaRPr lang="en-US" sz="1500" dirty="0"/>
          </a:p>
        </p:txBody>
      </p:sp>
      <p:sp>
        <p:nvSpPr>
          <p:cNvPr id="42" name="Recommendation 298"/>
          <p:cNvSpPr txBox="1"/>
          <p:nvPr/>
        </p:nvSpPr>
        <p:spPr>
          <a:xfrm>
            <a:off x="8321040" y="4206240"/>
            <a:ext cx="3154680" cy="566928"/>
          </a:xfrm>
          <a:prstGeom prst="rect">
            <a:avLst/>
          </a:prstGeom>
          <a:noFill/>
          <a:ln/>
        </p:spPr>
        <p:txBody>
          <a:bodyPr wrap="square" lIns="0" tIns="0" rIns="0" bIns="0" rtlCol="0" anchor="ctr"/>
          <a:lstStyle/>
          <a:p>
            <a:pPr marL="0" indent="0">
              <a:buNone/>
            </a:pPr>
            <a:r>
              <a:rPr lang="en-US" sz="1400" dirty="0">
                <a:solidFill>
                  <a:schemeClr val="bg1"/>
                </a:solidFill>
              </a:rPr>
              <a:t>Promote tech support to customers without it</a:t>
            </a:r>
            <a:endParaRPr lang="en-US" sz="1400" dirty="0"/>
          </a:p>
        </p:txBody>
      </p:sp>
      <p:sp>
        <p:nvSpPr>
          <p:cNvPr id="43" name="Limitations band 299"/>
          <p:cNvSpPr/>
          <p:nvPr/>
        </p:nvSpPr>
        <p:spPr>
          <a:xfrm>
            <a:off x="548640" y="5257800"/>
            <a:ext cx="11091672" cy="914400"/>
          </a:xfrm>
          <a:prstGeom prst="roundRect">
            <a:avLst>
              <a:gd name="adj" fmla="val 14000"/>
            </a:avLst>
          </a:prstGeom>
          <a:solidFill>
            <a:schemeClr val="accent4"/>
          </a:solidFill>
          <a:ln w="12700">
            <a:solidFill>
              <a:schemeClr val="accent4"/>
            </a:solidFill>
            <a:prstDash val="solid"/>
          </a:ln>
        </p:spPr>
      </p:sp>
      <p:sp>
        <p:nvSpPr>
          <p:cNvPr id="44" name="Icon circle 300"/>
          <p:cNvSpPr/>
          <p:nvPr/>
        </p:nvSpPr>
        <p:spPr>
          <a:xfrm>
            <a:off x="822960" y="5440680"/>
            <a:ext cx="548640" cy="548640"/>
          </a:xfrm>
          <a:prstGeom prst="ellipse">
            <a:avLst/>
          </a:prstGeom>
          <a:solidFill>
            <a:srgbClr val="F5B841"/>
          </a:solidFill>
          <a:ln w="12700">
            <a:solidFill>
              <a:srgbClr val="F5B841"/>
            </a:solidFill>
            <a:prstDash val="solid"/>
          </a:ln>
        </p:spPr>
      </p:sp>
      <p:pic>
        <p:nvPicPr>
          <p:cNvPr id="45" name="Icon 301" descr="icon"/>
          <p:cNvPicPr>
            <a:picLocks noChangeAspect="1"/>
          </p:cNvPicPr>
          <p:nvPr/>
        </p:nvPicPr>
        <p:blipFill>
          <a:blip r:embed="rId3"/>
          <a:stretch>
            <a:fillRect/>
          </a:stretch>
        </p:blipFill>
        <p:spPr>
          <a:xfrm>
            <a:off x="976579" y="5594299"/>
            <a:ext cx="241402" cy="241402"/>
          </a:xfrm>
          <a:prstGeom prst="rect">
            <a:avLst/>
          </a:prstGeom>
        </p:spPr>
      </p:pic>
      <p:sp>
        <p:nvSpPr>
          <p:cNvPr id="46" name="Limitations text 302"/>
          <p:cNvSpPr txBox="1"/>
          <p:nvPr/>
        </p:nvSpPr>
        <p:spPr>
          <a:xfrm>
            <a:off x="1645920" y="5257800"/>
            <a:ext cx="9720072" cy="914400"/>
          </a:xfrm>
          <a:prstGeom prst="rect">
            <a:avLst/>
          </a:prstGeom>
          <a:noFill/>
          <a:ln/>
        </p:spPr>
        <p:txBody>
          <a:bodyPr wrap="square" lIns="0" tIns="0" rIns="0" bIns="0" rtlCol="0" anchor="ctr"/>
          <a:lstStyle/>
          <a:p>
            <a:pPr marL="0" indent="0">
              <a:buNone/>
            </a:pPr>
            <a:r>
              <a:rPr lang="en-US" sz="1500" b="1" dirty="0">
                <a:solidFill>
                  <a:schemeClr val="accent3"/>
                </a:solidFill>
              </a:rPr>
              <a:t>Limitations: </a:t>
            </a:r>
            <a:r>
              <a:rPr lang="en-US" sz="1500" dirty="0">
                <a:solidFill>
                  <a:schemeClr val="bg1"/>
                </a:solidFill>
              </a:rPr>
              <a:t>results show associations, not causes. Single-factor comparisons do not control for other variables. The data is one snapshot in time.</a:t>
            </a:r>
            <a:endParaRPr lang="en-US" sz="1500" dirty="0"/>
          </a:p>
        </p:txBody>
      </p:sp>
      <p:sp>
        <p:nvSpPr>
          <p:cNvPr id="47"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B9C2DD"/>
                </a:solidFill>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Churn Analysis">
  <a:themeElements>
    <a:clrScheme name="Churn Analysis">
      <a:dk1>
        <a:srgbClr val="0B1530"/>
      </a:dk1>
      <a:lt1>
        <a:srgbClr val="FFFFFF"/>
      </a:lt1>
      <a:dk2>
        <a:srgbClr val="16264F"/>
      </a:dk2>
      <a:lt2>
        <a:srgbClr val="F1F4FA"/>
      </a:lt2>
      <a:accent1>
        <a:srgbClr val="FF5C4D"/>
      </a:accent1>
      <a:accent2>
        <a:srgbClr val="19B3A1"/>
      </a:accent2>
      <a:accent3>
        <a:srgbClr val="F5B841"/>
      </a:accent3>
      <a:accent4>
        <a:srgbClr val="2A3B6B"/>
      </a:accent4>
      <a:accent5>
        <a:srgbClr val="6B7796"/>
      </a:accent5>
      <a:accent6>
        <a:srgbClr val="B9C2DD"/>
      </a:accent6>
      <a:hlink>
        <a:srgbClr val="4C6FFF"/>
      </a:hlink>
      <a:folHlink>
        <a:srgbClr val="6B7796"/>
      </a:folHlink>
    </a:clrScheme>
    <a:fontScheme name="Churn Analysi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2405</Words>
  <Application>Microsoft Office PowerPoint</Application>
  <PresentationFormat>Widescreen</PresentationFormat>
  <Paragraphs>314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Courier New</vt:lpstr>
      <vt:lpstr>Churn Analysis</vt:lpstr>
      <vt:lpstr>Customer Churn Analysis</vt:lpstr>
      <vt:lpstr>The data: 7,043 telco customers</vt:lpstr>
      <vt:lpstr>Purpose and workflow</vt:lpstr>
      <vt:lpstr>Tools: database and loading</vt:lpstr>
      <vt:lpstr>Tools: dashboards and reporting</vt:lpstr>
      <vt:lpstr>Data preparation: three issues fixed</vt:lpstr>
      <vt:lpstr>SQL: five analysis queries</vt:lpstr>
      <vt:lpstr>Python and PySpark: cleaning and cross-check</vt:lpstr>
      <vt:lpstr>DBever output: churn by segment</vt:lpstr>
      <vt:lpstr>Analysis 1: contract length</vt:lpstr>
      <vt:lpstr>Analysis 2: internet service and payment</vt:lpstr>
      <vt:lpstr>Analysis 3: tenure and tech support</vt:lpstr>
      <vt:lpstr>Power BI dashboard: four report pages</vt:lpstr>
      <vt:lpstr>Databricks dashboard: key numbers</vt:lpstr>
      <vt:lpstr>Findings, recommendations, and limitations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Analysis</dc:title>
  <dc:subject>PptxGenJS Presentation</dc:subject>
  <dc:creator>Khush Talera</dc:creator>
  <cp:lastModifiedBy>khush talera</cp:lastModifiedBy>
  <cp:revision>3</cp:revision>
  <dcterms:created xsi:type="dcterms:W3CDTF">2026-10-29T09:34:42Z</dcterms:created>
  <dcterms:modified xsi:type="dcterms:W3CDTF">2026-10-29T14:07:13Z</dcterms:modified>
</cp:coreProperties>
</file>